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9" r:id="rId4"/>
    <p:sldId id="260" r:id="rId5"/>
    <p:sldId id="284" r:id="rId6"/>
    <p:sldId id="279" r:id="rId7"/>
    <p:sldId id="262" r:id="rId8"/>
    <p:sldId id="277" r:id="rId9"/>
    <p:sldId id="265" r:id="rId10"/>
    <p:sldId id="278" r:id="rId11"/>
    <p:sldId id="266" r:id="rId12"/>
    <p:sldId id="270" r:id="rId13"/>
    <p:sldId id="271" r:id="rId14"/>
    <p:sldId id="272" r:id="rId15"/>
    <p:sldId id="280" r:id="rId16"/>
    <p:sldId id="263" r:id="rId17"/>
    <p:sldId id="274" r:id="rId18"/>
    <p:sldId id="281" r:id="rId19"/>
    <p:sldId id="282" r:id="rId20"/>
    <p:sldId id="283"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h Trinh Phuc" initials="AT" lastIdx="1" clrIdx="0">
    <p:extLst>
      <p:ext uri="{19B8F6BF-5375-455C-9EA6-DF929625EA0E}">
        <p15:presenceInfo xmlns:p15="http://schemas.microsoft.com/office/powerpoint/2012/main" userId="f981e299bc15840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5" autoAdjust="0"/>
    <p:restoredTop sz="60440" autoAdjust="0"/>
  </p:normalViewPr>
  <p:slideViewPr>
    <p:cSldViewPr snapToGrid="0">
      <p:cViewPr varScale="1">
        <p:scale>
          <a:sx n="68" d="100"/>
          <a:sy n="68" d="100"/>
        </p:scale>
        <p:origin x="21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12-29T01:07:29.036" idx="1">
    <p:pos x="10" y="10"/>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E2712-7195-4F3F-920E-C4437913A8A5}" type="datetimeFigureOut">
              <a:rPr lang="vi-VN" smtClean="0"/>
              <a:t>29/12/2025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628577-D1F8-4328-A867-E87B85B880EE}" type="slidenum">
              <a:rPr lang="vi-VN" smtClean="0"/>
              <a:t>‹#›</a:t>
            </a:fld>
            <a:endParaRPr lang="vi-VN"/>
          </a:p>
        </p:txBody>
      </p:sp>
    </p:spTree>
    <p:extLst>
      <p:ext uri="{BB962C8B-B14F-4D97-AF65-F5344CB8AC3E}">
        <p14:creationId xmlns:p14="http://schemas.microsoft.com/office/powerpoint/2010/main" val="197449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vi-VN" dirty="0"/>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6</a:t>
            </a:fld>
            <a:endParaRPr lang="vi-VN"/>
          </a:p>
        </p:txBody>
      </p:sp>
    </p:spTree>
    <p:extLst>
      <p:ext uri="{BB962C8B-B14F-4D97-AF65-F5344CB8AC3E}">
        <p14:creationId xmlns:p14="http://schemas.microsoft.com/office/powerpoint/2010/main" val="3864849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Credit amount &amp; Duration (0.62): Tương quan dương mạnh nhất.</a:t>
            </a:r>
            <a:endParaRPr lang="vi-VN" dirty="0"/>
          </a:p>
          <a:p>
            <a:pPr>
              <a:buFont typeface="Arial" panose="020B0604020202020204" pitchFamily="34" charset="0"/>
              <a:buChar char="•"/>
            </a:pPr>
            <a:r>
              <a:rPr lang="vi-VN" b="1" dirty="0"/>
              <a:t>Ý nghĩa:</a:t>
            </a:r>
            <a:r>
              <a:rPr lang="vi-VN" dirty="0"/>
              <a:t> Khi số tiền vay tăng, thời hạn vay cũng tăng theo.</a:t>
            </a:r>
          </a:p>
          <a:p>
            <a:r>
              <a:rPr lang="vi-VN" b="1" dirty="0"/>
              <a:t>Credit amount &amp; Job (0.29): Tương quan dương yếu.</a:t>
            </a:r>
            <a:endParaRPr lang="vi-VN" dirty="0"/>
          </a:p>
          <a:p>
            <a:pPr>
              <a:buFont typeface="Arial" panose="020B0604020202020204" pitchFamily="34" charset="0"/>
              <a:buChar char="•"/>
            </a:pPr>
            <a:r>
              <a:rPr lang="vi-VN" b="1" dirty="0"/>
              <a:t>Ý nghĩa:</a:t>
            </a:r>
            <a:r>
              <a:rPr lang="vi-VN" dirty="0"/>
              <a:t> Người có công việc trình độ cao hơn (Job code cao hơn: 2, 3) có xu hướng vay số tiền lớn hơn.</a:t>
            </a:r>
          </a:p>
          <a:p>
            <a:r>
              <a:rPr lang="vi-VN" b="1" dirty="0"/>
              <a:t>Duration &amp; Job (0.21): Tương quan dương yếu.</a:t>
            </a:r>
            <a:endParaRPr lang="vi-VN" dirty="0"/>
          </a:p>
          <a:p>
            <a:pPr>
              <a:buFont typeface="Arial" panose="020B0604020202020204" pitchFamily="34" charset="0"/>
              <a:buChar char="•"/>
            </a:pPr>
            <a:r>
              <a:rPr lang="vi-VN" dirty="0"/>
              <a:t>Tương tự như trên, những công việc ổn định/trình độ cao thường gắn liền với các khoản vay dài hạn hơn một chút.</a:t>
            </a:r>
            <a:endParaRPr lang="en-US" dirty="0"/>
          </a:p>
          <a:p>
            <a:r>
              <a:rPr lang="vi-VN" b="1" dirty="0"/>
              <a:t>Age (Tuổi): Không tương quan.</a:t>
            </a:r>
            <a:endParaRPr lang="vi-VN" dirty="0"/>
          </a:p>
          <a:p>
            <a:pPr>
              <a:buFont typeface="Arial" panose="020B0604020202020204" pitchFamily="34" charset="0"/>
              <a:buChar char="•"/>
            </a:pPr>
            <a:r>
              <a:rPr lang="vi-VN" dirty="0"/>
              <a:t>Độ tuổi của khách hàng hầu như không ảnh hưởng tuyến tính đến số tiền họ vay hay thời gian họ vay. Một người trẻ 25 tuổi và một người 50 tuổi có thể vay số tiền như nhau.</a:t>
            </a:r>
          </a:p>
          <a:p>
            <a:pPr>
              <a:buFont typeface="Arial" panose="020B0604020202020204" pitchFamily="34" charset="0"/>
              <a:buChar char="•"/>
            </a:pPr>
            <a:endParaRPr lang="vi-VN" dirty="0"/>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9</a:t>
            </a:fld>
            <a:endParaRPr lang="vi-VN"/>
          </a:p>
        </p:txBody>
      </p:sp>
    </p:spTree>
    <p:extLst>
      <p:ext uri="{BB962C8B-B14F-4D97-AF65-F5344CB8AC3E}">
        <p14:creationId xmlns:p14="http://schemas.microsoft.com/office/powerpoint/2010/main" val="218602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endParaRPr lang="vi-VN" dirty="0"/>
          </a:p>
          <a:p>
            <a:r>
              <a:rPr lang="vi-VN" b="1" dirty="0"/>
              <a:t>Tương quan giữa Tuổi và Số tiền (Age vs Credit Amount):</a:t>
            </a:r>
            <a:endParaRPr lang="vi-VN" dirty="0"/>
          </a:p>
          <a:p>
            <a:pPr>
              <a:buFont typeface="Arial" panose="020B0604020202020204" pitchFamily="34" charset="0"/>
              <a:buChar char="•"/>
            </a:pPr>
            <a:r>
              <a:rPr lang="vi-VN" b="1" dirty="0"/>
              <a:t>Nhóm trẻ (20-40 tuổi):</a:t>
            </a:r>
            <a:r>
              <a:rPr lang="vi-VN" dirty="0"/>
              <a:t> Tập trung dày đặc ở vùng số tiền vay thấp (&lt; 5.000 DM). Tuy nhiên, đây cũng là nhóm có những khoản vay "khủng" nhất (các chấm cao vọt lên trên 10.000 DM thường nằm ở độ tuổi này).</a:t>
            </a:r>
          </a:p>
          <a:p>
            <a:pPr>
              <a:buFont typeface="Arial" panose="020B0604020202020204" pitchFamily="34" charset="0"/>
              <a:buChar char="•"/>
            </a:pPr>
            <a:r>
              <a:rPr lang="vi-VN" b="1" dirty="0"/>
              <a:t>Nhóm lớn tuổi (&gt;50 tuổi):</a:t>
            </a:r>
            <a:r>
              <a:rPr lang="vi-VN" dirty="0"/>
              <a:t> Các khoản vay thường ổn định ở mức thấp và trung bình, rất hiếm khi thấy các khoản vay đột biến quá lớn.</a:t>
            </a:r>
          </a:p>
          <a:p>
            <a:r>
              <a:rPr lang="vi-VN" b="1" dirty="0"/>
              <a:t>Giới tính (Sex - Màu sắc):</a:t>
            </a:r>
            <a:endParaRPr lang="vi-VN" dirty="0"/>
          </a:p>
          <a:p>
            <a:pPr>
              <a:buFont typeface="Arial" panose="020B0604020202020204" pitchFamily="34" charset="0"/>
              <a:buChar char="•"/>
            </a:pPr>
            <a:r>
              <a:rPr lang="vi-VN" b="1" dirty="0"/>
              <a:t>Màu Đỏ (Male - Nam):</a:t>
            </a:r>
            <a:r>
              <a:rPr lang="vi-VN" dirty="0"/>
              <a:t> Chiếm ưu thế ở các khoản vay giá trị lớn (phía trên của biểu đồ). Các chấm màu đỏ xuất hiện nhiều hơn ở vùng &gt; 5.000 DM.</a:t>
            </a:r>
          </a:p>
          <a:p>
            <a:pPr>
              <a:buFont typeface="Arial" panose="020B0604020202020204" pitchFamily="34" charset="0"/>
              <a:buChar char="•"/>
            </a:pPr>
            <a:r>
              <a:rPr lang="vi-VN" b="1" dirty="0"/>
              <a:t>Màu Xanh/Xám (Female - Nữ):</a:t>
            </a:r>
            <a:r>
              <a:rPr lang="vi-VN" dirty="0"/>
              <a:t> Tập trung chủ yếu ở vùng dưới (khoản vay nhỏ).</a:t>
            </a:r>
          </a:p>
          <a:p>
            <a:r>
              <a:rPr lang="vi-VN" b="1" dirty="0"/>
              <a:t>Kỳ hạn vay (Duration - Kích thước chấm):</a:t>
            </a:r>
            <a:endParaRPr lang="vi-VN" dirty="0"/>
          </a:p>
          <a:p>
            <a:pPr>
              <a:buFont typeface="Arial" panose="020B0604020202020204" pitchFamily="34" charset="0"/>
              <a:buChar char="•"/>
            </a:pPr>
            <a:r>
              <a:rPr lang="vi-VN" dirty="0"/>
              <a:t>Quy luật rất rõ ràng: </a:t>
            </a:r>
            <a:r>
              <a:rPr lang="vi-VN" b="1" dirty="0"/>
              <a:t>Chấm càng to (Duration dài) thì càng nằm ở vị trí cao (Credit Amount lớn).</a:t>
            </a:r>
            <a:endParaRPr lang="vi-VN" dirty="0"/>
          </a:p>
          <a:p>
            <a:pPr>
              <a:buFont typeface="Arial" panose="020B0604020202020204" pitchFamily="34" charset="0"/>
              <a:buChar char="•"/>
            </a:pPr>
            <a:r>
              <a:rPr lang="vi-VN" dirty="0"/>
              <a:t>Điều này xác nhận lại mối tương quan chặt chẽ giữa số tiền và thời gian: Vay càng nhiều thì trả càng lâu.</a:t>
            </a:r>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10</a:t>
            </a:fld>
            <a:endParaRPr lang="vi-VN"/>
          </a:p>
        </p:txBody>
      </p:sp>
    </p:spTree>
    <p:extLst>
      <p:ext uri="{BB962C8B-B14F-4D97-AF65-F5344CB8AC3E}">
        <p14:creationId xmlns:p14="http://schemas.microsoft.com/office/powerpoint/2010/main" val="1738706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Người trẻ có xu hướng rủi ro cao hơn một chút so với người lớn tuổi, nhưng sự khác biệt này không quá lớn</a:t>
            </a:r>
            <a:endParaRPr lang="en-US" dirty="0"/>
          </a:p>
          <a:p>
            <a:r>
              <a:rPr lang="vi-VN" dirty="0"/>
              <a:t>Những người vỡ nợ thường là những người vay số tiền lớn hơn mức trung bình.</a:t>
            </a:r>
            <a:endParaRPr lang="en-US" dirty="0"/>
          </a:p>
          <a:p>
            <a:r>
              <a:rPr lang="en-US" dirty="0"/>
              <a:t>k</a:t>
            </a:r>
            <a:r>
              <a:rPr lang="vi-VN" dirty="0"/>
              <a:t>hách hàng rủi ro thường có xu hướng vay với kỳ hạn dài hơn. Kỳ hạn càng dài, khả năng rơi vào nhóm nợ xấu càng cao.</a:t>
            </a:r>
          </a:p>
        </p:txBody>
      </p:sp>
      <p:sp>
        <p:nvSpPr>
          <p:cNvPr id="4" name="Slide Number Placeholder 3"/>
          <p:cNvSpPr>
            <a:spLocks noGrp="1"/>
          </p:cNvSpPr>
          <p:nvPr>
            <p:ph type="sldNum" sz="quarter" idx="5"/>
          </p:nvPr>
        </p:nvSpPr>
        <p:spPr/>
        <p:txBody>
          <a:bodyPr/>
          <a:lstStyle/>
          <a:p>
            <a:fld id="{7B628577-D1F8-4328-A867-E87B85B880EE}" type="slidenum">
              <a:rPr lang="vi-VN" smtClean="0"/>
              <a:t>11</a:t>
            </a:fld>
            <a:endParaRPr lang="vi-VN"/>
          </a:p>
        </p:txBody>
      </p:sp>
    </p:spTree>
    <p:extLst>
      <p:ext uri="{BB962C8B-B14F-4D97-AF65-F5344CB8AC3E}">
        <p14:creationId xmlns:p14="http://schemas.microsoft.com/office/powerpoint/2010/main" val="342021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dirty="0">
                <a:effectLst/>
                <a:latin typeface="Times New Roman" panose="02020603050405020304" pitchFamily="18" charset="0"/>
                <a:cs typeface="Times New Roman" panose="02020603050405020304" pitchFamily="18" charset="0"/>
              </a:rPr>
              <a:t>Mỗi cây xem xét các phần ngẫu nhiên khác nhau của dữ liệu và kết quả của chúng được kết hợp bằng cách bỏ phiếu để phân loại hoặc tính trung bình cho hồi quy, điều này làm cho nó trở thành kỹ thuật học tập tổng hợp. </a:t>
            </a:r>
            <a:endParaRPr lang="en-US" sz="1200" b="0" i="0" dirty="0">
              <a:effectLst/>
              <a:latin typeface="Times New Roman" panose="02020603050405020304" pitchFamily="18" charset="0"/>
              <a:cs typeface="Times New Roman" panose="02020603050405020304" pitchFamily="18" charset="0"/>
            </a:endParaRPr>
          </a:p>
          <a:p>
            <a:r>
              <a:rPr lang="vi-VN" b="1" dirty="0"/>
              <a:t>Q:</a:t>
            </a:r>
            <a:r>
              <a:rPr lang="vi-VN" dirty="0"/>
              <a:t> </a:t>
            </a:r>
            <a:r>
              <a:rPr lang="vi-VN" i="1" dirty="0"/>
              <a:t>Vì sao Random Forest tốt hơn Decision Tree?</a:t>
            </a:r>
            <a:br>
              <a:rPr lang="vi-VN" dirty="0"/>
            </a:br>
            <a:r>
              <a:rPr lang="vi-VN" b="1" dirty="0"/>
              <a:t>A:</a:t>
            </a:r>
            <a:r>
              <a:rPr lang="vi-VN" dirty="0"/>
              <a:t> Vì RF giảm overfitting bằng cách kết hợp nhiều cây và sử dụng bootstrap sampling.</a:t>
            </a:r>
            <a:endParaRPr lang="en-US" sz="1200" b="0" i="0" dirty="0">
              <a:effectLst/>
              <a:latin typeface="Times New Roman" panose="02020603050405020304" pitchFamily="18" charset="0"/>
              <a:cs typeface="Times New Roman" panose="02020603050405020304" pitchFamily="18" charset="0"/>
            </a:endParaRPr>
          </a:p>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13</a:t>
            </a:fld>
            <a:endParaRPr lang="vi-VN"/>
          </a:p>
        </p:txBody>
      </p:sp>
    </p:spTree>
    <p:extLst>
      <p:ext uri="{BB962C8B-B14F-4D97-AF65-F5344CB8AC3E}">
        <p14:creationId xmlns:p14="http://schemas.microsoft.com/office/powerpoint/2010/main" val="3252378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Decision Tree phân loại dữ liệu bằng cách chia nhánh, Random Forest kết hợp nhiều cây để tăng độ ổn định, trong khi XGBoost học tuần tự các cây nhằm sửa lỗi của mô hình trước.</a:t>
            </a:r>
          </a:p>
        </p:txBody>
      </p:sp>
      <p:sp>
        <p:nvSpPr>
          <p:cNvPr id="4" name="Slide Number Placeholder 3"/>
          <p:cNvSpPr>
            <a:spLocks noGrp="1"/>
          </p:cNvSpPr>
          <p:nvPr>
            <p:ph type="sldNum" sz="quarter" idx="5"/>
          </p:nvPr>
        </p:nvSpPr>
        <p:spPr/>
        <p:txBody>
          <a:bodyPr/>
          <a:lstStyle/>
          <a:p>
            <a:fld id="{7B628577-D1F8-4328-A867-E87B85B880EE}" type="slidenum">
              <a:rPr lang="vi-VN" smtClean="0"/>
              <a:t>14</a:t>
            </a:fld>
            <a:endParaRPr lang="vi-VN"/>
          </a:p>
        </p:txBody>
      </p:sp>
    </p:spTree>
    <p:extLst>
      <p:ext uri="{BB962C8B-B14F-4D97-AF65-F5344CB8AC3E}">
        <p14:creationId xmlns:p14="http://schemas.microsoft.com/office/powerpoint/2010/main" val="37321118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t>
            </a:r>
            <a:r>
              <a:rPr lang="en-US" b="1" dirty="0" err="1"/>
              <a:t>Hố</a:t>
            </a:r>
            <a:r>
              <a:rPr lang="en-US" b="1" dirty="0"/>
              <a:t> </a:t>
            </a:r>
            <a:r>
              <a:rPr lang="en-US" b="1" dirty="0" err="1"/>
              <a:t>đen</a:t>
            </a:r>
            <a:r>
              <a:rPr lang="en-US" b="1" dirty="0"/>
              <a:t>" </a:t>
            </a:r>
            <a:r>
              <a:rPr lang="en-US" b="1" dirty="0" err="1"/>
              <a:t>tài</a:t>
            </a:r>
            <a:r>
              <a:rPr lang="en-US" b="1" dirty="0"/>
              <a:t> </a:t>
            </a:r>
            <a:r>
              <a:rPr lang="en-US" b="1" dirty="0" err="1"/>
              <a:t>chính</a:t>
            </a:r>
            <a:r>
              <a:rPr lang="en-US" b="1" dirty="0"/>
              <a:t> - Vacation/Others &amp; Own:</a:t>
            </a:r>
            <a:br>
              <a:rPr lang="en-US" dirty="0"/>
            </a:br>
            <a:r>
              <a:rPr lang="vi-VN" dirty="0"/>
              <a:t>Những người có nhà riêng lại là những người vay "vung tay" nhất cho các mục đích tiêu dùng xa xỉ hoặc mục đích khác. Đây là nhóm cần theo dõi sát sao.</a:t>
            </a:r>
            <a:endParaRPr lang="en-US" dirty="0"/>
          </a:p>
          <a:p>
            <a:r>
              <a:rPr lang="vi-VN" b="1" dirty="0"/>
              <a:t>Nhóm ở nhà miễn phí (Free) - Vay lớn diện rộng:</a:t>
            </a:r>
            <a:endParaRPr lang="en-US" b="1" dirty="0"/>
          </a:p>
          <a:p>
            <a:r>
              <a:rPr lang="vi-VN" dirty="0"/>
              <a:t>Nhóm này không tốn tiền thuê nhà nhưng lại có xu hướng vay các khoản lớn cho xe cộ và tiêu dùng.</a:t>
            </a:r>
            <a:endParaRPr lang="en-US" b="1" dirty="0"/>
          </a:p>
          <a:p>
            <a:r>
              <a:rPr lang="vi-VN" b="1" dirty="0"/>
              <a:t>Người đi thuê (Rent) - Tập trung vốn làm ăn</a:t>
            </a:r>
            <a:r>
              <a:rPr lang="en-US" b="1" dirty="0"/>
              <a:t>:</a:t>
            </a:r>
          </a:p>
          <a:p>
            <a:r>
              <a:rPr lang="vi-VN" dirty="0"/>
              <a:t>Người đi thuê nhà chủ yếu vay lớn để kinh doanh. Ngược lại, họ chi tiêu rất tiết kiệm cho các mục đích khác</a:t>
            </a:r>
            <a:endParaRPr lang="vi-VN" b="1" dirty="0"/>
          </a:p>
        </p:txBody>
      </p:sp>
      <p:sp>
        <p:nvSpPr>
          <p:cNvPr id="4" name="Slide Number Placeholder 3"/>
          <p:cNvSpPr>
            <a:spLocks noGrp="1"/>
          </p:cNvSpPr>
          <p:nvPr>
            <p:ph type="sldNum" sz="quarter" idx="5"/>
          </p:nvPr>
        </p:nvSpPr>
        <p:spPr/>
        <p:txBody>
          <a:bodyPr/>
          <a:lstStyle/>
          <a:p>
            <a:fld id="{7B628577-D1F8-4328-A867-E87B85B880EE}" type="slidenum">
              <a:rPr lang="vi-VN" smtClean="0"/>
              <a:t>16</a:t>
            </a:fld>
            <a:endParaRPr lang="vi-VN"/>
          </a:p>
        </p:txBody>
      </p:sp>
    </p:spTree>
    <p:extLst>
      <p:ext uri="{BB962C8B-B14F-4D97-AF65-F5344CB8AC3E}">
        <p14:creationId xmlns:p14="http://schemas.microsoft.com/office/powerpoint/2010/main" val="1153293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5"/>
          </p:nvPr>
        </p:nvSpPr>
        <p:spPr/>
        <p:txBody>
          <a:bodyPr/>
          <a:lstStyle/>
          <a:p>
            <a:fld id="{7B628577-D1F8-4328-A867-E87B85B880EE}" type="slidenum">
              <a:rPr lang="vi-VN" smtClean="0"/>
              <a:t>17</a:t>
            </a:fld>
            <a:endParaRPr lang="vi-VN"/>
          </a:p>
        </p:txBody>
      </p:sp>
    </p:spTree>
    <p:extLst>
      <p:ext uri="{BB962C8B-B14F-4D97-AF65-F5344CB8AC3E}">
        <p14:creationId xmlns:p14="http://schemas.microsoft.com/office/powerpoint/2010/main" val="191718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7B628577-D1F8-4328-A867-E87B85B880EE}" type="slidenum">
              <a:rPr lang="vi-VN" smtClean="0"/>
              <a:t>21</a:t>
            </a:fld>
            <a:endParaRPr lang="vi-VN"/>
          </a:p>
        </p:txBody>
      </p:sp>
    </p:spTree>
    <p:extLst>
      <p:ext uri="{BB962C8B-B14F-4D97-AF65-F5344CB8AC3E}">
        <p14:creationId xmlns:p14="http://schemas.microsoft.com/office/powerpoint/2010/main" val="2447019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0E696B7-B2B8-49A0-9302-BD559083635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66847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E696B7-B2B8-49A0-9302-BD559083635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3301126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0E696B7-B2B8-49A0-9302-BD559083635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901619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0E696B7-B2B8-49A0-9302-BD559083635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62301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0E696B7-B2B8-49A0-9302-BD5590836354}"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31110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E696B7-B2B8-49A0-9302-BD5590836354}"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611867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E696B7-B2B8-49A0-9302-BD5590836354}"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658242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E696B7-B2B8-49A0-9302-BD559083635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1033959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E696B7-B2B8-49A0-9302-BD5590836354}"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2174429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E696B7-B2B8-49A0-9302-BD559083635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406408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0E696B7-B2B8-49A0-9302-BD5590836354}"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2353A7-1280-4CC0-9344-2705A2FF8761}" type="slidenum">
              <a:rPr lang="en-US" smtClean="0"/>
              <a:t>‹#›</a:t>
            </a:fld>
            <a:endParaRPr lang="en-US"/>
          </a:p>
        </p:txBody>
      </p:sp>
    </p:spTree>
    <p:extLst>
      <p:ext uri="{BB962C8B-B14F-4D97-AF65-F5344CB8AC3E}">
        <p14:creationId xmlns:p14="http://schemas.microsoft.com/office/powerpoint/2010/main" val="71387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E696B7-B2B8-49A0-9302-BD5590836354}" type="datetimeFigureOut">
              <a:rPr lang="en-US" smtClean="0"/>
              <a:t>12/29/2025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2353A7-1280-4CC0-9344-2705A2FF8761}" type="slidenum">
              <a:rPr lang="en-US" smtClean="0"/>
              <a:t>‹#›</a:t>
            </a:fld>
            <a:endParaRPr lang="en-US"/>
          </a:p>
        </p:txBody>
      </p:sp>
    </p:spTree>
    <p:extLst>
      <p:ext uri="{BB962C8B-B14F-4D97-AF65-F5344CB8AC3E}">
        <p14:creationId xmlns:p14="http://schemas.microsoft.com/office/powerpoint/2010/main" val="3010206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datasets/kabure/german-credit-data-with-risk"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comments" Target="../comments/commen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5;p1"/>
          <p:cNvSpPr txBox="1">
            <a:spLocks noGrp="1"/>
          </p:cNvSpPr>
          <p:nvPr>
            <p:ph type="ctrTitle"/>
          </p:nvPr>
        </p:nvSpPr>
        <p:spPr>
          <a:xfrm>
            <a:off x="1311665" y="2563949"/>
            <a:ext cx="9731229" cy="1051919"/>
          </a:xfrm>
          <a:prstGeom prst="rect">
            <a:avLst/>
          </a:prstGeom>
          <a:noFill/>
          <a:ln>
            <a:noFill/>
          </a:ln>
        </p:spPr>
        <p:txBody>
          <a:bodyPr spcFirstLastPara="1" wrap="square" lIns="91425" tIns="45700" rIns="91425" bIns="45700" anchor="b" anchorCtr="0">
            <a:noAutofit/>
          </a:bodyPr>
          <a:lstStyle/>
          <a:p>
            <a:pPr marL="0" lvl="0" indent="0" algn="ctr" rtl="0">
              <a:lnSpc>
                <a:spcPct val="150000"/>
              </a:lnSpc>
              <a:spcBef>
                <a:spcPts val="0"/>
              </a:spcBef>
              <a:spcAft>
                <a:spcPts val="0"/>
              </a:spcAft>
              <a:buClr>
                <a:srgbClr val="002060"/>
              </a:buClr>
              <a:buSzPts val="6000"/>
              <a:buFont typeface="Roboto"/>
              <a:buNone/>
            </a:pP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Dự</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đoán</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rủi</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ro</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tín</a:t>
            </a: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4000" b="1" dirty="0" err="1">
                <a:solidFill>
                  <a:schemeClr val="tx1"/>
                </a:solidFill>
                <a:latin typeface="Times New Roman" panose="02020603050405020304" pitchFamily="18" charset="0"/>
                <a:ea typeface="Roboto"/>
                <a:cs typeface="Times New Roman" panose="02020603050405020304" pitchFamily="18" charset="0"/>
                <a:sym typeface="Roboto"/>
              </a:rPr>
              <a:t>dụng</a:t>
            </a:r>
            <a:br>
              <a:rPr lang="en-US" sz="4000" b="1" dirty="0">
                <a:solidFill>
                  <a:schemeClr val="tx1"/>
                </a:solidFill>
                <a:latin typeface="Times New Roman" panose="02020603050405020304" pitchFamily="18" charset="0"/>
                <a:ea typeface="Roboto"/>
                <a:cs typeface="Times New Roman" panose="02020603050405020304" pitchFamily="18" charset="0"/>
                <a:sym typeface="Roboto"/>
              </a:rPr>
            </a:br>
            <a:r>
              <a:rPr lang="en-US" sz="4000" b="1" dirty="0">
                <a:solidFill>
                  <a:schemeClr val="tx1"/>
                </a:solidFill>
                <a:latin typeface="Times New Roman" panose="02020603050405020304" pitchFamily="18" charset="0"/>
                <a:ea typeface="Roboto"/>
                <a:cs typeface="Times New Roman" panose="02020603050405020304" pitchFamily="18" charset="0"/>
                <a:sym typeface="Roboto"/>
              </a:rPr>
              <a:t>(DT,RF,XGB)</a:t>
            </a:r>
            <a:endParaRPr sz="4000" b="1" dirty="0">
              <a:solidFill>
                <a:schemeClr val="tx1"/>
              </a:solidFill>
              <a:latin typeface="Times New Roman" panose="02020603050405020304" pitchFamily="18" charset="0"/>
              <a:ea typeface="Roboto"/>
              <a:cs typeface="Times New Roman" panose="02020603050405020304" pitchFamily="18" charset="0"/>
              <a:sym typeface="Roboto"/>
            </a:endParaRPr>
          </a:p>
        </p:txBody>
      </p:sp>
      <p:sp>
        <p:nvSpPr>
          <p:cNvPr id="5" name="Google Shape;96;p1"/>
          <p:cNvSpPr txBox="1"/>
          <p:nvPr/>
        </p:nvSpPr>
        <p:spPr>
          <a:xfrm>
            <a:off x="2468459" y="3803385"/>
            <a:ext cx="7255079" cy="865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2060"/>
              </a:buClr>
              <a:buSzPct val="100000"/>
              <a:buFont typeface="Arial"/>
              <a:buNone/>
            </a:pPr>
            <a:r>
              <a:rPr lang="en-US" sz="2400" b="1" i="1" dirty="0">
                <a:solidFill>
                  <a:srgbClr val="002060"/>
                </a:solidFill>
                <a:latin typeface="Times New Roman" panose="02020603050405020304" pitchFamily="18" charset="0"/>
                <a:ea typeface="Roboto"/>
                <a:cs typeface="Times New Roman" panose="02020603050405020304" pitchFamily="18" charset="0"/>
                <a:sym typeface="Roboto"/>
              </a:rPr>
              <a:t>	</a:t>
            </a:r>
            <a:r>
              <a:rPr lang="en-US" sz="2400" b="1" i="1" dirty="0">
                <a:solidFill>
                  <a:schemeClr val="tx1"/>
                </a:solidFill>
                <a:latin typeface="Times New Roman" panose="02020603050405020304" pitchFamily="18" charset="0"/>
                <a:ea typeface="Roboto"/>
                <a:cs typeface="Times New Roman" panose="02020603050405020304" pitchFamily="18" charset="0"/>
                <a:sym typeface="Roboto"/>
              </a:rPr>
              <a:t>	</a:t>
            </a:r>
            <a:endParaRPr sz="240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rgbClr val="002060"/>
              </a:buClr>
              <a:buSzPct val="100000"/>
              <a:buFont typeface="Arial"/>
              <a:buNone/>
            </a:pP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Người</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trình</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bày</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Trịnh</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Phúc</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Anh</a:t>
            </a:r>
          </a:p>
          <a:p>
            <a:pPr marL="0" marR="0" lvl="0" indent="0" algn="ctr" rtl="0">
              <a:lnSpc>
                <a:spcPct val="90000"/>
              </a:lnSpc>
              <a:spcBef>
                <a:spcPts val="1000"/>
              </a:spcBef>
              <a:spcAft>
                <a:spcPts val="0"/>
              </a:spcAft>
              <a:buClr>
                <a:srgbClr val="002060"/>
              </a:buClr>
              <a:buSzPct val="100000"/>
              <a:buFont typeface="Arial"/>
              <a:buNone/>
            </a:pP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Giảng</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viên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hướng</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dẫn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PGS.TS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Nguyễn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Văn</a:t>
            </a:r>
            <a:r>
              <a:rPr lang="en-US" sz="2400" b="1" dirty="0">
                <a:solidFill>
                  <a:schemeClr val="tx1"/>
                </a:solidFill>
                <a:latin typeface="Times New Roman" panose="02020603050405020304" pitchFamily="18" charset="0"/>
                <a:ea typeface="Roboto"/>
                <a:cs typeface="Times New Roman" panose="02020603050405020304" pitchFamily="18" charset="0"/>
                <a:sym typeface="Roboto"/>
              </a:rPr>
              <a:t> </a:t>
            </a:r>
            <a:r>
              <a:rPr lang="en-US" sz="2400" b="1" dirty="0" err="1">
                <a:solidFill>
                  <a:schemeClr val="tx1"/>
                </a:solidFill>
                <a:latin typeface="Times New Roman" panose="02020603050405020304" pitchFamily="18" charset="0"/>
                <a:ea typeface="Roboto"/>
                <a:cs typeface="Times New Roman" panose="02020603050405020304" pitchFamily="18" charset="0"/>
                <a:sym typeface="Roboto"/>
              </a:rPr>
              <a:t>Hậu</a:t>
            </a:r>
            <a:endParaRPr sz="240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90000"/>
              </a:lnSpc>
              <a:spcBef>
                <a:spcPts val="1000"/>
              </a:spcBef>
              <a:spcAft>
                <a:spcPts val="0"/>
              </a:spcAft>
              <a:buClr>
                <a:schemeClr val="dk1"/>
              </a:buClr>
              <a:buSzPct val="100000"/>
              <a:buFont typeface="Arial"/>
              <a:buNone/>
            </a:pPr>
            <a:endParaRPr sz="2400" b="1" dirty="0">
              <a:solidFill>
                <a:srgbClr val="002060"/>
              </a:solidFill>
              <a:latin typeface="Roboto"/>
              <a:ea typeface="Roboto"/>
              <a:cs typeface="Roboto"/>
              <a:sym typeface="Roboto"/>
            </a:endParaRPr>
          </a:p>
        </p:txBody>
      </p:sp>
      <p:sp>
        <p:nvSpPr>
          <p:cNvPr id="6" name="Google Shape;97;p1"/>
          <p:cNvSpPr txBox="1"/>
          <p:nvPr/>
        </p:nvSpPr>
        <p:spPr>
          <a:xfrm>
            <a:off x="9723538" y="6488668"/>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 name="Rectangle 6"/>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5879158"/>
            <a:ext cx="12192000" cy="97884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73377" y="6099142"/>
            <a:ext cx="678731" cy="584462"/>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1012687" y="6155703"/>
            <a:ext cx="2911543"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HUNG YEN UNIVERSITY OF TECHNOLOGY AND EDUCATION</a:t>
            </a:r>
          </a:p>
        </p:txBody>
      </p:sp>
      <p:sp>
        <p:nvSpPr>
          <p:cNvPr id="11" name="TextBox 10"/>
          <p:cNvSpPr txBox="1"/>
          <p:nvPr/>
        </p:nvSpPr>
        <p:spPr>
          <a:xfrm>
            <a:off x="9723538" y="6155703"/>
            <a:ext cx="212513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Date: 29/12/2025 </a:t>
            </a:r>
          </a:p>
        </p:txBody>
      </p:sp>
      <p:sp>
        <p:nvSpPr>
          <p:cNvPr id="13" name="TextBox 12"/>
          <p:cNvSpPr txBox="1"/>
          <p:nvPr/>
        </p:nvSpPr>
        <p:spPr>
          <a:xfrm>
            <a:off x="3935084" y="190542"/>
            <a:ext cx="710781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Machine Learning</a:t>
            </a:r>
          </a:p>
        </p:txBody>
      </p:sp>
    </p:spTree>
    <p:extLst>
      <p:ext uri="{BB962C8B-B14F-4D97-AF65-F5344CB8AC3E}">
        <p14:creationId xmlns:p14="http://schemas.microsoft.com/office/powerpoint/2010/main" val="1008896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B826C9-5E29-5F36-C1D9-1593823A2C99}"/>
              </a:ext>
            </a:extLst>
          </p:cNvPr>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545997" y="1545995"/>
            <a:ext cx="7946795" cy="4678204"/>
          </a:xfrm>
          <a:prstGeom prst="rect">
            <a:avLst/>
          </a:prstGeom>
          <a:noFill/>
        </p:spPr>
        <p:txBody>
          <a:bodyPr wrap="square" rtlCol="0">
            <a:spAutoFit/>
          </a:bodyPr>
          <a:lstStyle/>
          <a:p>
            <a:pPr marL="400050" indent="-400050">
              <a:lnSpc>
                <a:spcPct val="200000"/>
              </a:lnSpc>
              <a:buAutoNum type="romanUcPeriod"/>
            </a:pPr>
            <a:r>
              <a:rPr lang="en-US" sz="2800" dirty="0" err="1">
                <a:latin typeface="Times New Roman" panose="02020603050405020304" pitchFamily="18" charset="0"/>
                <a:cs typeface="Times New Roman" panose="02020603050405020304" pitchFamily="18" charset="0"/>
              </a:rPr>
              <a:t>Tổng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bài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toán</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err="1">
                <a:latin typeface="Times New Roman" panose="02020603050405020304" pitchFamily="18" charset="0"/>
                <a:cs typeface="Times New Roman" panose="02020603050405020304" pitchFamily="18" charset="0"/>
              </a:rPr>
              <a:t>Phân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học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máy</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Đánh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giá</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endParaRPr lang="en-US" sz="2800" dirty="0">
              <a:latin typeface="Times New Roman" panose="02020603050405020304" pitchFamily="18" charset="0"/>
              <a:cs typeface="Times New Roman" panose="02020603050405020304" pitchFamily="18" charset="0"/>
            </a:endParaRPr>
          </a:p>
          <a:p>
            <a:pPr marL="400050" indent="-400050">
              <a:lnSpc>
                <a:spcPct val="200000"/>
              </a:lnSpc>
              <a:buAutoNum type="romanUcPeriod"/>
            </a:pPr>
            <a:r>
              <a:rPr lang="en-US" sz="2800" dirty="0">
                <a:latin typeface="Times New Roman" panose="02020603050405020304" pitchFamily="18" charset="0"/>
                <a:cs typeface="Times New Roman" panose="02020603050405020304" pitchFamily="18" charset="0"/>
              </a:rPr>
              <a:t> Demo</a:t>
            </a:r>
          </a:p>
          <a:p>
            <a:pPr marL="400050" indent="-400050">
              <a:buAutoNum type="romanUcPeriod"/>
            </a:pPr>
            <a:endParaRPr lang="en-US" dirty="0"/>
          </a:p>
        </p:txBody>
      </p:sp>
      <p:sp>
        <p:nvSpPr>
          <p:cNvPr id="3" name="TextBox 2">
            <a:extLst>
              <a:ext uri="{FF2B5EF4-FFF2-40B4-BE49-F238E27FC236}">
                <a16:creationId xmlns:a16="http://schemas.microsoft.com/office/drawing/2014/main" id="{DB0CFD7B-2DCA-725A-1EE0-3A15A0F4431F}"/>
              </a:ext>
            </a:extLst>
          </p:cNvPr>
          <p:cNvSpPr txBox="1"/>
          <p:nvPr/>
        </p:nvSpPr>
        <p:spPr>
          <a:xfrm>
            <a:off x="358882" y="206871"/>
            <a:ext cx="7107810" cy="646331"/>
          </a:xfrm>
          <a:prstGeom prst="rect">
            <a:avLst/>
          </a:prstGeom>
          <a:noFill/>
        </p:spPr>
        <p:txBody>
          <a:bodyPr wrap="square" rtlCol="0">
            <a:spAutoFit/>
          </a:bodyPr>
          <a:lstStyle/>
          <a:p>
            <a:r>
              <a:rPr lang="en-US" sz="3600" dirty="0" err="1">
                <a:latin typeface="Times New Roman" panose="02020603050405020304" pitchFamily="18" charset="0"/>
                <a:cs typeface="Times New Roman" panose="02020603050405020304" pitchFamily="18" charset="0"/>
              </a:rPr>
              <a:t>Nội</a:t>
            </a:r>
            <a:r>
              <a:rPr lang="en-US" sz="3600" dirty="0">
                <a:latin typeface="Times New Roman" panose="02020603050405020304" pitchFamily="18" charset="0"/>
                <a:cs typeface="Times New Roman" panose="02020603050405020304" pitchFamily="18" charset="0"/>
              </a:rPr>
              <a:t> dung</a:t>
            </a:r>
          </a:p>
        </p:txBody>
      </p:sp>
      <p:sp>
        <p:nvSpPr>
          <p:cNvPr id="4" name="TextBox 3"/>
          <p:cNvSpPr txBox="1"/>
          <p:nvPr/>
        </p:nvSpPr>
        <p:spPr>
          <a:xfrm>
            <a:off x="11013649"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2/23</a:t>
            </a:r>
          </a:p>
        </p:txBody>
      </p:sp>
    </p:spTree>
    <p:extLst>
      <p:ext uri="{BB962C8B-B14F-4D97-AF65-F5344CB8AC3E}">
        <p14:creationId xmlns:p14="http://schemas.microsoft.com/office/powerpoint/2010/main" val="2831565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83018" y="1340737"/>
            <a:ext cx="11293310" cy="5539978"/>
          </a:xfrm>
          <a:prstGeom prst="rect">
            <a:avLst/>
          </a:prstGeom>
          <a:noFill/>
        </p:spPr>
        <p:txBody>
          <a:bodyPr wrap="square" rtlCol="0">
            <a:spAutoFit/>
          </a:bodyPr>
          <a:lstStyle/>
          <a:p>
            <a:r>
              <a:rPr lang="vi-VN" sz="2400" b="0" i="0" dirty="0">
                <a:solidFill>
                  <a:srgbClr val="212529"/>
                </a:solidFill>
                <a:effectLst/>
                <a:latin typeface="+mj-lt"/>
              </a:rPr>
              <a:t>Rủi ro tín dụng (Credit Risk) là khả năng xảy ra tổn thất tài chính khi người vay không thực hiện đúng các điều khoản của hợp đồng tín dụng. </a:t>
            </a:r>
            <a:endParaRPr lang="en-US" sz="2400" b="0" i="0" dirty="0">
              <a:solidFill>
                <a:srgbClr val="212529"/>
              </a:solidFill>
              <a:effectLst/>
              <a:latin typeface="+mj-lt"/>
            </a:endParaRPr>
          </a:p>
          <a:p>
            <a:endParaRPr lang="en-US" sz="2400" dirty="0">
              <a:latin typeface="Times New Roman" panose="02020603050405020304" pitchFamily="18" charset="0"/>
              <a:cs typeface="Times New Roman" panose="02020603050405020304" pitchFamily="18" charset="0"/>
            </a:endParaRPr>
          </a:p>
          <a:p>
            <a:r>
              <a:rPr lang="vi-VN" sz="2400" dirty="0">
                <a:latin typeface="+mj-lt"/>
              </a:rPr>
              <a:t>Bài toán dự đoán rủi ro tín dụng</a:t>
            </a:r>
            <a:r>
              <a:rPr lang="en-US" sz="2400" dirty="0">
                <a:latin typeface="+mj-lt"/>
              </a:rPr>
              <a:t> </a:t>
            </a:r>
            <a:r>
              <a:rPr lang="vi-VN" sz="2400" dirty="0">
                <a:latin typeface="+mj-lt"/>
              </a:rPr>
              <a:t>là một bài toán phân loại trong học máy (classification), nhằm mục đích xác định khả năng một khách hàng có hoặc không có rủi ro khi được cấp tín dụng (vay vốn).</a:t>
            </a:r>
          </a:p>
          <a:p>
            <a:endParaRPr lang="vi-VN" sz="2400" b="0" dirty="0">
              <a:effectLst/>
              <a:latin typeface="Times New Roman" panose="02020603050405020304" pitchFamily="18" charset="0"/>
              <a:cs typeface="Times New Roman" panose="02020603050405020304" pitchFamily="18" charset="0"/>
            </a:endParaRPr>
          </a:p>
          <a:p>
            <a:pPr fontAlgn="base"/>
            <a:r>
              <a:rPr lang="vi-VN" sz="2400" dirty="0">
                <a:latin typeface="+mj-lt"/>
              </a:rPr>
              <a:t>Thông tin cá nhân – nhân khẩu học</a:t>
            </a:r>
            <a:endParaRPr lang="en-US" sz="2400" dirty="0">
              <a:latin typeface="+mj-lt"/>
            </a:endParaRPr>
          </a:p>
          <a:p>
            <a:pPr fontAlgn="base"/>
            <a:r>
              <a:rPr lang="en-US" sz="2400" dirty="0">
                <a:latin typeface="+mj-lt"/>
              </a:rPr>
              <a:t>Thông tin t</a:t>
            </a:r>
            <a:r>
              <a:rPr lang="vi-VN" sz="2400" dirty="0">
                <a:latin typeface="+mj-lt"/>
              </a:rPr>
              <a:t>ình trạng tài chính hiện tại</a:t>
            </a:r>
            <a:endParaRPr lang="en-US" sz="2400" dirty="0">
              <a:latin typeface="+mj-lt"/>
            </a:endParaRPr>
          </a:p>
          <a:p>
            <a:pPr fontAlgn="base"/>
            <a:r>
              <a:rPr lang="vi-VN" sz="2400" dirty="0">
                <a:latin typeface="+mj-lt"/>
              </a:rPr>
              <a:t>Thông tin khoản vay</a:t>
            </a:r>
            <a:endParaRPr lang="en-US" sz="2400" dirty="0">
              <a:latin typeface="+mj-lt"/>
            </a:endParaRPr>
          </a:p>
          <a:p>
            <a:pPr fontAlgn="base"/>
            <a:endParaRPr lang="vi-VN" sz="2400" dirty="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Bài toán được mô hình hóa dưới dạng </a:t>
            </a:r>
            <a:r>
              <a:rPr lang="vi-VN" sz="2400" b="1" dirty="0">
                <a:latin typeface="Times New Roman" panose="02020603050405020304" pitchFamily="18" charset="0"/>
                <a:cs typeface="Times New Roman" panose="02020603050405020304" pitchFamily="18" charset="0"/>
              </a:rPr>
              <a:t>phân loại </a:t>
            </a:r>
            <a:r>
              <a:rPr lang="en-US" sz="2400" b="1" dirty="0" err="1">
                <a:latin typeface="Times New Roman" panose="02020603050405020304" pitchFamily="18" charset="0"/>
                <a:cs typeface="Times New Roman" panose="02020603050405020304" pitchFamily="18" charset="0"/>
              </a:rPr>
              <a:t>nhị</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vi-VN"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hai</a:t>
            </a:r>
            <a:r>
              <a:rPr lang="vi-VN" sz="2400" dirty="0">
                <a:latin typeface="Times New Roman" panose="02020603050405020304" pitchFamily="18" charset="0"/>
                <a:cs typeface="Times New Roman" panose="02020603050405020304" pitchFamily="18" charset="0"/>
              </a:rPr>
              <a:t> nhãn mục tiêu:</a:t>
            </a:r>
            <a:endParaRPr lang="en-US" sz="2400" dirty="0">
              <a:latin typeface="Times New Roman" panose="02020603050405020304" pitchFamily="18" charset="0"/>
              <a:cs typeface="Times New Roman" panose="02020603050405020304" pitchFamily="18" charset="0"/>
            </a:endParaRPr>
          </a:p>
          <a:p>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Mức</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độ</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rủi</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ro</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thấp</a:t>
            </a:r>
            <a:endParaRPr lang="en-US" sz="2400" b="0" dirty="0">
              <a:effectLst/>
              <a:latin typeface="Times New Roman" panose="02020603050405020304" pitchFamily="18" charset="0"/>
              <a:cs typeface="Times New Roman" panose="02020603050405020304" pitchFamily="18" charset="0"/>
            </a:endParaRPr>
          </a:p>
          <a:p>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Mức</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độ</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rủi</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ro</a:t>
            </a:r>
            <a:r>
              <a:rPr lang="en-US" sz="2400" b="0" dirty="0">
                <a:effectLst/>
                <a:latin typeface="Times New Roman" panose="02020603050405020304" pitchFamily="18" charset="0"/>
                <a:cs typeface="Times New Roman" panose="02020603050405020304" pitchFamily="18" charset="0"/>
              </a:rPr>
              <a:t> </a:t>
            </a:r>
            <a:r>
              <a:rPr lang="en-US" sz="2400" b="0" dirty="0" err="1">
                <a:effectLst/>
                <a:latin typeface="Times New Roman" panose="02020603050405020304" pitchFamily="18" charset="0"/>
                <a:cs typeface="Times New Roman" panose="02020603050405020304" pitchFamily="18" charset="0"/>
              </a:rPr>
              <a:t>cao</a:t>
            </a:r>
            <a:endParaRPr lang="vi-VN" sz="2400" b="0" dirty="0">
              <a:effectLst/>
              <a:latin typeface="Times New Roman" panose="02020603050405020304" pitchFamily="18" charset="0"/>
              <a:cs typeface="Times New Roman" panose="02020603050405020304" pitchFamily="18" charset="0"/>
            </a:endParaRPr>
          </a:p>
          <a:p>
            <a:pPr marL="400050" indent="-400050">
              <a:buAutoNum type="romanUcPeriod"/>
            </a:pPr>
            <a:endParaRPr lang="en-US" dirty="0"/>
          </a:p>
        </p:txBody>
      </p:sp>
      <p:sp>
        <p:nvSpPr>
          <p:cNvPr id="7" name="TextBox 6">
            <a:extLst>
              <a:ext uri="{FF2B5EF4-FFF2-40B4-BE49-F238E27FC236}">
                <a16:creationId xmlns:a16="http://schemas.microsoft.com/office/drawing/2014/main" id="{91BC18D3-ACF8-6ED0-1F1F-763FA54A765E}"/>
              </a:ext>
            </a:extLst>
          </p:cNvPr>
          <p:cNvSpPr txBox="1"/>
          <p:nvPr/>
        </p:nvSpPr>
        <p:spPr>
          <a:xfrm>
            <a:off x="358882" y="206871"/>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 </a:t>
            </a:r>
            <a:r>
              <a:rPr lang="en-US" sz="3600" dirty="0" err="1">
                <a:latin typeface="Times New Roman" panose="02020603050405020304" pitchFamily="18" charset="0"/>
                <a:cs typeface="Times New Roman" panose="02020603050405020304" pitchFamily="18" charset="0"/>
              </a:rPr>
              <a:t>Tổng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quan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bài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toán</a:t>
            </a:r>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919D424-B649-DA46-8D8C-8ED2F6E94054}"/>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3/22</a:t>
            </a:r>
          </a:p>
        </p:txBody>
      </p:sp>
    </p:spTree>
    <p:extLst>
      <p:ext uri="{BB962C8B-B14F-4D97-AF65-F5344CB8AC3E}">
        <p14:creationId xmlns:p14="http://schemas.microsoft.com/office/powerpoint/2010/main" val="3085646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58882" y="206871"/>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 </a:t>
            </a:r>
            <a:r>
              <a:rPr lang="en-US" sz="3600" dirty="0" err="1">
                <a:latin typeface="Times New Roman" panose="02020603050405020304" pitchFamily="18" charset="0"/>
                <a:cs typeface="Times New Roman" panose="02020603050405020304" pitchFamily="18" charset="0"/>
              </a:rPr>
              <a:t>Tổng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quan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bài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toán</a:t>
            </a:r>
            <a:endParaRPr 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27902" y="1340740"/>
            <a:ext cx="11293310" cy="2585323"/>
          </a:xfrm>
          <a:prstGeom prst="rect">
            <a:avLst/>
          </a:prstGeom>
          <a:noFill/>
        </p:spPr>
        <p:txBody>
          <a:bodyPr wrap="square" rtlCol="0">
            <a:spAutoFit/>
          </a:bodyPr>
          <a:lstStyle/>
          <a:p>
            <a:pPr fontAlgn="base"/>
            <a:r>
              <a:rPr lang="en-US" sz="2400" dirty="0">
                <a:latin typeface="Times New Roman" panose="02020603050405020304" pitchFamily="18" charset="0"/>
                <a:cs typeface="Times New Roman" panose="02020603050405020304" pitchFamily="18" charset="0"/>
              </a:rPr>
              <a:t>Dataset : German Credit Risk – With Target</a:t>
            </a:r>
          </a:p>
          <a:p>
            <a:r>
              <a:rPr lang="en-US" sz="2400" dirty="0">
                <a:latin typeface="Times New Roman" panose="02020603050405020304" pitchFamily="18" charset="0"/>
                <a:cs typeface="Times New Roman" panose="02020603050405020304" pitchFamily="18" charset="0"/>
              </a:rPr>
              <a:t>Link Kaggle: </a:t>
            </a:r>
            <a:r>
              <a:rPr lang="en-US" sz="2400" dirty="0">
                <a:latin typeface="Times New Roman" panose="02020603050405020304" pitchFamily="18" charset="0"/>
                <a:cs typeface="Times New Roman" panose="02020603050405020304" pitchFamily="18" charset="0"/>
                <a:hlinkClick r:id="rId2"/>
              </a:rPr>
              <a:t>https://www.kaggle.com/datasets/kabure/german-credit-data-with-risk </a:t>
            </a:r>
            <a:endParaRPr lang="en-US" sz="2400" dirty="0">
              <a:latin typeface="Times New Roman" panose="02020603050405020304" pitchFamily="18" charset="0"/>
              <a:cs typeface="Times New Roman" panose="02020603050405020304" pitchFamily="18" charset="0"/>
            </a:endParaRPr>
          </a:p>
          <a:p>
            <a:pPr fontAlgn="base"/>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bao </a:t>
            </a:r>
            <a:r>
              <a:rPr lang="en-US" sz="2400" dirty="0" err="1">
                <a:latin typeface="Times New Roman" panose="02020603050405020304" pitchFamily="18" charset="0"/>
                <a:cs typeface="Times New Roman" panose="02020603050405020304" pitchFamily="18" charset="0"/>
              </a:rPr>
              <a:t>gồm</a:t>
            </a:r>
            <a:r>
              <a:rPr lang="en-US" sz="2400" dirty="0">
                <a:latin typeface="Times New Roman" panose="02020603050405020304" pitchFamily="18" charset="0"/>
                <a:cs typeface="Times New Roman" panose="02020603050405020304" pitchFamily="18" charset="0"/>
              </a:rPr>
              <a:t>:</a:t>
            </a:r>
          </a:p>
          <a:p>
            <a:pPr marL="742950" lvl="1" indent="-28575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Số lượng mẫu: </a:t>
            </a:r>
            <a:r>
              <a:rPr lang="en-US" sz="2400" dirty="0">
                <a:latin typeface="Times New Roman" panose="02020603050405020304" pitchFamily="18" charset="0"/>
                <a:cs typeface="Times New Roman" panose="02020603050405020304" pitchFamily="18" charset="0"/>
              </a:rPr>
              <a:t>1000 </a:t>
            </a:r>
            <a:endParaRPr lang="vi-VN" sz="2400" dirty="0">
              <a:latin typeface="Times New Roman" panose="02020603050405020304" pitchFamily="18" charset="0"/>
              <a:cs typeface="Times New Roman" panose="02020603050405020304" pitchFamily="18" charset="0"/>
            </a:endParaRPr>
          </a:p>
          <a:p>
            <a:pPr marL="742950" lvl="1" indent="-28575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Số lượng đặc trưng: </a:t>
            </a:r>
            <a:r>
              <a:rPr lang="en-US" sz="2400" dirty="0">
                <a:latin typeface="Times New Roman" panose="02020603050405020304" pitchFamily="18" charset="0"/>
                <a:cs typeface="Times New Roman" panose="02020603050405020304" pitchFamily="18" charset="0"/>
              </a:rPr>
              <a:t>10</a:t>
            </a:r>
            <a:r>
              <a:rPr lang="vi-VN"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742950" lvl="1" indent="-28575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Biến mục tiêu:</a:t>
            </a:r>
            <a:r>
              <a:rPr lang="en-US" sz="2400" dirty="0">
                <a:latin typeface="Times New Roman" panose="02020603050405020304" pitchFamily="18" charset="0"/>
                <a:cs typeface="Times New Roman" panose="02020603050405020304" pitchFamily="18" charset="0"/>
              </a:rPr>
              <a:t> Risk (“good” , “bad”)</a:t>
            </a:r>
            <a:endParaRPr lang="vi-VN" sz="2400" dirty="0">
              <a:latin typeface="Times New Roman" panose="02020603050405020304" pitchFamily="18" charset="0"/>
              <a:cs typeface="Times New Roman" panose="02020603050405020304" pitchFamily="18" charset="0"/>
            </a:endParaRPr>
          </a:p>
          <a:p>
            <a:pPr marL="400050" indent="-400050">
              <a:buAutoNum type="romanUcPeriod"/>
            </a:pPr>
            <a:endParaRPr lang="en-US" dirty="0"/>
          </a:p>
        </p:txBody>
      </p:sp>
      <p:pic>
        <p:nvPicPr>
          <p:cNvPr id="9" name="Picture 8">
            <a:extLst>
              <a:ext uri="{FF2B5EF4-FFF2-40B4-BE49-F238E27FC236}">
                <a16:creationId xmlns:a16="http://schemas.microsoft.com/office/drawing/2014/main" id="{FAC91FDD-1B7E-DB0C-51F9-02264F53DF98}"/>
              </a:ext>
            </a:extLst>
          </p:cNvPr>
          <p:cNvPicPr>
            <a:picLocks noChangeAspect="1"/>
          </p:cNvPicPr>
          <p:nvPr/>
        </p:nvPicPr>
        <p:blipFill>
          <a:blip r:embed="rId3"/>
          <a:stretch>
            <a:fillRect/>
          </a:stretch>
        </p:blipFill>
        <p:spPr>
          <a:xfrm>
            <a:off x="603385" y="4157531"/>
            <a:ext cx="11079121" cy="1838582"/>
          </a:xfrm>
          <a:prstGeom prst="rect">
            <a:avLst/>
          </a:prstGeom>
        </p:spPr>
      </p:pic>
      <p:sp>
        <p:nvSpPr>
          <p:cNvPr id="12" name="TextBox 11">
            <a:extLst>
              <a:ext uri="{FF2B5EF4-FFF2-40B4-BE49-F238E27FC236}">
                <a16:creationId xmlns:a16="http://schemas.microsoft.com/office/drawing/2014/main" id="{377F43DF-088F-A3F9-6C23-ED24FC0C9D1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4/22</a:t>
            </a:r>
          </a:p>
        </p:txBody>
      </p:sp>
    </p:spTree>
    <p:extLst>
      <p:ext uri="{BB962C8B-B14F-4D97-AF65-F5344CB8AC3E}">
        <p14:creationId xmlns:p14="http://schemas.microsoft.com/office/powerpoint/2010/main" val="3010962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967FC10-6E44-1B80-042B-84AD250F2221}"/>
              </a:ext>
            </a:extLst>
          </p:cNvPr>
          <p:cNvPicPr>
            <a:picLocks noChangeAspect="1"/>
          </p:cNvPicPr>
          <p:nvPr/>
        </p:nvPicPr>
        <p:blipFill>
          <a:blip r:embed="rId2"/>
          <a:stretch>
            <a:fillRect/>
          </a:stretch>
        </p:blipFill>
        <p:spPr>
          <a:xfrm>
            <a:off x="631252" y="1575484"/>
            <a:ext cx="8523180" cy="4732465"/>
          </a:xfrm>
          <a:prstGeom prst="rect">
            <a:avLst/>
          </a:prstGeom>
        </p:spPr>
      </p:pic>
      <p:sp>
        <p:nvSpPr>
          <p:cNvPr id="8" name="TextBox 7">
            <a:extLst>
              <a:ext uri="{FF2B5EF4-FFF2-40B4-BE49-F238E27FC236}">
                <a16:creationId xmlns:a16="http://schemas.microsoft.com/office/drawing/2014/main" id="{4B796DB7-DB8F-67EF-DF97-DE61CBE327B3}"/>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0D27411-D644-6981-9DA0-312A857D7130}"/>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5/22</a:t>
            </a:r>
          </a:p>
        </p:txBody>
      </p:sp>
    </p:spTree>
    <p:extLst>
      <p:ext uri="{BB962C8B-B14F-4D97-AF65-F5344CB8AC3E}">
        <p14:creationId xmlns:p14="http://schemas.microsoft.com/office/powerpoint/2010/main" val="12334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887676" y="6006637"/>
            <a:ext cx="8641238" cy="461665"/>
          </a:xfrm>
          <a:prstGeom prst="rect">
            <a:avLst/>
          </a:prstGeom>
        </p:spPr>
        <p:txBody>
          <a:bodyPr wrap="square">
            <a:spAutoFit/>
          </a:bodyPr>
          <a:lstStyle/>
          <a:p>
            <a:r>
              <a:rPr lang="en-US" sz="2400" i="0" dirty="0">
                <a:solidFill>
                  <a:srgbClr val="1F1F1F"/>
                </a:solidFill>
                <a:effectLst/>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9424B2C-EE29-C83A-A91D-0B3FAA5EC7F6}"/>
              </a:ext>
            </a:extLst>
          </p:cNvPr>
          <p:cNvPicPr>
            <a:picLocks noChangeAspect="1"/>
          </p:cNvPicPr>
          <p:nvPr/>
        </p:nvPicPr>
        <p:blipFill>
          <a:blip r:embed="rId3"/>
          <a:stretch>
            <a:fillRect/>
          </a:stretch>
        </p:blipFill>
        <p:spPr>
          <a:xfrm>
            <a:off x="1358287" y="1650043"/>
            <a:ext cx="4111418" cy="4125122"/>
          </a:xfrm>
          <a:prstGeom prst="rect">
            <a:avLst/>
          </a:prstGeom>
        </p:spPr>
      </p:pic>
      <p:sp>
        <p:nvSpPr>
          <p:cNvPr id="5" name="TextBox 4">
            <a:extLst>
              <a:ext uri="{FF2B5EF4-FFF2-40B4-BE49-F238E27FC236}">
                <a16:creationId xmlns:a16="http://schemas.microsoft.com/office/drawing/2014/main" id="{448C1002-BB61-B9F9-8EA8-E6C8CB970B0F}"/>
              </a:ext>
            </a:extLst>
          </p:cNvPr>
          <p:cNvSpPr txBox="1"/>
          <p:nvPr/>
        </p:nvSpPr>
        <p:spPr>
          <a:xfrm>
            <a:off x="6897196" y="3007988"/>
            <a:ext cx="3631718" cy="2016243"/>
          </a:xfrm>
          <a:prstGeom prst="rect">
            <a:avLst/>
          </a:prstGeom>
          <a:noFill/>
        </p:spPr>
        <p:txBody>
          <a:bodyPr wrap="square" rtlCol="0">
            <a:spAutoFit/>
          </a:bodyPr>
          <a:lstStyle/>
          <a:p>
            <a:r>
              <a:rPr lang="en-US" sz="2400" dirty="0">
                <a:latin typeface="+mj-lt"/>
              </a:rPr>
              <a:t>D</a:t>
            </a:r>
            <a:r>
              <a:rPr lang="vi-VN" sz="2400" dirty="0">
                <a:latin typeface="+mj-lt"/>
              </a:rPr>
              <a:t>ataset tồn tại sự mất cân bằng lớp ở mức độ vừa phải</a:t>
            </a:r>
            <a:r>
              <a:rPr lang="en-US" sz="2400" dirty="0">
                <a:latin typeface="+mj-lt"/>
              </a:rPr>
              <a:t>,</a:t>
            </a:r>
            <a:r>
              <a:rPr lang="vi-VN" sz="2400" dirty="0">
                <a:latin typeface="+mj-lt"/>
              </a:rPr>
              <a:t>đủ để mô hình học được các đặc trưng liên quan đến rủi ro tín dụng.</a:t>
            </a:r>
          </a:p>
        </p:txBody>
      </p:sp>
      <p:sp>
        <p:nvSpPr>
          <p:cNvPr id="9" name="TextBox 8">
            <a:extLst>
              <a:ext uri="{FF2B5EF4-FFF2-40B4-BE49-F238E27FC236}">
                <a16:creationId xmlns:a16="http://schemas.microsoft.com/office/drawing/2014/main" id="{2AEDAB0D-B277-4F03-8494-05959A0F0898}"/>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94C78B1-6092-2DF6-A310-53B5A2D644AB}"/>
              </a:ext>
            </a:extLst>
          </p:cNvPr>
          <p:cNvSpPr txBox="1"/>
          <p:nvPr/>
        </p:nvSpPr>
        <p:spPr>
          <a:xfrm>
            <a:off x="11013649"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6/22</a:t>
            </a:r>
          </a:p>
        </p:txBody>
      </p:sp>
    </p:spTree>
    <p:extLst>
      <p:ext uri="{BB962C8B-B14F-4D97-AF65-F5344CB8AC3E}">
        <p14:creationId xmlns:p14="http://schemas.microsoft.com/office/powerpoint/2010/main" val="3084788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69DDDD-8537-CC4B-2CA4-4A68658535F6}"/>
              </a:ext>
            </a:extLst>
          </p:cNvPr>
          <p:cNvPicPr>
            <a:picLocks noChangeAspect="1"/>
          </p:cNvPicPr>
          <p:nvPr/>
        </p:nvPicPr>
        <p:blipFill>
          <a:blip r:embed="rId2"/>
          <a:stretch>
            <a:fillRect/>
          </a:stretch>
        </p:blipFill>
        <p:spPr>
          <a:xfrm>
            <a:off x="2139553" y="1109269"/>
            <a:ext cx="7781983" cy="4107657"/>
          </a:xfrm>
          <a:prstGeom prst="rect">
            <a:avLst/>
          </a:prstGeom>
        </p:spPr>
      </p:pic>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880974" y="5288340"/>
            <a:ext cx="7549878" cy="1569660"/>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Age :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trẻ</a:t>
            </a:r>
            <a:r>
              <a:rPr lang="en-US" sz="2400" dirty="0">
                <a:latin typeface="Times New Roman" panose="02020603050405020304" pitchFamily="18" charset="0"/>
                <a:cs typeface="Times New Roman" panose="02020603050405020304" pitchFamily="18" charset="0"/>
              </a:rPr>
              <a:t> (20-40)</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Credit </a:t>
            </a:r>
            <a:r>
              <a:rPr lang="en-US" sz="2400" dirty="0" err="1">
                <a:latin typeface="Times New Roman" panose="02020603050405020304" pitchFamily="18" charset="0"/>
                <a:cs typeface="Times New Roman" panose="02020603050405020304" pitchFamily="18" charset="0"/>
              </a:rPr>
              <a:t>amount:đa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nhỏ</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Duration: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ngắn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hạn</a:t>
            </a:r>
            <a:endParaRPr lang="en-US"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DF0CF99-607B-2D30-7E4B-CB0B98459D57}"/>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3266A927-E3E3-CDAB-B71B-D0BD941D6AD9}"/>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7/22</a:t>
            </a:r>
          </a:p>
        </p:txBody>
      </p:sp>
    </p:spTree>
    <p:extLst>
      <p:ext uri="{BB962C8B-B14F-4D97-AF65-F5344CB8AC3E}">
        <p14:creationId xmlns:p14="http://schemas.microsoft.com/office/powerpoint/2010/main" val="2392375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8A3BA9-708A-762F-3BA2-11E9A2013429}"/>
              </a:ext>
            </a:extLst>
          </p:cNvPr>
          <p:cNvPicPr>
            <a:picLocks noChangeAspect="1"/>
          </p:cNvPicPr>
          <p:nvPr/>
        </p:nvPicPr>
        <p:blipFill>
          <a:blip r:embed="rId2"/>
          <a:stretch>
            <a:fillRect/>
          </a:stretch>
        </p:blipFill>
        <p:spPr>
          <a:xfrm>
            <a:off x="1179317" y="1198324"/>
            <a:ext cx="9833365" cy="4461352"/>
          </a:xfrm>
          <a:prstGeom prst="rect">
            <a:avLst/>
          </a:prstGeom>
        </p:spPr>
      </p:pic>
      <p:sp>
        <p:nvSpPr>
          <p:cNvPr id="2" name="Rectangle 1"/>
          <p:cNvSpPr/>
          <p:nvPr/>
        </p:nvSpPr>
        <p:spPr>
          <a:xfrm>
            <a:off x="-1" y="-5513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59818" y="5324252"/>
            <a:ext cx="7549878" cy="1569660"/>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Sex : Nam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chiếm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Job :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2 (Skilled)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Housing: </a:t>
            </a:r>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hữu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vượt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trội</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7044BF9-8E1F-6905-5F1A-A8C69CAAB067}"/>
              </a:ext>
            </a:extLst>
          </p:cNvPr>
          <p:cNvSpPr txBox="1"/>
          <p:nvPr/>
        </p:nvSpPr>
        <p:spPr>
          <a:xfrm>
            <a:off x="5786250" y="5357477"/>
            <a:ext cx="7549878" cy="1569660"/>
          </a:xfrm>
          <a:prstGeom prst="rect">
            <a:avLst/>
          </a:prstGeom>
          <a:noFill/>
        </p:spPr>
        <p:txBody>
          <a:bodyPr wrap="square" rtlCol="0">
            <a:spAutoFit/>
          </a:bodyPr>
          <a:lstStyle/>
          <a:p>
            <a:pPr marL="742950" lvl="1"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Checking account : </a:t>
            </a:r>
            <a:r>
              <a:rPr lang="en-US" sz="2400" dirty="0" err="1">
                <a:latin typeface="Times New Roman" panose="02020603050405020304" pitchFamily="18" charset="0"/>
                <a:cs typeface="Times New Roman" panose="02020603050405020304" pitchFamily="18" charset="0"/>
              </a:rPr>
              <a:t>Khá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đồng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đều</a:t>
            </a:r>
            <a:endParaRPr lang="en-US"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Saving accounts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“little”</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Purpose: Car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Radio/TV </a:t>
            </a:r>
            <a:r>
              <a:rPr lang="en-US" sz="2400" dirty="0" err="1">
                <a:latin typeface="Times New Roman" panose="02020603050405020304" pitchFamily="18" charset="0"/>
                <a:cs typeface="Times New Roman" panose="02020603050405020304" pitchFamily="18" charset="0"/>
              </a:rPr>
              <a:t>phổ</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endParaRPr lang="en-US" sz="2400"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6611B776-0D5B-E17C-AE73-99F8D0DAD08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1000" b="0" i="0" u="none" strike="noStrike" cap="none" normalizeH="0" baseline="0">
                <a:ln>
                  <a:noFill/>
                </a:ln>
                <a:solidFill>
                  <a:schemeClr val="tx1"/>
                </a:solidFill>
                <a:effectLst/>
                <a:latin typeface="Arial Unicode MS"/>
              </a:rPr>
              <a:t>Car</a:t>
            </a:r>
            <a:r>
              <a:rPr kumimoji="0" lang="vi-VN" altLang="vi-VN" sz="800" b="0" i="0" u="none" strike="noStrike" cap="none" normalizeH="0" baseline="0">
                <a:ln>
                  <a:noFill/>
                </a:ln>
                <a:solidFill>
                  <a:schemeClr val="tx1"/>
                </a:solidFill>
                <a:effectLst/>
              </a:rPr>
              <a:t> và </a:t>
            </a:r>
            <a:r>
              <a:rPr kumimoji="0" lang="vi-VN" altLang="vi-VN" sz="1000" b="0" i="0" u="none" strike="noStrike" cap="none" normalizeH="0" baseline="0">
                <a:ln>
                  <a:noFill/>
                </a:ln>
                <a:solidFill>
                  <a:schemeClr val="tx1"/>
                </a:solidFill>
                <a:effectLst/>
                <a:latin typeface="Arial Unicode MS"/>
              </a:rPr>
              <a:t>Radio/TV</a:t>
            </a:r>
            <a:r>
              <a:rPr kumimoji="0" lang="vi-VN" altLang="vi-VN" sz="800" b="0" i="0" u="none" strike="noStrike" cap="none" normalizeH="0" baseline="0">
                <a:ln>
                  <a:noFill/>
                </a:ln>
                <a:solidFill>
                  <a:schemeClr val="tx1"/>
                </a:solidFill>
                <a:effectLst/>
              </a:rPr>
              <a:t> </a:t>
            </a:r>
            <a:endParaRPr kumimoji="0" lang="vi-VN" altLang="vi-VN"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7EFF72F9-F31E-4431-E78F-714BC233AD4E}"/>
              </a:ext>
            </a:extLst>
          </p:cNvPr>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vi-VN" sz="1000" b="0" i="0" u="none" strike="noStrike" cap="none" normalizeH="0" baseline="0">
                <a:ln>
                  <a:noFill/>
                </a:ln>
                <a:solidFill>
                  <a:schemeClr val="tx1"/>
                </a:solidFill>
                <a:effectLst/>
                <a:latin typeface="Arial Unicode MS"/>
              </a:rPr>
              <a:t>Car</a:t>
            </a:r>
            <a:r>
              <a:rPr kumimoji="0" lang="vi-VN" altLang="vi-VN" sz="800" b="0" i="0" u="none" strike="noStrike" cap="none" normalizeH="0" baseline="0">
                <a:ln>
                  <a:noFill/>
                </a:ln>
                <a:solidFill>
                  <a:schemeClr val="tx1"/>
                </a:solidFill>
                <a:effectLst/>
              </a:rPr>
              <a:t> và </a:t>
            </a:r>
            <a:r>
              <a:rPr kumimoji="0" lang="vi-VN" altLang="vi-VN" sz="1000" b="0" i="0" u="none" strike="noStrike" cap="none" normalizeH="0" baseline="0">
                <a:ln>
                  <a:noFill/>
                </a:ln>
                <a:solidFill>
                  <a:schemeClr val="tx1"/>
                </a:solidFill>
                <a:effectLst/>
                <a:latin typeface="Arial Unicode MS"/>
              </a:rPr>
              <a:t>Radio/TV</a:t>
            </a:r>
            <a:r>
              <a:rPr kumimoji="0" lang="vi-VN" altLang="vi-VN" sz="800" b="0" i="0" u="none" strike="noStrike" cap="none" normalizeH="0" baseline="0">
                <a:ln>
                  <a:noFill/>
                </a:ln>
                <a:solidFill>
                  <a:schemeClr val="tx1"/>
                </a:solidFill>
                <a:effectLst/>
              </a:rPr>
              <a:t> </a:t>
            </a:r>
            <a:endParaRPr kumimoji="0" lang="vi-VN" altLang="vi-VN"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101BC15C-52EF-5F61-FE50-1DAD10FAE496}"/>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B7629C8-8384-6060-1F8F-4A04530426A6}"/>
              </a:ext>
            </a:extLst>
          </p:cNvPr>
          <p:cNvSpPr txBox="1"/>
          <p:nvPr/>
        </p:nvSpPr>
        <p:spPr>
          <a:xfrm>
            <a:off x="10690006" y="376546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3/22</a:t>
            </a:r>
          </a:p>
        </p:txBody>
      </p:sp>
      <p:sp>
        <p:nvSpPr>
          <p:cNvPr id="14" name="TextBox 13">
            <a:extLst>
              <a:ext uri="{FF2B5EF4-FFF2-40B4-BE49-F238E27FC236}">
                <a16:creationId xmlns:a16="http://schemas.microsoft.com/office/drawing/2014/main" id="{91B14725-ACD0-E0C5-90A2-889D214FC48F}"/>
              </a:ext>
            </a:extLst>
          </p:cNvPr>
          <p:cNvSpPr txBox="1"/>
          <p:nvPr/>
        </p:nvSpPr>
        <p:spPr>
          <a:xfrm>
            <a:off x="11166049" y="6367046"/>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8/22</a:t>
            </a:r>
          </a:p>
        </p:txBody>
      </p:sp>
    </p:spTree>
    <p:extLst>
      <p:ext uri="{BB962C8B-B14F-4D97-AF65-F5344CB8AC3E}">
        <p14:creationId xmlns:p14="http://schemas.microsoft.com/office/powerpoint/2010/main" val="97749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502665" y="6056128"/>
            <a:ext cx="8641238" cy="461665"/>
          </a:xfrm>
          <a:prstGeom prst="rect">
            <a:avLst/>
          </a:prstGeom>
        </p:spPr>
        <p:txBody>
          <a:bodyPr wrap="square">
            <a:spAutoFit/>
          </a:bodyPr>
          <a:lstStyle/>
          <a:p>
            <a:r>
              <a:rPr lang="en-US" sz="2400" i="0" dirty="0">
                <a:solidFill>
                  <a:srgbClr val="1F1F1F"/>
                </a:solidFill>
                <a:effectLst/>
                <a:latin typeface="Times New Roman" panose="02020603050405020304" pitchFamily="18" charset="0"/>
                <a:cs typeface="Times New Roman" panose="02020603050405020304" pitchFamily="18" charset="0"/>
              </a:rPr>
              <a:t>			Ma </a:t>
            </a:r>
            <a:r>
              <a:rPr lang="en-US" sz="2400" i="0" dirty="0" err="1">
                <a:solidFill>
                  <a:srgbClr val="1F1F1F"/>
                </a:solidFill>
                <a:effectLst/>
                <a:latin typeface="Times New Roman" panose="02020603050405020304" pitchFamily="18" charset="0"/>
                <a:cs typeface="Times New Roman" panose="02020603050405020304" pitchFamily="18" charset="0"/>
              </a:rPr>
              <a:t>trận</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tương</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quan</a:t>
            </a:r>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A3AEC55-D8B8-624A-C31B-9AEAAC5801D9}"/>
              </a:ext>
            </a:extLst>
          </p:cNvPr>
          <p:cNvPicPr>
            <a:picLocks noChangeAspect="1"/>
          </p:cNvPicPr>
          <p:nvPr/>
        </p:nvPicPr>
        <p:blipFill>
          <a:blip r:embed="rId3"/>
          <a:stretch>
            <a:fillRect/>
          </a:stretch>
        </p:blipFill>
        <p:spPr>
          <a:xfrm>
            <a:off x="2812964" y="1415212"/>
            <a:ext cx="6020640" cy="4534533"/>
          </a:xfrm>
          <a:prstGeom prst="rect">
            <a:avLst/>
          </a:prstGeom>
        </p:spPr>
      </p:pic>
      <p:sp>
        <p:nvSpPr>
          <p:cNvPr id="5" name="TextBox 4">
            <a:extLst>
              <a:ext uri="{FF2B5EF4-FFF2-40B4-BE49-F238E27FC236}">
                <a16:creationId xmlns:a16="http://schemas.microsoft.com/office/drawing/2014/main" id="{40270292-C5A9-458D-C768-6BBEBAFFBB9E}"/>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E75DEE1-F60D-18F5-E418-D017AAAC345E}"/>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9/22</a:t>
            </a:r>
          </a:p>
        </p:txBody>
      </p:sp>
    </p:spTree>
    <p:extLst>
      <p:ext uri="{BB962C8B-B14F-4D97-AF65-F5344CB8AC3E}">
        <p14:creationId xmlns:p14="http://schemas.microsoft.com/office/powerpoint/2010/main" val="21882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565004" y="5349439"/>
            <a:ext cx="5397610" cy="584775"/>
          </a:xfrm>
          <a:prstGeom prst="rect">
            <a:avLst/>
          </a:prstGeom>
          <a:noFill/>
        </p:spPr>
        <p:txBody>
          <a:bodyPr wrap="square" rtlCol="0">
            <a:spAutoFit/>
          </a:bodyPr>
          <a:lstStyle/>
          <a:p>
            <a:endParaRPr lang="en-US" sz="3200" dirty="0">
              <a:latin typeface="Times New Roman" panose="02020603050405020304" pitchFamily="18" charset="0"/>
              <a:cs typeface="Times New Roman" panose="02020603050405020304" pitchFamily="18" charset="0"/>
            </a:endParaRPr>
          </a:p>
        </p:txBody>
      </p:sp>
      <p:sp>
        <p:nvSpPr>
          <p:cNvPr id="13" name="Rectangle 12"/>
          <p:cNvSpPr/>
          <p:nvPr/>
        </p:nvSpPr>
        <p:spPr>
          <a:xfrm>
            <a:off x="1887676" y="6006637"/>
            <a:ext cx="8641238" cy="461665"/>
          </a:xfrm>
          <a:prstGeom prst="rect">
            <a:avLst/>
          </a:prstGeom>
        </p:spPr>
        <p:txBody>
          <a:bodyPr wrap="square">
            <a:spAutoFit/>
          </a:bodyPr>
          <a:lstStyle/>
          <a:p>
            <a:r>
              <a:rPr lang="en-US" sz="2400" i="0" dirty="0">
                <a:solidFill>
                  <a:srgbClr val="1F1F1F"/>
                </a:solidFill>
                <a:effectLst/>
                <a:latin typeface="Times New Roman" panose="02020603050405020304" pitchFamily="18" charset="0"/>
                <a:cs typeface="Times New Roman" panose="02020603050405020304" pitchFamily="18" charset="0"/>
              </a:rPr>
              <a:t>			Ma </a:t>
            </a:r>
            <a:r>
              <a:rPr lang="en-US" sz="2400" i="0" dirty="0" err="1">
                <a:solidFill>
                  <a:srgbClr val="1F1F1F"/>
                </a:solidFill>
                <a:effectLst/>
                <a:latin typeface="Times New Roman" panose="02020603050405020304" pitchFamily="18" charset="0"/>
                <a:cs typeface="Times New Roman" panose="02020603050405020304" pitchFamily="18" charset="0"/>
              </a:rPr>
              <a:t>trận</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phân</a:t>
            </a:r>
            <a:r>
              <a:rPr lang="en-US" sz="2400" i="0" dirty="0">
                <a:solidFill>
                  <a:srgbClr val="1F1F1F"/>
                </a:solidFill>
                <a:effectLst/>
                <a:latin typeface="Times New Roman" panose="02020603050405020304" pitchFamily="18" charset="0"/>
                <a:cs typeface="Times New Roman" panose="02020603050405020304" pitchFamily="18" charset="0"/>
              </a:rPr>
              <a:t> </a:t>
            </a:r>
            <a:r>
              <a:rPr lang="en-US" sz="2400" i="0" dirty="0" err="1">
                <a:solidFill>
                  <a:srgbClr val="1F1F1F"/>
                </a:solidFill>
                <a:effectLst/>
                <a:latin typeface="Times New Roman" panose="02020603050405020304" pitchFamily="18" charset="0"/>
                <a:cs typeface="Times New Roman" panose="02020603050405020304" pitchFamily="18" charset="0"/>
              </a:rPr>
              <a:t>tán</a:t>
            </a:r>
            <a:endParaRPr lang="en-US"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7BF9B43-8257-C782-795F-7343141F29C5}"/>
              </a:ext>
            </a:extLst>
          </p:cNvPr>
          <p:cNvPicPr>
            <a:picLocks noChangeAspect="1"/>
          </p:cNvPicPr>
          <p:nvPr/>
        </p:nvPicPr>
        <p:blipFill>
          <a:blip r:embed="rId3"/>
          <a:stretch>
            <a:fillRect/>
          </a:stretch>
        </p:blipFill>
        <p:spPr>
          <a:xfrm>
            <a:off x="2002068" y="1255259"/>
            <a:ext cx="7478815" cy="4982210"/>
          </a:xfrm>
          <a:prstGeom prst="rect">
            <a:avLst/>
          </a:prstGeom>
        </p:spPr>
      </p:pic>
      <p:sp>
        <p:nvSpPr>
          <p:cNvPr id="5" name="TextBox 4">
            <a:extLst>
              <a:ext uri="{FF2B5EF4-FFF2-40B4-BE49-F238E27FC236}">
                <a16:creationId xmlns:a16="http://schemas.microsoft.com/office/drawing/2014/main" id="{C4E7811D-3A97-B11A-C0FE-CA3678982728}"/>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A2E2650-7609-34B7-206B-6227327EAAB3}"/>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10/22</a:t>
            </a:r>
          </a:p>
        </p:txBody>
      </p:sp>
    </p:spTree>
    <p:extLst>
      <p:ext uri="{BB962C8B-B14F-4D97-AF65-F5344CB8AC3E}">
        <p14:creationId xmlns:p14="http://schemas.microsoft.com/office/powerpoint/2010/main" val="1634374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488396" y="4958125"/>
            <a:ext cx="2768151" cy="1200329"/>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Hai </a:t>
            </a:r>
            <a:r>
              <a:rPr lang="en-US" sz="2400" dirty="0" err="1">
                <a:latin typeface="Times New Roman" panose="02020603050405020304" pitchFamily="18" charset="0"/>
                <a:cs typeface="Times New Roman" panose="02020603050405020304" pitchFamily="18" charset="0"/>
              </a:rPr>
              <a:t>hộp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chênh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lớn</a:t>
            </a:r>
            <a:endParaRPr lang="en-US"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BC937C9-540A-B485-C57D-FA66DD9A4C2D}"/>
              </a:ext>
            </a:extLst>
          </p:cNvPr>
          <p:cNvPicPr>
            <a:picLocks noChangeAspect="1"/>
          </p:cNvPicPr>
          <p:nvPr/>
        </p:nvPicPr>
        <p:blipFill>
          <a:blip r:embed="rId3"/>
          <a:stretch>
            <a:fillRect/>
          </a:stretch>
        </p:blipFill>
        <p:spPr>
          <a:xfrm>
            <a:off x="0" y="1573896"/>
            <a:ext cx="12192000" cy="3193338"/>
          </a:xfrm>
          <a:prstGeom prst="rect">
            <a:avLst/>
          </a:prstGeom>
        </p:spPr>
      </p:pic>
      <p:sp>
        <p:nvSpPr>
          <p:cNvPr id="10" name="TextBox 9">
            <a:extLst>
              <a:ext uri="{FF2B5EF4-FFF2-40B4-BE49-F238E27FC236}">
                <a16:creationId xmlns:a16="http://schemas.microsoft.com/office/drawing/2014/main" id="{B2F04E8E-5E1A-E584-243A-08A23EC7F67A}"/>
              </a:ext>
            </a:extLst>
          </p:cNvPr>
          <p:cNvSpPr txBox="1"/>
          <p:nvPr/>
        </p:nvSpPr>
        <p:spPr>
          <a:xfrm>
            <a:off x="4956123" y="5008383"/>
            <a:ext cx="2768151" cy="1200329"/>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Nhóm</a:t>
            </a:r>
            <a:r>
              <a:rPr lang="en-US" sz="2400" dirty="0">
                <a:latin typeface="Times New Roman" panose="02020603050405020304" pitchFamily="18" charset="0"/>
                <a:cs typeface="Times New Roman" panose="02020603050405020304" pitchFamily="18" charset="0"/>
              </a:rPr>
              <a:t> bad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outliers</a:t>
            </a:r>
          </a:p>
        </p:txBody>
      </p:sp>
      <p:sp>
        <p:nvSpPr>
          <p:cNvPr id="13" name="TextBox 12">
            <a:extLst>
              <a:ext uri="{FF2B5EF4-FFF2-40B4-BE49-F238E27FC236}">
                <a16:creationId xmlns:a16="http://schemas.microsoft.com/office/drawing/2014/main" id="{1A63EEAA-6D8D-0A01-2088-73AA92F2973F}"/>
              </a:ext>
            </a:extLst>
          </p:cNvPr>
          <p:cNvSpPr txBox="1"/>
          <p:nvPr/>
        </p:nvSpPr>
        <p:spPr>
          <a:xfrm>
            <a:off x="9118428" y="4958124"/>
            <a:ext cx="2768151" cy="1200329"/>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Hộp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Bad </a:t>
            </a:r>
            <a:r>
              <a:rPr lang="en-US" sz="2400" dirty="0" err="1">
                <a:latin typeface="Times New Roman" panose="02020603050405020304" pitchFamily="18" charset="0"/>
                <a:cs typeface="Times New Roman" panose="02020603050405020304" pitchFamily="18" charset="0"/>
              </a:rPr>
              <a:t>cao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so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Good</a:t>
            </a:r>
          </a:p>
        </p:txBody>
      </p:sp>
      <p:sp>
        <p:nvSpPr>
          <p:cNvPr id="16" name="TextBox 15">
            <a:extLst>
              <a:ext uri="{FF2B5EF4-FFF2-40B4-BE49-F238E27FC236}">
                <a16:creationId xmlns:a16="http://schemas.microsoft.com/office/drawing/2014/main" id="{322ED9BA-8C93-40FA-13B0-4E9D1FEE0B02}"/>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BC9CFC5E-82EC-E540-D923-2070CBBC2558}"/>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11/22</a:t>
            </a:r>
          </a:p>
        </p:txBody>
      </p:sp>
    </p:spTree>
    <p:extLst>
      <p:ext uri="{BB962C8B-B14F-4D97-AF65-F5344CB8AC3E}">
        <p14:creationId xmlns:p14="http://schemas.microsoft.com/office/powerpoint/2010/main" val="2335530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2" y="1340740"/>
            <a:ext cx="10281501" cy="2308324"/>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Decision Tree</a:t>
            </a:r>
          </a:p>
          <a:p>
            <a:r>
              <a:rPr lang="vi-VN" sz="2400" b="0" i="0" dirty="0">
                <a:solidFill>
                  <a:srgbClr val="1B1B1B"/>
                </a:solidFill>
                <a:effectLst/>
                <a:latin typeface="+mj-lt"/>
              </a:rPr>
              <a:t>Cây quyết định là một trong những thuật toán máy học phổ biến nhất hiện nay. Nó được dùng trong cả bài toán phân lớp và hồi quy</a:t>
            </a:r>
            <a:endParaRPr lang="en-US" sz="2400" dirty="0" err="1">
              <a:latin typeface="+mj-lt"/>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Cây quyết định giúp chúng ta đưa ra quyết định bằng cách vạch ra các lựa chọn khác nhau và kết quả có thể xảy ra của chúng. Nó được sử dụng trong máy học cho các tác vụ như phân loại và dự đoán.</a:t>
            </a:r>
            <a:endParaRPr lang="en-US" sz="2400" dirty="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B6D3326B-EC71-CD73-E27F-1EB80A331716}"/>
              </a:ext>
            </a:extLst>
          </p:cNvPr>
          <p:cNvPicPr>
            <a:picLocks noChangeAspect="1"/>
          </p:cNvPicPr>
          <p:nvPr/>
        </p:nvPicPr>
        <p:blipFill>
          <a:blip r:embed="rId2"/>
          <a:stretch>
            <a:fillRect/>
          </a:stretch>
        </p:blipFill>
        <p:spPr>
          <a:xfrm>
            <a:off x="1687561" y="3779692"/>
            <a:ext cx="8496361" cy="2695951"/>
          </a:xfrm>
          <a:prstGeom prst="rect">
            <a:avLst/>
          </a:prstGeom>
        </p:spPr>
      </p:pic>
      <p:sp>
        <p:nvSpPr>
          <p:cNvPr id="11" name="TextBox 10">
            <a:extLst>
              <a:ext uri="{FF2B5EF4-FFF2-40B4-BE49-F238E27FC236}">
                <a16:creationId xmlns:a16="http://schemas.microsoft.com/office/drawing/2014/main" id="{DEF2A6C5-9336-F91E-25D8-434B0EDFF25C}"/>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59EA665-D709-B214-970E-55FBB9C464BC}"/>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12/22</a:t>
            </a:r>
          </a:p>
        </p:txBody>
      </p:sp>
    </p:spTree>
    <p:extLst>
      <p:ext uri="{BB962C8B-B14F-4D97-AF65-F5344CB8AC3E}">
        <p14:creationId xmlns:p14="http://schemas.microsoft.com/office/powerpoint/2010/main" val="4222397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1" y="1109269"/>
            <a:ext cx="10281501" cy="1569660"/>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Random Forest</a:t>
            </a:r>
          </a:p>
          <a:p>
            <a:endParaRPr lang="en-US" sz="2400" dirty="0" err="1">
              <a:latin typeface="Times New Roman" panose="02020603050405020304" pitchFamily="18" charset="0"/>
              <a:cs typeface="Times New Roman" panose="02020603050405020304" pitchFamily="18" charset="0"/>
            </a:endParaRPr>
          </a:p>
          <a:p>
            <a:r>
              <a:rPr lang="en-US" sz="2400" b="0" i="0" dirty="0">
                <a:effectLst/>
                <a:latin typeface="Times New Roman" panose="02020603050405020304" pitchFamily="18" charset="0"/>
                <a:cs typeface="Times New Roman" panose="02020603050405020304" pitchFamily="18" charset="0"/>
              </a:rPr>
              <a:t>R</a:t>
            </a:r>
            <a:r>
              <a:rPr lang="vi-VN" sz="2400" b="0" i="0" dirty="0">
                <a:effectLst/>
                <a:latin typeface="Times New Roman" panose="02020603050405020304" pitchFamily="18" charset="0"/>
                <a:cs typeface="Times New Roman" panose="02020603050405020304" pitchFamily="18" charset="0"/>
              </a:rPr>
              <a:t>andom Forest là một thuật toán máy học sử dụng nhiều cây quyết định để đưa ra dự đoán tốt hơn. Điều này giúp cải thiện độ chính xác và giảm lỗi.</a:t>
            </a:r>
            <a:endParaRPr lang="en-US" sz="2400" dirty="0">
              <a:latin typeface="Times New Roman" panose="02020603050405020304" pitchFamily="18" charset="0"/>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35FD00D4-BF1C-3F92-5BDC-AF6D7F0D29D1}"/>
              </a:ext>
            </a:extLst>
          </p:cNvPr>
          <p:cNvPicPr>
            <a:picLocks noChangeAspect="1"/>
          </p:cNvPicPr>
          <p:nvPr/>
        </p:nvPicPr>
        <p:blipFill>
          <a:blip r:embed="rId3"/>
          <a:stretch>
            <a:fillRect/>
          </a:stretch>
        </p:blipFill>
        <p:spPr>
          <a:xfrm>
            <a:off x="2452497" y="3022017"/>
            <a:ext cx="7287005" cy="3502876"/>
          </a:xfrm>
          <a:prstGeom prst="rect">
            <a:avLst/>
          </a:prstGeom>
        </p:spPr>
      </p:pic>
      <p:sp>
        <p:nvSpPr>
          <p:cNvPr id="11" name="TextBox 10">
            <a:extLst>
              <a:ext uri="{FF2B5EF4-FFF2-40B4-BE49-F238E27FC236}">
                <a16:creationId xmlns:a16="http://schemas.microsoft.com/office/drawing/2014/main" id="{76A5D392-633A-186F-626D-0277272AB00E}"/>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D2323A70-0A0E-449A-3CAB-1F3136F4DCCF}"/>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13/22</a:t>
            </a:r>
          </a:p>
        </p:txBody>
      </p:sp>
    </p:spTree>
    <p:extLst>
      <p:ext uri="{BB962C8B-B14F-4D97-AF65-F5344CB8AC3E}">
        <p14:creationId xmlns:p14="http://schemas.microsoft.com/office/powerpoint/2010/main" val="622675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794992" y="1340740"/>
            <a:ext cx="10281501" cy="2308324"/>
          </a:xfrm>
          <a:prstGeom prst="rect">
            <a:avLst/>
          </a:prstGeom>
        </p:spPr>
        <p:txBody>
          <a:bodyPr wrap="square">
            <a:spAutoFit/>
          </a:bodyPr>
          <a:lstStyle/>
          <a:p>
            <a:r>
              <a:rPr lang="en-US" sz="2400" b="1" dirty="0" err="1">
                <a:latin typeface="Times New Roman" panose="02020603050405020304" pitchFamily="18" charset="0"/>
                <a:cs typeface="Times New Roman" panose="02020603050405020304" pitchFamily="18" charset="0"/>
              </a:rPr>
              <a:t>XGBoost</a:t>
            </a:r>
            <a:endParaRPr lang="en-US" sz="2400" b="1" dirty="0">
              <a:latin typeface="Times New Roman" panose="02020603050405020304" pitchFamily="18" charset="0"/>
              <a:cs typeface="Times New Roman" panose="02020603050405020304" pitchFamily="18" charset="0"/>
            </a:endParaRPr>
          </a:p>
          <a:p>
            <a:endParaRPr lang="en-US" sz="2400" dirty="0" err="1">
              <a:latin typeface="Times New Roman" panose="02020603050405020304" pitchFamily="18" charset="0"/>
              <a:cs typeface="Times New Roman" panose="02020603050405020304" pitchFamily="18" charset="0"/>
            </a:endParaRPr>
          </a:p>
          <a:p>
            <a:r>
              <a:rPr lang="vi-VN" sz="2400" b="0" i="0" dirty="0">
                <a:effectLst/>
                <a:latin typeface="+mj-lt"/>
              </a:rPr>
              <a:t>XGBoost là một phần mở rộng của thuật toán Gradient Boosting Decision Tree (GBDT), nhưng có nhiều cải tiến về hiệu năng và khả năng xử lý dữ liệu lớn.</a:t>
            </a:r>
            <a:endParaRPr lang="en-US" sz="2400" b="0" i="0" dirty="0">
              <a:effectLst/>
              <a:latin typeface="+mj-lt"/>
            </a:endParaRPr>
          </a:p>
          <a:p>
            <a:r>
              <a:rPr lang="vi-VN" sz="2400" b="0" i="0" dirty="0">
                <a:effectLst/>
                <a:latin typeface="+mj-lt"/>
              </a:rPr>
              <a:t>XGBoost nổi bật với tính năng tối ưu hóa hiệu suất tính toán, giảm thiểu overfitting (quá khớp dữ liệu), và khả năng thực hiện tính toán song song.</a:t>
            </a:r>
            <a:endParaRPr lang="en-US" sz="2400" dirty="0">
              <a:latin typeface="+mj-lt"/>
              <a:cs typeface="Times New Roman" panose="02020603050405020304" pitchFamily="18" charset="0"/>
            </a:endParaRPr>
          </a:p>
        </p:txBody>
      </p:sp>
      <p:sp>
        <p:nvSpPr>
          <p:cNvPr id="6"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id="{A6FCE30F-3792-BE79-3E91-D0BBF258A9C6}"/>
              </a:ext>
            </a:extLst>
          </p:cNvPr>
          <p:cNvPicPr>
            <a:picLocks noChangeAspect="1"/>
          </p:cNvPicPr>
          <p:nvPr/>
        </p:nvPicPr>
        <p:blipFill>
          <a:blip r:embed="rId3"/>
          <a:stretch>
            <a:fillRect/>
          </a:stretch>
        </p:blipFill>
        <p:spPr>
          <a:xfrm>
            <a:off x="1860885" y="3880532"/>
            <a:ext cx="7668126" cy="2676899"/>
          </a:xfrm>
          <a:prstGeom prst="rect">
            <a:avLst/>
          </a:prstGeom>
        </p:spPr>
      </p:pic>
      <p:sp>
        <p:nvSpPr>
          <p:cNvPr id="13" name="TextBox 12">
            <a:extLst>
              <a:ext uri="{FF2B5EF4-FFF2-40B4-BE49-F238E27FC236}">
                <a16:creationId xmlns:a16="http://schemas.microsoft.com/office/drawing/2014/main" id="{DF44D32D-2817-92B4-14FE-0B147EBA4F61}"/>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III.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học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máy</a:t>
            </a:r>
            <a:r>
              <a:rPr lang="en-US" sz="3600" dirty="0">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40068E3A-0F17-3134-AEF2-B750CD2E4D08}"/>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14/22</a:t>
            </a:r>
          </a:p>
        </p:txBody>
      </p:sp>
    </p:spTree>
    <p:extLst>
      <p:ext uri="{BB962C8B-B14F-4D97-AF65-F5344CB8AC3E}">
        <p14:creationId xmlns:p14="http://schemas.microsoft.com/office/powerpoint/2010/main" val="3130179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5950712" y="2362153"/>
            <a:ext cx="5406189" cy="2677656"/>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Dataset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bố</a:t>
            </a:r>
            <a:r>
              <a:rPr lang="en-US" sz="2400" dirty="0">
                <a:latin typeface="Times New Roman" panose="02020603050405020304" pitchFamily="18" charset="0"/>
                <a:cs typeface="Times New Roman" panose="02020603050405020304" pitchFamily="18" charset="0"/>
              </a:rPr>
              <a:t> 70% Good – 30% Bad</a:t>
            </a:r>
          </a:p>
          <a:p>
            <a:pPr marR="0" lvl="0" algn="l" defTabSz="914400" rtl="0" eaLnBrk="0" fontAlgn="base" latinLnBrk="0" hangingPunct="0">
              <a:lnSpc>
                <a:spcPct val="100000"/>
              </a:lnSpc>
              <a:spcBef>
                <a:spcPct val="0"/>
              </a:spcBef>
              <a:spcAft>
                <a:spcPct val="0"/>
              </a:spcAft>
              <a:buClrTx/>
              <a:buSzTx/>
              <a:tabLst/>
            </a:pPr>
            <a:r>
              <a:rPr lang="vi-VN" sz="2400" dirty="0">
                <a:latin typeface="Times New Roman" panose="02020603050405020304" pitchFamily="18" charset="0"/>
                <a:cs typeface="Times New Roman" panose="02020603050405020304" pitchFamily="18" charset="0"/>
              </a:rPr>
              <a:t>Dữ liệu mất cân bằng nhẹ</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vi-VN" sz="2400" dirty="0">
                <a:latin typeface="Times New Roman" panose="02020603050405020304" pitchFamily="18" charset="0"/>
                <a:cs typeface="Times New Roman" panose="02020603050405020304" pitchFamily="18" charset="0"/>
              </a:rPr>
              <a:t>Accuracy không phản ánh đầy đủ hiệu năng</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r>
              <a:rPr lang="vi-VN" sz="2400" dirty="0">
                <a:latin typeface="Times New Roman" panose="02020603050405020304" pitchFamily="18" charset="0"/>
                <a:cs typeface="Times New Roman" panose="02020603050405020304" pitchFamily="18" charset="0"/>
              </a:rPr>
              <a:t>Cần sử dụng nhiều metric, ưu tiên ROC–AUC</a:t>
            </a:r>
          </a:p>
        </p:txBody>
      </p:sp>
      <p:pic>
        <p:nvPicPr>
          <p:cNvPr id="3" name="Picture 2">
            <a:extLst>
              <a:ext uri="{FF2B5EF4-FFF2-40B4-BE49-F238E27FC236}">
                <a16:creationId xmlns:a16="http://schemas.microsoft.com/office/drawing/2014/main" id="{FF06B0A5-426B-B47D-8C91-6F47FFC4EED9}"/>
              </a:ext>
            </a:extLst>
          </p:cNvPr>
          <p:cNvPicPr>
            <a:picLocks noChangeAspect="1"/>
          </p:cNvPicPr>
          <p:nvPr/>
        </p:nvPicPr>
        <p:blipFill>
          <a:blip r:embed="rId2"/>
          <a:stretch>
            <a:fillRect/>
          </a:stretch>
        </p:blipFill>
        <p:spPr>
          <a:xfrm>
            <a:off x="716603" y="1638420"/>
            <a:ext cx="4111418" cy="4125122"/>
          </a:xfrm>
          <a:prstGeom prst="rect">
            <a:avLst/>
          </a:prstGeom>
        </p:spPr>
      </p:pic>
      <p:sp>
        <p:nvSpPr>
          <p:cNvPr id="4" name="TextBox 3">
            <a:extLst>
              <a:ext uri="{FF2B5EF4-FFF2-40B4-BE49-F238E27FC236}">
                <a16:creationId xmlns:a16="http://schemas.microsoft.com/office/drawing/2014/main" id="{427D17A8-1A72-DE5D-A89C-38E789027985}"/>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E1CAD91-17A9-88E0-6701-558F0381A0D9}"/>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15/22</a:t>
            </a:r>
          </a:p>
        </p:txBody>
      </p:sp>
    </p:spTree>
    <p:extLst>
      <p:ext uri="{BB962C8B-B14F-4D97-AF65-F5344CB8AC3E}">
        <p14:creationId xmlns:p14="http://schemas.microsoft.com/office/powerpoint/2010/main" val="557075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EB3AEBFF-80AE-846F-D65F-C360988A6E11}"/>
              </a:ext>
            </a:extLst>
          </p:cNvPr>
          <p:cNvPicPr>
            <a:picLocks noChangeAspect="1"/>
          </p:cNvPicPr>
          <p:nvPr/>
        </p:nvPicPr>
        <p:blipFill>
          <a:blip r:embed="rId3"/>
          <a:stretch>
            <a:fillRect/>
          </a:stretch>
        </p:blipFill>
        <p:spPr>
          <a:xfrm>
            <a:off x="1188842" y="1171849"/>
            <a:ext cx="9994231" cy="4639255"/>
          </a:xfrm>
          <a:prstGeom prst="rect">
            <a:avLst/>
          </a:prstGeom>
        </p:spPr>
      </p:pic>
      <p:sp>
        <p:nvSpPr>
          <p:cNvPr id="15" name="TextBox 14">
            <a:extLst>
              <a:ext uri="{FF2B5EF4-FFF2-40B4-BE49-F238E27FC236}">
                <a16:creationId xmlns:a16="http://schemas.microsoft.com/office/drawing/2014/main" id="{A5D17433-2C37-5E2C-50D9-8B6C54ADB454}"/>
              </a:ext>
            </a:extLst>
          </p:cNvPr>
          <p:cNvSpPr txBox="1"/>
          <p:nvPr/>
        </p:nvSpPr>
        <p:spPr>
          <a:xfrm>
            <a:off x="374924" y="231470"/>
            <a:ext cx="7107810" cy="1200329"/>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II. </a:t>
            </a:r>
            <a:r>
              <a:rPr lang="en-US" sz="3600" dirty="0" err="1">
                <a:latin typeface="Times New Roman" panose="02020603050405020304" pitchFamily="18" charset="0"/>
                <a:cs typeface="Times New Roman" panose="02020603050405020304" pitchFamily="18" charset="0"/>
              </a:rPr>
              <a:t>Phân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tích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dữ</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liệu</a:t>
            </a:r>
            <a:endParaRPr lang="en-US" sz="3600" dirty="0">
              <a:latin typeface="Times New Roman" panose="02020603050405020304" pitchFamily="18" charset="0"/>
              <a:cs typeface="Times New Roman" panose="02020603050405020304" pitchFamily="18" charset="0"/>
            </a:endParaRPr>
          </a:p>
          <a:p>
            <a:endParaRPr lang="en-US" sz="3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A500E7E-F083-B3F9-D9ED-A3593820E3AD}"/>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16/22</a:t>
            </a:r>
          </a:p>
        </p:txBody>
      </p:sp>
    </p:spTree>
    <p:extLst>
      <p:ext uri="{BB962C8B-B14F-4D97-AF65-F5344CB8AC3E}">
        <p14:creationId xmlns:p14="http://schemas.microsoft.com/office/powerpoint/2010/main" val="159234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882315" y="1732547"/>
            <a:ext cx="5406189" cy="4062651"/>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vi-VN" sz="2400" b="1" dirty="0">
                <a:latin typeface="+mj-lt"/>
              </a:rPr>
              <a:t>Các metric được sử dụng</a:t>
            </a:r>
            <a:r>
              <a:rPr lang="en-US" sz="2400" b="1" dirty="0">
                <a:latin typeface="+mj-lt"/>
              </a:rPr>
              <a: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vi-VN" altLang="vi-VN" sz="2400" b="1" i="0" u="none" strike="noStrike" cap="none" normalizeH="0" baseline="0" dirty="0">
                <a:ln>
                  <a:noFill/>
                </a:ln>
                <a:solidFill>
                  <a:schemeClr val="tx1"/>
                </a:solidFill>
                <a:effectLst/>
                <a:latin typeface="+mj-lt"/>
              </a:rPr>
              <a:t>Accuracy</a:t>
            </a:r>
            <a:r>
              <a:rPr kumimoji="0" lang="vi-VN" altLang="vi-VN" sz="2400" b="0" i="0" u="none" strike="noStrike" cap="none" normalizeH="0" baseline="0" dirty="0">
                <a:ln>
                  <a:noFill/>
                </a:ln>
                <a:solidFill>
                  <a:schemeClr val="tx1"/>
                </a:solidFill>
                <a:effectLst/>
                <a:latin typeface="+mj-lt"/>
              </a:rPr>
              <a:t>: tỷ lệ dự đoán đúng tổng thể</a:t>
            </a:r>
          </a:p>
          <a:p>
            <a:pPr eaLnBrk="0" fontAlgn="base" hangingPunct="0">
              <a:spcBef>
                <a:spcPct val="0"/>
              </a:spcBef>
              <a:spcAft>
                <a:spcPct val="0"/>
              </a:spcAft>
              <a:buFontTx/>
              <a:buChar char="•"/>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Precision</a:t>
            </a:r>
            <a:r>
              <a:rPr kumimoji="0" lang="vi-VN" altLang="vi-VN" sz="2400" b="0" i="0" u="none" strike="noStrike" cap="none" normalizeH="0" baseline="0" dirty="0">
                <a:ln>
                  <a:noFill/>
                </a:ln>
                <a:solidFill>
                  <a:schemeClr val="tx1"/>
                </a:solidFill>
                <a:effectLst/>
                <a:latin typeface="+mj-lt"/>
              </a:rPr>
              <a:t>: độ chính xác khi dự đoán Bad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Recall</a:t>
            </a:r>
            <a:r>
              <a:rPr kumimoji="0" lang="vi-VN" altLang="vi-VN" sz="2400" b="0" i="0" u="none" strike="noStrike" cap="none" normalizeH="0" baseline="0" dirty="0">
                <a:ln>
                  <a:noFill/>
                </a:ln>
                <a:solidFill>
                  <a:schemeClr val="tx1"/>
                </a:solidFill>
                <a:effectLst/>
                <a:latin typeface="+mj-lt"/>
              </a:rPr>
              <a:t>: khả năng phát hiện khách hàng Bad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F1-score</a:t>
            </a:r>
            <a:r>
              <a:rPr kumimoji="0" lang="vi-VN" altLang="vi-VN" sz="2400" b="0" i="0" u="none" strike="noStrike" cap="none" normalizeH="0" baseline="0" dirty="0">
                <a:ln>
                  <a:noFill/>
                </a:ln>
                <a:solidFill>
                  <a:schemeClr val="tx1"/>
                </a:solidFill>
                <a:effectLst/>
                <a:latin typeface="+mj-lt"/>
              </a:rPr>
              <a:t>: cân bằng giữa Precision và Recall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vi-VN" sz="2400" b="1" i="0" u="none" strike="noStrike" cap="none" normalizeH="0" baseline="0" dirty="0">
                <a:ln>
                  <a:noFill/>
                </a:ln>
                <a:solidFill>
                  <a:schemeClr val="tx1"/>
                </a:solidFill>
                <a:effectLst/>
                <a:latin typeface="+mj-lt"/>
              </a:rPr>
              <a:t>   </a:t>
            </a:r>
            <a:r>
              <a:rPr kumimoji="0" lang="vi-VN" altLang="vi-VN" sz="2400" b="1" i="0" u="none" strike="noStrike" cap="none" normalizeH="0" baseline="0" dirty="0">
                <a:ln>
                  <a:noFill/>
                </a:ln>
                <a:solidFill>
                  <a:schemeClr val="tx1"/>
                </a:solidFill>
                <a:effectLst/>
                <a:latin typeface="+mj-lt"/>
              </a:rPr>
              <a:t>ROC–AUC</a:t>
            </a:r>
            <a:r>
              <a:rPr kumimoji="0" lang="vi-VN" altLang="vi-VN" sz="2400" b="0" i="0" u="none" strike="noStrike" cap="none" normalizeH="0" baseline="0" dirty="0">
                <a:ln>
                  <a:noFill/>
                </a:ln>
                <a:solidFill>
                  <a:schemeClr val="tx1"/>
                </a:solidFill>
                <a:effectLst/>
                <a:latin typeface="+mj-lt"/>
              </a:rPr>
              <a:t>: khả năng phân biệt hai lớp</a:t>
            </a:r>
          </a:p>
          <a:p>
            <a:endParaRPr lang="vi-VN" dirty="0"/>
          </a:p>
        </p:txBody>
      </p:sp>
      <p:sp>
        <p:nvSpPr>
          <p:cNvPr id="4" name="TextBox 3">
            <a:extLst>
              <a:ext uri="{FF2B5EF4-FFF2-40B4-BE49-F238E27FC236}">
                <a16:creationId xmlns:a16="http://schemas.microsoft.com/office/drawing/2014/main" id="{2FFB17B3-889D-38A3-32E4-B8EC0EEF15CA}"/>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D0291D-D495-A437-D9FD-8A89EF9C5F6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17/22</a:t>
            </a:r>
          </a:p>
        </p:txBody>
      </p:sp>
    </p:spTree>
    <p:extLst>
      <p:ext uri="{BB962C8B-B14F-4D97-AF65-F5344CB8AC3E}">
        <p14:creationId xmlns:p14="http://schemas.microsoft.com/office/powerpoint/2010/main" val="686047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460375" y="1340741"/>
            <a:ext cx="7186863" cy="4801314"/>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en-US" sz="2400" b="1" dirty="0">
                <a:latin typeface="Times New Roman" panose="02020603050405020304" pitchFamily="18" charset="0"/>
                <a:cs typeface="Times New Roman" panose="02020603050405020304" pitchFamily="18" charset="0"/>
              </a:rPr>
              <a:t>ROC-AUC</a:t>
            </a:r>
          </a:p>
          <a:p>
            <a:pPr marR="0" lvl="0" algn="l" defTabSz="914400" rtl="0" eaLnBrk="0" fontAlgn="base" latinLnBrk="0" hangingPunct="0">
              <a:lnSpc>
                <a:spcPct val="10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L</a:t>
            </a:r>
            <a:r>
              <a:rPr lang="vi-VN" sz="2400" dirty="0">
                <a:latin typeface="Times New Roman" panose="02020603050405020304" pitchFamily="18" charset="0"/>
                <a:cs typeface="Times New Roman" panose="02020603050405020304" pitchFamily="18" charset="0"/>
              </a:rPr>
              <a:t>à thước đo đánh giá khả năng phân biệt giữa hai lớp Good và Bad của mô hình phân loại nhị phân.</a:t>
            </a:r>
            <a:endParaRPr lang="en-US" sz="2400" dirty="0">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vi-VN"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l" rtl="0" fontAlgn="base"/>
            <a:r>
              <a:rPr lang="vi-VN" sz="2400" b="0" i="0" dirty="0">
                <a:effectLst/>
                <a:latin typeface="+mj-lt"/>
                <a:cs typeface="Nunito" pitchFamily="2" charset="-93"/>
              </a:rPr>
              <a:t>Hiệu suất mô hình với AUC-ROC:</a:t>
            </a:r>
          </a:p>
          <a:p>
            <a:pPr algn="l" fontAlgn="base">
              <a:buFont typeface="Arial" panose="020B0604020202020204" pitchFamily="34" charset="0"/>
              <a:buChar char="•"/>
            </a:pPr>
            <a:r>
              <a:rPr lang="vi-VN" sz="2400" b="1" i="0" dirty="0">
                <a:effectLst/>
                <a:latin typeface="+mj-lt"/>
                <a:cs typeface="Nunito" pitchFamily="2" charset="-93"/>
              </a:rPr>
              <a:t>AUC cao (gần 1):</a:t>
            </a:r>
            <a:r>
              <a:rPr lang="vi-VN" sz="2400" b="0" i="0" dirty="0">
                <a:effectLst/>
                <a:latin typeface="+mj-lt"/>
                <a:cs typeface="Nunito" pitchFamily="2" charset="-93"/>
              </a:rPr>
              <a:t> Mô hình phân biệt hiệu quả giữa các trường hợp tích cực và tiêu cực.</a:t>
            </a:r>
          </a:p>
          <a:p>
            <a:pPr algn="l" fontAlgn="base">
              <a:buFont typeface="Arial" panose="020B0604020202020204" pitchFamily="34" charset="0"/>
              <a:buChar char="•"/>
            </a:pPr>
            <a:r>
              <a:rPr lang="vi-VN" sz="2400" b="1" i="0" dirty="0">
                <a:effectLst/>
                <a:latin typeface="+mj-lt"/>
                <a:cs typeface="Nunito" pitchFamily="2" charset="-93"/>
              </a:rPr>
              <a:t>AUC thấp (gần 0):</a:t>
            </a:r>
            <a:r>
              <a:rPr lang="vi-VN" sz="2400" b="0" i="0" dirty="0">
                <a:effectLst/>
                <a:latin typeface="+mj-lt"/>
                <a:cs typeface="Nunito" pitchFamily="2" charset="-93"/>
              </a:rPr>
              <a:t> Mô hình gặp khó khăn trong việc phân biệt giữa hai lớp.</a:t>
            </a:r>
          </a:p>
          <a:p>
            <a:pPr algn="l" fontAlgn="base">
              <a:buFont typeface="Arial" panose="020B0604020202020204" pitchFamily="34" charset="0"/>
              <a:buChar char="•"/>
            </a:pPr>
            <a:r>
              <a:rPr lang="vi-VN" sz="2400" b="1" i="0" dirty="0">
                <a:effectLst/>
                <a:latin typeface="+mj-lt"/>
                <a:cs typeface="Nunito" pitchFamily="2" charset="-93"/>
              </a:rPr>
              <a:t>AUC khoảng 0,5</a:t>
            </a:r>
            <a:r>
              <a:rPr lang="vi-VN" sz="2400" b="0" i="0" dirty="0">
                <a:effectLst/>
                <a:latin typeface="+mj-lt"/>
                <a:cs typeface="Nunito" pitchFamily="2" charset="-93"/>
              </a:rPr>
              <a:t>: Mô hình không học bất kỳ mẫu có ý nghĩa nào, tức là nó đang thực hiệ</a:t>
            </a:r>
            <a:r>
              <a:rPr lang="en-US" sz="2400" b="0" i="0" dirty="0">
                <a:effectLst/>
                <a:latin typeface="+mj-lt"/>
                <a:cs typeface="Nunito" pitchFamily="2" charset="-93"/>
              </a:rPr>
              <a:t>	</a:t>
            </a:r>
            <a:r>
              <a:rPr lang="vi-VN" sz="2400" b="0" i="0" dirty="0">
                <a:effectLst/>
                <a:latin typeface="+mj-lt"/>
                <a:cs typeface="Nunito" pitchFamily="2" charset="-93"/>
              </a:rPr>
              <a:t>n đoán ngẫu nhiên.</a:t>
            </a:r>
          </a:p>
          <a:p>
            <a:pPr marR="0" lvl="0" algn="l" defTabSz="914400" rtl="0" eaLnBrk="0" fontAlgn="base" latinLnBrk="0" hangingPunct="0">
              <a:lnSpc>
                <a:spcPct val="100000"/>
              </a:lnSpc>
              <a:spcBef>
                <a:spcPct val="0"/>
              </a:spcBef>
              <a:spcAft>
                <a:spcPct val="0"/>
              </a:spcAft>
              <a:buClrTx/>
              <a:buSzTx/>
              <a:tabLst/>
            </a:pPr>
            <a:endParaRPr kumimoji="0" lang="vi-VN" altLang="vi-VN" sz="2400" i="0" u="none" strike="noStrike" cap="none" normalizeH="0" baseline="0" dirty="0">
              <a:ln>
                <a:noFill/>
              </a:ln>
              <a:effectLst/>
              <a:latin typeface="+mj-lt"/>
              <a:cs typeface="Times New Roman" panose="02020603050405020304" pitchFamily="18" charset="0"/>
            </a:endParaRPr>
          </a:p>
          <a:p>
            <a:endParaRPr lang="vi-V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92EC39-9441-67A6-96B0-601FE5985BA5}"/>
              </a:ext>
            </a:extLst>
          </p:cNvPr>
          <p:cNvPicPr>
            <a:picLocks noChangeAspect="1"/>
          </p:cNvPicPr>
          <p:nvPr/>
        </p:nvPicPr>
        <p:blipFill>
          <a:blip r:embed="rId2"/>
          <a:stretch>
            <a:fillRect/>
          </a:stretch>
        </p:blipFill>
        <p:spPr>
          <a:xfrm>
            <a:off x="7317395" y="1779292"/>
            <a:ext cx="4582522" cy="3299416"/>
          </a:xfrm>
          <a:prstGeom prst="rect">
            <a:avLst/>
          </a:prstGeom>
        </p:spPr>
      </p:pic>
      <p:sp>
        <p:nvSpPr>
          <p:cNvPr id="5" name="TextBox 4">
            <a:extLst>
              <a:ext uri="{FF2B5EF4-FFF2-40B4-BE49-F238E27FC236}">
                <a16:creationId xmlns:a16="http://schemas.microsoft.com/office/drawing/2014/main" id="{045DBDD1-989D-844C-CB9E-CA5EAA7198BE}"/>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258EB9D-AB19-3A8B-E4BF-3D6C8464EBE5}"/>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18/22</a:t>
            </a:r>
          </a:p>
        </p:txBody>
      </p:sp>
    </p:spTree>
    <p:extLst>
      <p:ext uri="{BB962C8B-B14F-4D97-AF65-F5344CB8AC3E}">
        <p14:creationId xmlns:p14="http://schemas.microsoft.com/office/powerpoint/2010/main" val="3503840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7C3F31-1D9A-146B-EDCB-1D6426D5F9AD}"/>
              </a:ext>
            </a:extLst>
          </p:cNvPr>
          <p:cNvPicPr>
            <a:picLocks noChangeAspect="1"/>
          </p:cNvPicPr>
          <p:nvPr/>
        </p:nvPicPr>
        <p:blipFill>
          <a:blip r:embed="rId2"/>
          <a:stretch>
            <a:fillRect/>
          </a:stretch>
        </p:blipFill>
        <p:spPr>
          <a:xfrm>
            <a:off x="292084" y="1193410"/>
            <a:ext cx="7020356" cy="5961369"/>
          </a:xfrm>
          <a:prstGeom prst="rect">
            <a:avLst/>
          </a:prstGeom>
        </p:spPr>
      </p:pic>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extBox 1">
            <a:extLst>
              <a:ext uri="{FF2B5EF4-FFF2-40B4-BE49-F238E27FC236}">
                <a16:creationId xmlns:a16="http://schemas.microsoft.com/office/drawing/2014/main" id="{73B15D5E-4FC3-287E-7084-A9C2DFAC4E70}"/>
              </a:ext>
            </a:extLst>
          </p:cNvPr>
          <p:cNvSpPr txBox="1"/>
          <p:nvPr/>
        </p:nvSpPr>
        <p:spPr>
          <a:xfrm>
            <a:off x="7272594" y="1854321"/>
            <a:ext cx="4919406" cy="1846659"/>
          </a:xfrm>
          <a:prstGeom prst="rect">
            <a:avLst/>
          </a:prstGeom>
          <a:noFill/>
        </p:spPr>
        <p:txBody>
          <a:bodyPr wrap="square" rtlCol="0">
            <a:spAutoFit/>
          </a:bodyPr>
          <a:lstStyle/>
          <a:p>
            <a:r>
              <a:rPr lang="vi-VN" sz="2400" dirty="0">
                <a:latin typeface="+mj-lt"/>
              </a:rPr>
              <a:t>Random Forest có khả năng phân biệt khách hàng rủi ro tốt nhất trong các mô hình thử nghiệm.</a:t>
            </a:r>
            <a:endParaRPr lang="en-US" sz="2400" dirty="0">
              <a:latin typeface="+mj-lt"/>
            </a:endParaRPr>
          </a:p>
          <a:p>
            <a:endParaRPr lang="en-US" sz="2400" dirty="0">
              <a:latin typeface="+mj-lt"/>
            </a:endParaRPr>
          </a:p>
          <a:p>
            <a:endParaRPr lang="vi-V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BAFC31F-B5A7-94B6-1AF1-D7107E04B026}"/>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76F5A1A-4EFA-F8BF-ACC0-76790FFD139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19/22</a:t>
            </a:r>
          </a:p>
        </p:txBody>
      </p:sp>
    </p:spTree>
    <p:extLst>
      <p:ext uri="{BB962C8B-B14F-4D97-AF65-F5344CB8AC3E}">
        <p14:creationId xmlns:p14="http://schemas.microsoft.com/office/powerpoint/2010/main" val="2612598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utoShape 2" descr="data:image/png;base64,iVBORw0KGgoAAAANSUhEUgAAAwoAAAJ8CAYAAABeNFZJAAAQAElEQVR4AeydBXwc57X2n5nZXTHZlpmZOabEiePEYYfahpOGmrYppsxN6bu97S3cW0ibpm24YU4cQxIzM5Nsy4wyiLUw33lmd6TVWpIlW7CSzv727My88+L/nZ0556Uxbf0oASWgBJSAElACSkAJKAEloARiCJjQjxJQAi2MgBZHCSgBJaAElIASUAIXTkANhQtnqDEoASWgBJSAEmhYAhq7ElACSqAJCKih0ATQNUkloASUgBJQAkpACSiB1k2gOZReDYXmUEuaRyWgBJSAElACSkAJKAEl0MgE1FBoZOCaXHMnoPlXAkpACSgBJaAElEDrIKCGQuuoZy2lElACSkAJVEdA3ZWAElACSqBKAmooVIlFHZWAElACSkAJKAEloASaKwHNd/0QUEOhfjhqLEpACSgBJaAElIASUAJKoEURUEOhRVVncy+M5l8JKAEloASUgBJQAkogXgiooRAvNaH5UAJKQAm0RAJaJiWgBJSAEmi2BNRQaLZVpxlXAkpACSgBJaAElEDjE9AUWw8BNRRaT11rSZWAElACSkAJKAEloASUQK0JqKFQa1TN3aPmXwkoASWgBJSAElACSkAJ1J6AGgq1Z6U+lYASUALxRUBzowSUgBJQAkqgAQmoodCAcDVqJaAElIASUAJKQAnUhYD6VQLxREANhXiqDc2LElACSkAJKAEloASUgBKIEwJqKNRLRTRtJKdPn8brr7+Ov/3tb3j33Xdx5MiRajNk2zbof//+/fD7/dX60xNKQAkoASWgBJSAElACrZuAGgrNvP537dqFBx98ED/84Q/xxBNP4Bvf+AZ+8pOfYNu2bVWWLDc3F1/84hfx8MMP44MPPgANhyo9qqMSaO0EtPxKQAkoASWgBFo5ATUUmvEFcPz4cXz729/G7t27HSPh17/+NU6ePImXX34ZM2bMQCAQqFQ6Hn/88cdO78OSJUtAo6GSBz1QAkpACSgBJdCCCWjRlIASqBsBNRTqxitufIdCIfzxj3/EmjVr8Nxzz+Gyyy5D165dUVBQ4AwtYo8ChxhFZ5iGwpw5c1BWVoasrCxkZ2fDMIxoL7qvBJSAElACSkAJKAEloAQcAs3AUHDyqT8xBDZt2oQPP/wQn/3sZ9GvXz9nCNHGjRtRWlrqKP/JyclITEysFIrnFi1a5Lh17NgRvXr1cvb1RwkoASWgBJSAElACSkAJxBJQQyGWSDM45ryC+fPno6ioCDfffDO8Xq/TS8AJzcx+p06dMGzYMNBY4LErO3bswN69ex1Dgr0PvXv3dk/pVgk0LgFNTQkoASWgBJSAEoh7AmooNHIVcfhPSUmJ0wNwIUlT0f/85z+Pbt26OYr/wYMH8dFHHzlRDhgwAGPGjHHcHYfID4cdcZc9DexNaNeuHQ9V4phAKADYocbPYCgIhJog3eiSstxBPxAkAzv6TOvYd+pA6qF1lFZL2RIIaBmUgBJoeQTUUGjkOt2+fTtmz57tzCU436QNw8CNN96Ir371q2jTpo0Tzdtvv41Tp045w43Ym8DhSM6JyA97IVxDgWEGDx4M02yd1U/l8/ThEI7sENleIcd2heAviQ+NNFAKHNwUxM5FAexdHUThCRt2I2SNbE7khrBrSRC7lwZx6kAIVFgjl1HDb6SMhSdtp+zMw44FAewU2b8uwqCJjZeGByAGmhgHx3JCyFkcwJ4VQZw+1Mh10BiF1DSUgBJQAkqgORBA69QUm6hqOIn4zTffxK9+9Svk5OSI4ida0XnmxTCM8h6DYDCIF1980Ympffv2mDBhgmMwOA6RH66QtGLFCueobdu2GDJkiLPfGn+ocJcWAHtXBbH2LT9WvxaW9e/6USRKajwwObQliFWv+rHmjYCIHzlLAigrPP/rJbZMbK1HTHTkcuZoCJtmhNNc/bofmz4MoOhUjMfYyOrpmHk6KgryhvcDWP16AAfEUMrLtcFjstg2V/LC+mmc7NRTqaqJRsrA8sbWAX3TMFj7ttS9MFgjdbDtk2DcXJfMn4oSUAJKQAm0HgJqKDRiXW/evBls1afC/tprr9XbC8/48rQNGzY4JeH8hHHjxjn70T/Lly/HmTNnHOOiQ4cO6N+/f/TpVrXv8QHteprI7GKg5Axw5rDtSP4xG8Gy+EBxeFsIRXmSF1EoSwuBE6Iwl+TLgTid83sOD4V5Ng5sDKL4TOX4qLgWHreRt88GhzyF/MCx3TZoPNGIOEe0F3w6b58YKTMDjgFHo6jXeAtdR5qwvAZK8wH2Kpw+ZIuBfcFJNW0Egp29Jk4dVFGnp6UH4aTUAeuDPUt5e0NgnTVtpjV1JaAElIASaI0E1FBopFrnikNcpWjlypXg0qZPPfUU9u3bVy+p850I7K3w+Xzg/ATOW4iNmJOf6cb5CYMGDUJ6ejoPW62YHiApw4AlRgPi8JPV1YDphfOxPEBKlgFfiuEcX8gPhxYd3hLCvrVBlBWLxhoVmWECiWkGkjMqHFPbAomphhiYFW4NsUeFmD08eXtCsIOAYQEJKRAjATAtOB/WGVk4B834JyAGGIeVsQ78MXXAYqW2Mx3m3DekTpLbGEhM45FKayagZVcCSkAJNAUBeQw1RbKtL80tW7ZUmptw5MgR/OUvf6kXEKtWrXLi4SpHnJ/gE4PBcYj8cH7CggULnKPU1FSMHj0arXV+ggMh8mPI1W9E9uNt02OMB2Nv86LXRBODr7Ew6EoPqLDjAj7sFWDrNMe9F3M4UWU7wTEGsrqaGHGzF/0vtzDgCgsjZT+1XcNTKjwZcnoyont0TKmftj1MDLnaQp/JJoZP96JNDwOstwvA0KRBnTqQnpOcRWKoFVWdFdbB2Ds96HOpiYFXWhh6jQdp7c2qPaurElACSkAJNFcCzSLf+vRphGpia//ChQuxePHiSqn9/e9/r5deBffFah6Px3mRWqVE5IBGCd+7ILugocAVkbivIgQMkTj8ehOBnhdZGPNpHwZO9SIt27hgBZkTojk5+ESutNrHGAkuAvawtO9nYoQo5cOv96JtTxNsyXfPN9TWXwywdZ2KtJOG5C9ksyXdQO9JHoy6xYduIyx4kwzndHP9KTptY+P7fmeoW3VlsLxAp0EWRt3sEyPBi6xuUgdWdb7VXQkoASWgBJRAwxFQQ6Hh2JbHvHPnTrzxxhsoKSkpd+MO34PAic0cisTj85W0tDQnKOOJTcPv9+PJJ5900jYMA5zszOFJTgD9qTUBKrActx8sAwIibPnmMd3PFQnHmnOJT4ajuGG5mhCXIHWF/hgft3QTXRkcggPRjel+VjrigXlgnBTu0x/DU8r9iz/OM9j4oR/714qREJQz4kY/TjpcSSj6WPadZQ54d+C+eK/yK+dYBg5nYvoUlpN5qNJ/VY4SB/Nhh7hT2QPdeM6UfLhDjpjfaOF5JxSDSzmiz3G//Dw9ncMP8838O+Xwh1cfYrCahGHInXXqhJNrg8d0jw7H40LpxVn2vB/HdjIjcpYbkfJ8yj7z6xzLvtNzImWvasKzhHa+jJfpVUo/Ur+Oh+gfidONn2m4Qjd64za6/Dymu4oSUAJKQAm0XgJ8DLXe0jdCyTk3gT0J7FGoKrmXXnoJnORc1bnaut1www1ISUlBYWEhOFH62LFjzvKrhw8fBudC/OlPf3JeyMYeh4kTJ4Lb2sat/sQwKOVk4hDWf+DHwn+VYeE/S7H4mVKsl5bhYztD0hIulEQJk99KXypaJWds7F8fxKpXyrDgyVIseKoUi/5dhjVv+p1lP3cuDMAVjlvnZGKueLRrSYU7l8k8vC0If2lFIlTQTx4MYe07ZVj4VBmWPFsGGgJHd4SQszSAfZImFVfm4dRh20lv70oxEkSZZiZL8oG9a4PhtCWtgjwbx3eHsGeFpLtIJJIvLs1aWsVqSzQOTh4IYdvHfix/sQzz/16KT/5cipWv+HF4i+S1irH3TDdWOKF6n+TjwIYQyqKG4lD5PbhJ8rMqiIK8EPwlNrhk6G4pG5eMJbMcyefBjUEwL6VFNg5tDSKaG/0c2UGtOZwq52TweFdUHPRzcDPzCxzdHgJXwGI5WFc8Vyw9AOHQZ/8yT8d3hbBBroulz5dh3hOlmCuy7j0/TghL8mcoliVPenGWPlOGY5IG3ViTRWI47F0TroM9KwMolOMjUs+7lwXC9RKpA056Li1gCIasEL+0O/D6Wy/pLfp3KRbJdbno6TJsnOHHyf22Y9BW+AZKJI5YRmR4RPLEOj4kHFa+5McnfyqVa6oUuyQfZcI1Oo6Wuq/lUgJKQAkogaoJqKFQNZd6cz1w4ACeeeaZalc4onJPRZ4Gxfkmetlll+GRRx5x3qkwY8YMfO9738P//u//4rHHHsMTTzzhrHbEuC3LwiWXXALDkCZqOqickwAVNCpTS0S53zEviOQsA/0me5zhIHtXh7BUWoi3LwiACiVbd90IqaBz9Zp171KR9mPfmhCSM030vdjjjLPPXRkElz5d+3oAm2cGsWtREFSMaQxQsdy5UM6/FsCaiOxaEkRZYTh2pnN8VxBLn/Fj1+IQuHpT7wkWLI8hSmIAG94LOGvvs0We8e2YFwBX0QmHDv86BozkaffiIChUWiFN18ektXvdWxXpbqxieVQqqFTul7/oR86SEDI6G+g20kKRGBt7lgax7AU/yKQ2SiYNBa5mdGB9SAyFCmWYyv9BMR72iaHAFX8MwwAnAe9ZHgSZkctqYbN1btAxIuQ0SvNtUbCFmzDlecouyU+4xJDrHpIGnPdDuHHQz7aPA9gtBhIV/kObQzi1z8aRbTbWvRPAVjnnL8VZH+abdbT0OT8OSphOQ0x0GWrh1AEbOz4JYoUo3GREY6HwpLgtCAqfqGikqOzl2bcq5PDPFSOO+WcP0sGNIayJKsP2TwJgHFGh5VpgnAExEP1i3AWRmm2ij1xbnE+SI9fS/CfLsEsMQBoAbjj2UHD1qB1yHZeXX9LZLtfHLrm+Ns0M4PDWkHOtHN5ii9EUwHbxy+vRjUO3SkAJKIFmQkCzWU8EzHqKR6OpgkAgEMDHH3+MpUuXVnE27EQ/s2bNgjshOexat19OTH788cfx05/+FFdffTUOHjwI9mCwl+Guu+5yDAjGyJWO2KPAfZVzE6CSR2WPylLRSSClrQFOLKVC2HuCBx0HmCiRFuftokzuFgU2UFIRJxXJ7aKA7RVFkO5UpvtfZqHbcAuDrvCgXe/wX4/KW0YnA4Ov9mDA5RbSO5joOsJCh/7h8xUxVuxRAd8hhkT+URueBKCrxMk8DZR4mQZXc+LSpqL3O8ZDn0kW+l1qwV1FiTGlZhsYeq2FsXd4wUnTWV0MtOtlOcuRJiRXb0hSaTwqrfRb5wTEGLHRaZCJ3uM96CWGSmZXk1GLwg7krgiBre2OQw0/admmU3ZO2mW+Xa+cKzHwCgvDp3uQ1cV0ytlpoInsviY4hh8xH5/kufMQC21qGM/P+Q3Mb+y8i/yjEMMghN5SpwOnWkiJTN4mQ9bfmcORbphINQYKGQAAEABJREFUmpxLsW91EDtE+eeStb3HW+g51oOesk1rb4CG3JkjtjAIIv9oyJmEPmCKhR4Xhfk40Qhi1vuw6z1OHYy40ePUfYf+9GfBtBxfVf5wVag9YmhunRMU1jbadKcBKnUn18HAyz2O4VYqPVkbPhADaFkQHJbEiBJSDHQZZiJTeNIgoRvzevqgLT0QIdAA5nWSlCmZk5MsPw2I/OOVyy+n9KsElIASUAKthIDZSsrZJMXMy8tzWvRpDNSUgSNHjuC5554D5yzU5K+qc/n5+eDQJb50jb0Kf/3rX/HnP//ZWVHp97//PRISEuD2VrA3ge9ZqCqeuHCLs0ywR2CvtLqzt4BZy+hgIDEtrET5kgykdzRApZVDZvasCDrKFhUv9iZwdSG2DFOxhnzY0puQKmHla3kNUe5kR9w5hKjguA2ODeeymJZXHOXrS5afar6clMyWa6ZDIyRXWt35DgjLA3QQ46XLUNNRNJkXxsfJsFRgjah/u0cMjIzOpjNZuU0PE97EcH4YhynxoJpPkSigbKU/c9iG14nDABVwj5Qpq2s4DgYlE6cVXFrOeVydeBOBTMlHRkfTYen6My0gTYwmKrU+MQLozvxbkg57D3gcK1R+mffqztO/E4eUr5IfyWPPcRZ6iaLfWXoFaNS559mjdDrKUCDTk9JrkCuGQvEpGz6pp6zuBhivVxhS+Wc6NNKK5DzfgeFNgtMDldLGcE7xh3teuYaYFg0XrnTEOuE5rw9gWVDN57SwpxFKg4WcUqSXy70uk9INx+CAJMBrY48YCnw/hRsV82nJNSanw05SdhplLH+PsRY6y7WTli1n5UsP7Hmi0cP96oTXIa9jbsmHUp1fdVcCSkAJKIHmRSBKdWheGW8OuX399dexbt26c2a1uLgYfM9BTT0PVUVCA+EHP/gBvvKVr4BbGg2pqano06cPevfu7cxZmD17tjP0yOfzOcOTDCOiAVQVobqVE2BvwrFdIZzhC74iDapJmQAVLciHihwVQyqmcoiCYzYObw3CVZaoXLlDhRgm2i/9O4pdpCqojBYcCyHoF62NJ88hfOeAa4BwiE6uGCkcl863GlNh7yIty1nSymxYkQTOEV/0aYNBKNGOkX2W7eS+kDNXgMogFVu2UlNZpRf2bHD5UrpniBFFA4AKK8/Vm1STNzd+J//uQXXbmDhS2wPtpaeC9cT6ZP6dydwSnmX2F8lO5BsoteFeFzQGaDCyB4bpmnI3Jft06SHyigHBln4q8ZGgtd8wsmp8Mz971wRQeCLsgey9YkhZYkDRxRADKyEFcKKQy4nDtg5vC6L8w7K7Io4sc7rUVbueJrhviRFBw8GgHznP9PxFEpHsV/U9yHkNL/ux4j8ReTGyfckPzvdY82YA7NkokP9HbHjGTWOKhjJ7yXgc60ePlYASUAJKoGkJmE2bfMtN/dSpU2CLPlv6a1PK3bt346233nImIdfGP9+N8PTTT+NpEQ5veumll8D5EG5YroD0/vvvO4YK8/Doo4/i0ksvdU/r9hwE2FrLVnNOgHW9UiFz96lHUUmjckU3KjmcDMxhITx23OmJByJVHot7xTfKc4VjlXuJaQBbshEJwqVFD6wLYf07fuwWoyE500CHfiY8PtTrh2U8IcYT03MilrtHdLnY+n/RHV5MfsSHUZ/ySK+JeHA8xvePJxGggcVcUkGOYOWhIxyC4+zID42/U/tDoCEph6BibkQMMrLo2N/E+Hu8uORhHzhMjcPV6K++hBOoj+WI4i5fxsk0HcXe5FFYTE9FCdhTVZWSHvYZ/qVhZLmGBoNSwqecXxqjzk4VP7uXhbBbei04d4RbR5YGwSFLOxcFnQn7nGOxa1ngrNDHckKOMbH0WT8WPuXH/L+VgZPy177tx/b5AWcRAPbq1ZT+WZGqgxJQAo1BQNNoRQSiHi+tqNSNUNR//OMfyMnJqXVKbq/CsmXLahWGhsDGjRudXgMG4JAiCvcpixYtwr///W9wWNOUKVPwne98B0lJSTylUgsCVMg4udRV/BnEVSa57yjpMQpV8RmALe2GuHOoERUw+qUbFTYq2jymcEIwW6S5z96GJFHuXWWNbjVJSjsTHQeZYAu264/KVN5eG5s+CDjKGXscmA/3fH1sWY7TR0RDlS/jIxumQ3ce03CiscD3MLA3wZLWabo3d4kU1ykGJ4dzErJbdyx/KFDhw5NgOPMk2EORmm2ATFCPHxquxacjXVyMV641S+7i0XVtyDFPOSJe3TkKzvF5/FSU7uzAnPOQ1c1ARhcD6Z1FpHeCw9yS2xjwSc8G58UYFlA+JCsqioITtrM61Ik90ku1MyQ9ciFn0v/OBUHnOl71csAxIPauCoKco4LqrhJQAkpACTQSAbOR0mlVyZw4ccJZdYit/nUpOF+KNnPmzFr1KpiiJbZr1w5c6pQ9Ba+88goyMjLA3oN58+Y5Q5E4lGnq1KngvIWOHTvWJSut3i/HXFP5jgZRSQGj9kSJ8uAqZPTXtrsJKsyOQSH+uCJQIGqy86mDosFJWPrlGPf2fQ3UVqm0PMCAyz3oPKzy35eGSPFpG9vmBsF5BByihHr80DCILgP5OAZPuCj1mFJ8RSXVV54h9i649UxHMqa4hgPdGlKYVmWlWSyFypeBWKsVOWDe+b6ECpf63esx2sLlX0nAlY8lYNo3RL6VgKu+nYBrv5eAG36ciJt+nogbf5aI7qPkoo1JuvMQE0Ou86DnOBPt+xtI62CA1zb5co4LJ4qzN6TolI1QkCVB+YdLvXJ54pWv+pG7KgAab7z+yz3ojhJQAkpACdQLgdhHTL1E2pojoXHAJUmPHTtWZwyc9MwVkFauXCkt05UfjLGRGYaBz33uc+jVqxfYs/Df//3f+OY3v4nbbrsNt99+O3bs2IFvf/vbePbZZzFo0CAYhigUsZHocbUETGkFZWtoJQ+xCFlFlIgnM0oXSso0nNV82PLPoSEnpNWU6+FT+eFKSoc2hsAW93Z9xN80T3gCaiSe2mwSUw2Mv9uH/lMseBIkhCES+VKZ37UsiPxjosHbEcd62LBlOLqMVFoL8mwEyuoxkXrIZ0NGQQYUNw2Orc8/Zsv/1XVp2C3rOjr9qGovT9iOUaob8q9vyBOEQ9wqiVyPzGe00F95BiM7iWmGs1zw+Ht8uPzLCbjuhwm49TdiWPwyAZd/zYexd3kw9k6PGBKWXONGJJTYQXK5nT5gY+usIHKk92HpMwG897NSzPivUqwSw4HvIaGhQUO2sQy48szpjhJQAkqghRGQ23wLK1ETFyc3Nxf/+c9/nBecnU9WNmzY4CypeubMmXMG5ypGnDD94IMPYufOnZgzZ47TG/Gtb30L7FX41a9+hY7ak3BOjlV5cIYDpRswLZR/AiWioUSOuMdeh+hWzKQMiEEG50PljCvZjPm0F30vsZAocXHd/Xl/K3Pec8DW0yHXejDxPh/a9arb35DpcggKlbMRN3ox5javM7QjWokvllZYTqh2hwU5mbrQH9HVosfcs2X7zKEQuLLPhUZd2/DkCslHbf3Xtz9PguHUpRsvW7/zckPS4u26NOzWl2wgOasCABsmnGFtvCAjSfM4sgvy8iS4R/G/ZX65clP7Pib6TPCgz0QPoleLYgnoh9dh+/6mc46rifF/mn/UBoctzX/Cj/d/UYJVr5Wd9f4JhldRAnFOQLOnBOKKgBlXuWnmmWGPAFvw9+/ff1ZJDMMAVyRKTEx0zmVmZsLr9Tr70T+ce8BJzVzRiPvR52L3DcPA0KFD8Zvf/Aack7BmzRrwhWs0FAYMGADLitJyYwPrcY0EqJBxXHX0BObSqNVvII31wYANd1iHIf8kKvzcuhHzZVdcCYljsbk+/aQHvOBk34s/53NaUAdd6UFShoG6fviOhpzFQdBYoHHQY4yFsbd70XGgCfZSOPFJ/qLHzsul4iiNzrmYH8eYiFI0Y06XH5qRMrKHxHXkKkic3EujwXXjlsec5xFtSNH9QsUpXzSyqHxzaBSNKKc8F5pQNeF9yUBmZwPkjsjn8LYQqKRGDss3nPDMVZLc/ERfG062nZ+wd9dP+Kj6XxqwHNLmxsXrj2m4Q3MYD18Qxy1jIS/3vRA8binCOUCXyP/o4oe8GH6jhd6TLOe9JvzP0nDgSlUHN9rgAgMtpcxaDiWgBJRAUxCQR39TJNvC0owUh70B7777LrhMacRJlDMDNAo4V4AvP+NQIZ7j8f3334/hw4eD8wzo5grnKrz99tuV4nHPVbU1DAOcs2CJYcAt9FM7AlTUKK5v2Zevc0QFq11v01EKjci/hGvKu4pvMGijtMgub0lOyTbQabAFw3KCg8MeDm4MYcvs8NKUVOL5MjAK38fA+MM+q/l1MxI5HXOII9tDOLApCOaH+Wvbw3SGIXGpSwbxJgPJmZLxiFJteg3QH89RmD8q82x95uozNDro7iiYsYk5J+CEbye9H3wvAww4n+LTAF82d0p6Fpyw4spWdipojJdpiNM5v1UlWdWwkYQUA2ZklSHIh0vKcp4EDQS+W4IrVZGJnAp/q4o41i3q2C1DOHDkN1Thge8+yJbWbk5UjpxF4XEb2+b5USS9OK4bjcQj24LgOw/c/Fg+gSZf1w/ZUJj/vL0hcMtz7CXgtpJEsmBI+O4jLbjp0zhiOJaf/lmvZYWuZ4At750GRi5KepBTLCOFh46Im7N1f2KO3fy7p+Nlyx41Xot8Ud7oT3kx6QGfYzAPucZCr4kWeowxq1x5i/OD9m+QupFr1uUWL2XSfCgBJaAE4o2AaBLxlqXmmZ+ysjK89tpr2Lp1K9wHPXsPpk2bhh//+MfOUqkPPfQQsrOznQKyxf9//ud/QPna176GESNGlBsM7EngC9i4apIblxNIf+qNABUlR8EKVERJpc1VmOma0dFEj7GWo2xRQTt9yAbXpee50gKE37Eg4TmsiG/nzepigP7C523sXxt0lEe2Nu9bJ4q9KCecp3Agsj20NYgToiBy3kK0Msa8lUj8jIfCY847cOcCmKL3URnf/kkQB8VYoLJvyD/ZJ0q0L1nyIPtsdU7vIPsGnDwlporSGDVkhZM/OVdix/wA9q0JOgaPk04pQGUTkQ/TYdqu7shhIL0mCJM2EjH9yImjYrRsmhFAzuIA9kpcOxYEQEXMI4qx6aGncwu5sxyuT6cuxBBzj91tekcDSelyxOQlbZZj11JJe0kQfFsxe1vkbPmXreuV4hW7jS39LKvrideB64fpMgx7jNzzVPrdfVPY8v0IXUdYSBCmkA/rbt/qENa/F3AmkeeuDGLH/CDy9tkgA9aNeANXA3LD0Aji+wP2rg46S4EekV4JGj30R0WfcXKfwvwwz9ynpHcwMWCKhUThQEWX8ZADzxWeCIHHLB+Nqt6iMDO/PEeh/yDnlAg7HlM414TldvbLAKbF8DymMD/cxrt4kwAa9/0u9WDMZ7wYPt0L5+VxURlnPW+ZHcDqVwJY+1YAWz4K4OhOGmlRQNPkEa0AABAASURBVKL8664SUAJKoLUTkMdea0dQP+VnL8DChQudOQKM8corr8Qf//hHxxD48pe/7PQcxA41cg2Jn/zkJ/jDH/7gLGHav39/BsfBgwfB+Qd+v9851p/6I0DFiwo2l11kr4AbMxWknMVB8CVSVJbZ6s/lHwde4XGWfyw8YYsy6MdOUYS3fxJwhjVwrsGAyy30vMgCh4W4cVH5dN9MnH/EBv2vE8XEkbcDcLZvBrDmdb9IwFFyqZBS0d25MIAjW0NuVKBSyZZyrk3P1lAaIxx3bokSTr8b3pc8SZicRUFwYi2NBI7tTkgzyuNIyTKdSaFJmWE3Gjos66HNQXQZZoEGxsGNQWdNfE7QReTDl8ExDU4QpZPDZIgoqlJmvlWYSjBZHdwUwsb3A9j0YUBa0UPoPMRy3vrM8wxXndBIoqHCNwizx8b1xzh3SV1wfX6HY+REhijJNFRchdsph5R776qA08rOt0PTkIp4B3sZdi0Ra04cWBYq5sdzQnAVY3FGwVEgZ1EAZEtD5+ReW4x9ngnL4a22YwTRmKFLYqqBXuMsZ7hLEo0vQUqDaq8YCBve82Pb3ID0DtjC1XSMA9YXwzHvnK/iTZIA4lAsPRC7lgbB3gT2UpDtnpVibCwTwy2cZfEFxzjl+wn4ojfmm0y7j7Yw6CoP0sUY5NCvbR8HsX1eQHqwAqBhSoOKLeu8LhkvIyqS9MjzpBgwriHC7an9NvasCCBvXwjkw2uN1xzDUFi3e1YEpUw8ah7Ca8Atd2yOaSzwuju8JYQtswJY+6Yf698JgMc0mmL963GLIqCFUQJKoI4E1FCoI7CqvJeWlmL27NmgsTBlyhQ89dRT+NOf/gROMh42bBh8Pl9Vwcrd0tPTwXCcW/Cvf/0LP/jBD9CzZ08888wzqGq+Q3lA3TkvAlSwMzqZGHSlx3kx1mWP+kC59PM+DLjMgwxRRqloMHIq0D3GWLjoTi9G3uRBorTanzlqw/AAA6d6HPfe0mqblC7Kn3wR+XgTgeSIUk5lrDQfoBJPJc4V9lCc2G2DLfubRWHhUCW2WFNpZIso8+TK+Lu9oHLIOQ0erwG2aI+61YvBV3mR2tZwei6oGA28wsLIWzxo28uEWwZmiYYFe0dGf9qDftIa3eMiE/2lrMOu94Jr/htyJ8jsYmLg5R7nhWluunx5Wt9LPMiQ3hXGQ0kQRZkKKOdFDJ/uQa8JpjPMo6coz0Ov82DI1V7nhW/MD/3XJN4EA0yXebn4IZ9TD0z70i/4QAONreG+pIoYLPkrMW3WR9/JlpMuW5CHXudFn0kWhsmWeWYcFHIjT8bgkbQ4SXbkLV4wfp6nTPisF1ydinXYebAJziOhuyuckN62pwlLuDMeSD1zSA/zPO4uqYOrJR9jTakf0zEehl3vAZevzRKepuWEcH4sL9Bvsgdj7/CgL/M+znT8DbnagzY9TFjSA8OhaUOkTi/7YgWLSff7nLKxnllPjIzGRq/xFsbKdTlYDAYONWNPgk/qZtgNHrDcvSZY4PWLyIccOwwwwXq7NCp+sqRxmSzXazfpKZlwj7e8Hshg5M1esB6Y/0hUzXbD//7wG7wYc5sHHQYYYA8LDScaYqvFaF/9hh+OQRZstkXUjCsBJaAE6pWAqAf1Gl/9R9YMYuRSpCdPnsTvfvc75yVn99xzDwYOHIjYHoSaimIYBrKysjBp0iR897vfxTvvvIN7770XL7zwQk3B9Nx5EKDyRqUru68Jzh2IFiqVVAJdhYzRexLgvESr90QPhjqKsEeUYVH2LvagrSiQjjJm0GeFcOnHPhdbSOsYc6LCS/keDYnCYzYObw06wz74sjIqdNH54jHnIXA4CfPD9eupXGb3NqV12wMqplQYe0/wIFOMICpE5QlwR7LBsGzpH3qtB6NEWWaYtpJ/Dg+Syw+cIFotkzYSAeOJCBVVhu0riu+Im7yg0UKFt6v0TjCeaH6RIFVuLFH8OSSH3KPLy30qr+nCz5tYOW3y7jxYjAJRyJnuwKkWaACwpZ/+yYrhHRHFmDyZOBXddDF4OvSPqXfxwxWqaADRaKkUfqApCqUJxhHNlLxYxx36mRgoBiPzQeF+xwGWYyRWxYBpdB0ezjsVcBo5TJtx00jksKKz8id54NwQGonRcdLIaicGRp9JHgwVY4P8h17jAa8BKvYc9sRyu+IRQ4nliI2f5aXhzPJwzD+PHXaSLrf0ny49F/zfuHE15y3L0nOcGFP3+MRg9KLbaHkMyiVGA37viiCWPevH6UPSo2c351Jq3pWAElAC9UNA7pD1E1FrjqVfv35OLwANBPYEJCSIZnmeQAzDQLr0MAwdOhQ///nP8aUvfek8Y9Jg9U2AiibnAVDZo9JNJVeqq+pkRPGgMp2SZThjydtKCz9fkNZlhOm8KI0t2G16GNLiGw7OMeEcRsMhN2GXGn4lbo9cYk7ass98MD8U5pEt3tWFprLnSzJAv+VxVOf5HO5M3+ODExeZsLzRimxNwS/0HNOhweCkK4YEjy80zvMJz3RpyDAfFO7Traa4nDpIjtSB8CPHmvzXeI717wXc65JMnGugxkB6koYZDa8O/S2Mu4sGgw+dhhjOiCsO0eLQQaWkBJSAElACgKkQLpxAghgGaWlpsCzrwiOLxGAYhtMj0aZNm4iLbpoLAfYQcLz/4n/7wXcZsMX9iq/6MPlzPlzykM/ZcmjJtG8m4MpvJIDGA5VLKi4eMQCaSzk1n0qguROQ2yxo7HL43SUPJ2DKl3y4TKSt9NTUZHA393I3UP41WiWgBFogATUUWmClapGalgB7Bzhe3F9sO0oIlX+6xeaKBgXd2ArM5S7Zy8BWabqpKAEl0LgETAvgEDgOJ4vtleEkZw5NKj5tO/MaGjdnmpoSUAJKoKkIaI9C05HXlFssAfYOZPcz0aG/Cb50LGdRELmrg+B7BU7khkDh/v71QexcHACXtux7iYVOA01YnhaLRQumBJolAU545kpon/ylDCte8uPwtqD8r5tlUTTTSkAJKIE6E9AehToj0wBKoGYCHM7QpqvpTPAdeIUHnKdwaFMQOUsC4FKdu5cFwOUmj2wLISnNACegckIqx5nXHHPtzqovJaAE6o8Ae/78xUCgxMahTSGsezPgLKfLuQzOpIb6S0pjUgJKQAnEHQE1FOKuSjRDLYEAexW4ugqX0Bz1KS+4JOcgMRq41CiXyBw8zQOuekNDgi+Jih3q0BIYaBmUQEsgwF4+9vb1u8xyVgbjvCMuZ7zxgwDOHAk1VhE1HSWgBJRAkxBQQ6FJsGuirYkAjYDkTANcgpJLYXLLJVg5d6E1cdCyKoFmScAAktsYGDDFA76jgksI8wV77BVc/XrAee9CsyyXZloJKIEmJtA8kldDoXnUk+ZSCSgBJaAEmpAAFx3oMtxyhhRypTK+9+LI9hBWv+oH5xs1YdY0aSWgBJRAgxFQQ6HB0GrELZGAlkkJKIHWS4DDkLK6GI6x0GuCBRoLpw7a2PZREJzL0HrJaMmVgBJoqQTMllowLZcSUAJKQAkogVoQqJsXA0hKN8B5R8Ome+BNAtr1MWDo07RuHNW3ElACzYKA3tqaRTVpJpWAElACSiCeCLB3YeBUD279dSJG3OiNp6xpXpSAEoAiqC8CaijUF0mNRwkoASWgBJSAElACSkAJtCACaii0oMps7kXR/CsBJaAEmjuBQClw6mAI+Udt8GVtzb08mn8loARaNwE1FFp3/WvplYASUAINSaDVxX18TwhrXg9gzRt+nDwQgm23OgRaYCWgBFoQATUUoirTljv6mTNnEArpS3SisOiuElACSkAJ1JJAWZGNwjwbhzaHsHlmAMWn1FKoJTr11mwIaEZbEwE1FKS2aRhs27YNf/rTn/CDH/wAeXl54qpfJaAElIASUAJ1I5Dd20SnISb4QsVDm0LY8EEAgTI1FqAfJaAEmiWBVm0o+P1+rFu3Dj/72c/w0EMP4Ze//CXeffddFBcXN8vKrCnTek4JKAEloAQankBShoEBl3mQ3deEYQD7Vgex9eOgDkFqePSaghJQAg1AwGyAOOM+ShoIK1euxGOPPYbbb78dv//977FkyRIcO3ZMhx3Ffe1pBpWAEogQ0E2cEkhtZ2D4dC9S2xsI+oGd84M4uiMYp7nVbCkBJaAEqifQ6gyFkpIS/Pa3v3WMgwMHDuDkyZMoKChQA6H6a0TPKAEloASUQF0ISE9CZicDQ6/1wPICpYU21r8XcLZ1iUb9tkYCWmYlEF8EWp2hkJiY6MxDePHFF/H000/jc5/7HFJSUuKrVjQ3SkAJKAEl0LwJiLHQdYSF7hdZTjnOHLKdIUjOgf4oASWgBJoJgVZnKETXC42G7OxsJCUlRTvXeV8DKAEloASUgBKIJcA5CiNv8iCzqwHLA/iLdVIz9KMElECzItCqDQXDMGBZFgxDmn6gHyWgBJRAOQHdUQL1QsCXZGD8XV4MutqDfpdZ9RKnRqIElIASaCwCrdpQaCzImo4SUAJKQAm0XgKZXUwMmOJBRgd95DbtVaCpKwElUFcCeteqKzH1rwSUgBJQAkpACSgBJRB3BGwbzlLEdki2lKBsxS3uMtqMMhT3hkIzYqlZVQJKQAkoASWgBJRAqydAhT1QBpQW2CjMs3H6cAh5+0I4lhPC4a1BHNwYxL71QexdE8SelUHsXhZEzpIAdiwMYPu8ALZ+HMCWOQFsmhlwXlq4/t0A1r4dwOo3/Fj1qh8rXvZj+Yt+LHu+six3j1+IuMv2xB6xGFp9jZw/ADUUzp+dhlQCSuD8CGgoJdBqCZQV29i9PIgtHwVQfFqbOlvthdBMCh4MAMVnbJw+FFbyD24KK/e7loYV+s2zA1j/nh+rXw8r7oufLsP8v5dh7p9l+0QZFvzDj8X/8mPps3JelPaVL4nfVwNY80YA694UEeV/wzsBbHgvgI3vB7F5hsjMILbMDmKrGArbxGDY/kkAO8R42Dk/gJyFYlAsDmL3EhExLvbIf6mSrAgi1xUxQHJFaKg0E9xxmU01FOKyWjRTSqBlEbCleYkSCoWcd5YEg0G4EggEQOGLECllZWWglJaWgsJ3n1CKi4vhSlFRESiFhYWg8F0o+fn5oJw5cwaU06dPg3Lq1CmcEuE7Uyh5eXmgnDhxApTjx4+DcuzYMeeli9wePXoUlCNHjoBy+PBhUA4dOgTKwYMHQeG7WFzZv38/KPv27QNl7969oOTm5mLPnj2O7N69G5Rdu3aBkpOTA8rOnTtB2bFjByjbt2+HK9u2bQNl69atoGzZsgWUzZs3g7Jp0yZQNm7cCFc2bNgAyvr160FZt24dKGvXrsWaNWscWb16NVxZtWoVKHwRJWXFihVYvny5I8uWLQNl6dKlcIUvqKQsXrwYlEWLFoGycOFCUBYsWADK/Pnz4cq8efNAmTt3LuaKfPLJJ/j4448d+eijj0CZM2cOXJk9ezYos2bNAmXmzJmgfPjhh6DMmDEDlA8++ACU999OogtYAAAQAElEQVR/H5T33nsPlHfffReUd955B5S3334blLfeegtvReTNN9/EG2+84cjrr78OymuvvQbKq6++Csorr7wCV15++WVQXnrpJVD+85//gMLltikvvPACKM8//zxcee6550B59tln8cwzz+DVpz/EynePY4u0lL7178X49z+fxb/+9S9H/vnPf4Ly1FNPgfKPf/wDlCeffBKUv//976D87W9/gytPPPEEKH/9619B+ctf/gLKn//8Z1D+9Kc/gfJ///d/cOV///d/QfnjH/+IP4r84Q9/AIUvH6X87ne/w//8z/84wvcOUX7zm9+A8t///d+g/PrXvwblv/7rvxCW/8L/+3//z5Ff/epXoPzyl78E5Re/+AUoP//5z0H52c9+Blcef/xxPC7y05/+FJSf/OQnoPz4xz/Gj370I0d++MMfwpUf/OAHzhLn3//+90H53ve+h+9+97uOfOc73wHl29/+Nlz51re+Bco3v/lNUL7xjW+A8thjj4Hy9a9/HV8X+drXvgZXvvrVr4Lyla98BZQvf/nL+NKXvuTIo48+CsoXv/hFuPKFL3wBlM9//vOgPPLII6Bw+XXKww8/DMpDDz0EyoMPPgjKAw88AMr999+P+0U++9nPgnLfffeBcu+998KVe+65B5S7774bd911lyN33nknKHfccQcot99+O1y57bbbQPnMZz4Dyqc//WlQPvWpT+FTt34Kt9x8K26afiumX3cLrrv6Zlw77WZcPfUmXHXZTbhy8o2YOmk6pkyYjqkTb8BVl0/H9ddNx0233oBP3TEdt917A+58cDru+fwNuO/LN+CBb9yAh797Az7/4+vx6M+ux1f+63p87bfX4eu/uw6P/eFafOP/rsW3/nwdvvWXa/Htv4n8/Rp858lr8N1/XI3vPXU1vvvPq/C9f12F7/97Gr7/9DT84BnKlfjBs9Pww+euxI9euBI/fPEK/Og/V+DHL03Fj18WeeVy/NiRKbK9DD96hXIpfvgKZbJsRV6+BD8UmX7veOf6gH7Oi4AaCueF7cID8QHIm1XszaimG9IXanEzeqgON6KqbkDV3YR48+FNh8KbDoU3HYpz45Gbz6233grKLbfcgptvvtmRm266CZQbb7wRrkyfPh2UG264Addff70j1113HSjXXnstKNdccw0oV199NShXXXUVpk2b5siVV14JyhVXXAHK1KlTQbn88ssxZcoURy677DJceumljkyePBmUSy65BJSLL74YlEmTJoEyceJETJgwwZHx48eDMm7cOFAuuugiUMaOHQvKmDFjMHr06HIZNWoUKCNHjsRIkREjRoAyfPhwDBs2zJGhQ4eCMmTIEFAGDx6MQYMGOTJw4EAMGDDAkf79+4PSr18/UPr27QtKnz59QOnduzd69erlSM+ePdFTpEePHqB0794dlG7duoHStWtXdOnSxZHOnTuD0qlTJ1A6duwISocOHeBK+/btkZ2d7Ui7du1Aadu2Ldq0aeNIVlYWKJmZmcjIyHAkPT0dlLS0NFBSU1NB4XtJKMnJyXCFxxSep9C/K4yD4sbLNChMj+LmgflxhfmjMM/ulmWguGViGSksM4UMKC4XMqKQF4X8XCFTChlTXO6sAwrrg8L6cYV1RmEdUtx6ZR279c26p/A6oPC6iBb3muH14wqvJwqvLwqvN4p7HfKapPD6dIXXLIXXMIXXNIXXOa93Cq99V/h/oPD/QeH/xf3/8L9EmRL5b3HL/xqF/zsK/4cU93/JLcX9z3LL/zCF/2cK/9/8r1P436e49wNueX+g8F5Bce8fvJ9Qbo7cY3i/ofDeQ3HvR7w3UXivovDeReG9zBUqV1S0KK7yxXtgtNwTUdC4de+ZVOIoVOoo999/P+4XeeCBsOJHJdAV955MRZFK448e/y7WrF8GfwmwY3EZvv/tnzpKJu/vruJJRZTiKqd8LlCotFL43HDFVW6p7FKo/FL4fIkWKsmuUHGmuMr0dyIKtqtwU/mmEk5xFXNXUXeV9x+LIk+hUu8KFX0KFX+KawzQOKDQWKDQeHCFBgXFNTJco4NGCA0SCg0USvQ+jRcKDRoaNhQaORQaPa7QEKLQMKK4xhKNJwqNKQqNK1docFFogFFolNFAo9Bgo9CAc4VGHYVGHsU1/P7973+D8vTTT+NpERqK7pb7NB4pNCQprnFJY5NC49MVGqQUGqg0VimuAUuDlkID1xUavRTXEKZRTHGM5Lffwjvvvo33PngbH3z4DmbOfhczP3oXs+e+hzkL3sPHi97H3KUfYP7yD7Bg1QwsWjMDi9d9iKUbZmLZpplYvnkmVmydiZXbZ2H1jllYs3M21u6ajXW752B97kfYsPcjbNz/sSOb9n8CVzYfmIvN++diy4F5EZkv2/nYenBBRBbKNizbDi1CWBbLdjG2H1oSkaXYcYiyDDsPixxZjp1HVkRkJXKOUFbJVuToauSIbNyy2mmIuXDNrRXGIEVWQ0EgNMWXrXa8KVV1o+INisIbFIU3KcrfI61JvElRqrpJ1XSDir0xVXdT4s2IwhsSxb0h8UZEqc2NiC13FLbkUd6NtO5xy9Y+Clv/2BJIYcsghS2FFLYcUtiSSKFh5bY0suWR4rZGsmWSMnfuXMybF261ZCsmWzQpbOGksMWTwhZQCltEKWwlZYspxW1FZYsqhfVEYWsrhS2wbossW2fZSkthqy1lQ6Qlly27bOWlsNWXwlZgCluF2UJMYasxW5ApbFGmsIWZrc1seabs2bMHe0RypWWaLdQUtlhT2IJNcVu12cpNYas3W8ApbBGnsIWcreVsPaewNd0VtrCztZ3C1ncKW+PZMk9hSz2FLfdswaewRZ/CVn62+LP1n8LeAAp7B+pD2NtQk7g9E3Xdur0bDbFl70ldpC73IMMwnCWdDaN+t6Zpoj6ES05Hi8fjQUOJ1+tFQ0lCQgIaQk6W7ENO3nL4QyXo33EC+rQfi6TEZCQmJl6Q8H1AVYlrrF/YNkWM/hhJkeMoYUNA3SUVKSnnEGmASIlIqjRKuOI2NFS/TZcGjFqINHikVSFsvKheMqSRpBYijSrpMZKRKY0tEWGDSGXJQmZmhWRkZCE9TSQ1C2nJmUhNykRKokhCJpJ9YUnxZeGCJEHCJ2Yh9SxpI25tkZbYFumJ7ZCelO1IZkp7ZKZ2QFZqR7RJE0nvhLYZndAuszPaZXVGtkj7tl3Qvl0XdGjXFR2yu6Jj+27o1KE7OncU6dRDGq56oEuXno507doL3SjdeqM7pXsf9KD06IuelJ590atXP/Tq3R+9+wxAn74DpQFtoDSmDUK//oPQf8BgDBg4BANFBg0aisEiQwcPw9AhwzBsyHAMHyoyfAR6SsNaXe6z6reCgBoKFSwadY+tpGyJjG6BZCtkTeK2UNa0ZetlbcRt4axpy5bPcwlbRWsj0a2m1e27rak1bd1W1nNt2QJ7LmHrbFXC1lpXqmu1ZWstW2+5pbDVlsJWW8qESA8FW25dmTQp3IPBllsKW24pbL11xW3FdbdsyaVMqWVr7rRp05xel2nS+8LWWwpbbylswXW33KewNZfC1lwKW3IpbMl1ha25lJpadGtq3WWrrits2aWwZZcS3bLL1l0KW3cpbguvu3Vbedmy68q5Wnjvv/9+p2ufLb3RLbxs3Y1u6eUxW3spHDJA4RACClt6KV+MDDVgS68r1bX4stWXEtvqy9ZftvpS2OpLYatvbEtvTa29bqsvt2z5pbDllxLb+stW4OpagNnyS3n88cfxuEj0/s9+9jNniEh0K3B0SzBbgCmxrcBsDWZLMIWtv9HCFmEKW4FdYWswha3BFLYGU9zWYG7ZGkxhazCFLcJsYKFE77NVmMIGGAobWyhsbHGFDS6U6hpd2PjCluFoYQtxWMLDg9gYw1ZiCluHKWyEeeaZZ/HMs8/i2Wefw7OR4UbPPf88KM8//wKed4YlvYhnn38W9zx6DZLalUFMPXz50/+D55/9D/7zn5cceemll+HIy6/gZYoz9OlVvPLKq3j11dfC8trreI3y+ht4nfLGm+Ft+f6beOONt/DGm2/jTZE33noHb0bkrbffRVjew1vvvIe333kfb79L+QDvvBeWd9+fgXffE3n/Q7wr8h7lgw/x/gcz8f4Myix8MCMiH86WVmnKHNlSPsKMmZSP8eGsiMz+BDNFZs2Zi1lz5mHWR5T5mP3xPEfmfMz9+ZjzyQJHPpq7EI7MW4SP51IW45N5lCWYOz8iC5ZiLmXhMsx1ZDnmLaKswPzFYVmwZAUWLFmJhZSlq7BQZBFl2WospixfgyXL12IpZcU6LKOsXI9lrqzagOWU1RuxgrJmE1ZS1spWZBVl3WaspqzfIj1FIhu2Yi1l4zas2xCRjduxTmT9ph2gbNi8E45sycEGyuYcrF2fg9Wrc7ByeQ5WLM7Bsvm7sHBGDma9uBPv/HUnXv71Tjz3o53451d34q8P78RfHojIg7J1JAd/eTAHf3VkF554iLJbtrvxt4f2OPL3h3IRlr34+8NhefKRfXjq8/vwr0f3499f3o9nvrYfzz52AM99az9e+M4+vPD9fXjxh3vx0k9y8dr/y8Wbv8vFO3/KxftP7sGHT+dizot78MlruZj3zh4s/jAXy+bmYsXCXKxdnosN6/dgy9ZcbNuVix25e7B9D2U3tu/eLW67HNmak4MtlJ07sZmyYwc2UbZvx0bKtu3YsHWbcNqK9Zu3YN2mzVgrsmbjJqzZsAmr12/EqnUbHFm5dj3WbliPDZvWYcPGdVi/ca3UwVqsXbcGvL80qpLXghJTQ6GJKpOKE7sB2bLOVnYK9115PzLellu2uMcKW98pbH2nsPWdEr3P41mzZsGV2ZExv2yZj97nMVvoKW4rffSWrfWuzJ07F3NF3Jb76P35UeORF0TGKHPL1nx3y30KW/YpiyNjnKO3bOV3ha39FLb2x8ryyBhqtvy7wtb/qoS9AZTVkXHZ7BWI3uexK647twxDceN003HTdvPEPFLcfLvlYRldYbkpZEFxebksuSVPisvbrQfWjSusL4pbh279sr5Z/67w+qC41w6vJYp7jXHL647yzjnGcfNadbuw2Z1NeS1mLDd7m15xlJpXRMF52ZGXXnpJlB8qQWFxu9HZrU55/vnnQWG3uyvPOsrWs854bipgVMQoVMwoVNRcCStw/3TGc1O5o6JHYY+bK65SSAWRQqWRCqQrVCopVDIpVEApVEIpVE4pVFYpVF5d+f3vfw8KH0IUKr0UVxGmYkyJVpipRFOoVFOobFPpprjDMbj9RTXjuh9//HFHsX9ctlTuKe7QDw4FobjGAbc0FiiuEUGDgkIDg0KDwxV3CAqHpNBYobhGDLffOM/x3Rw24xpVrpHF7RfE+KJ8/gtfwOc//wU88sjnHfnc5x6BKw8//DlQHnroYVAefPAhMf4eLJf7738AnxW577P3g3LvfZ8F5Z577wPl7nvuhSt33X0PKHfedTfuvPNu3HHHXY7c6PazLwAAEABJREFUdvudcOUzt90Byqc/czsot37qNoTlM7jl1rDcfMunQbnp5k/hRpHpN92K6Tfdguk33oIbbrwZN0y/GddTbrgJ111/E669/kZce92NuOa66bjm2um48pZL0HN4FiwvYBV2wLjhV+PKq65z5Ipp14Iy9cprcDnlimsw5YqrMeWKq3Hp1KvCcvk0TKZMuRKXUC67AhdTLr0CkyZPxaRLp2Li5Msx8ZIpmCAy8eLLMCEi4yddirBMxviJkzFu4iUYN4FyMS4aH5ax4yZh7HiRcRMxVmTMuAkYc9EEjL5oPEaPpYzDqDERGX0RRomMHD0WYRmDEaMoozF8ZERGjMIwkaHDR2KotO4OHTYCQ4cNxxBp7aUMHjpM9odh8JChjgwaPASODBqMgY4MklZjykBpQQ5Lv/4DpEVZpF9/aV2m9JOWZkpf9OlD6YPevSm9pTVaxB22KVu2Lvfo2RMcXsjhht26dweHH3bt1g0cjkjpEhm+2blLF2kB74xOnUU6dUJHSseO6CjSgdKhA9pT2rdHNiU7G+0o7dqhrStt26KtSFZmG6QlZSHRyISnLAP2mXT4j6ajcE8a8jam4tCSZOyZlYStrydi3TM+bHgxAbs+TMTBZYk4tS0JxQeTECpMghdJSPCExWclIiwJsk2A16L44DF98Hq8SEzyIjnDi7R2XqR38iCrmwdte3mQ3deDjoM86DzMQtcxHvSYZKHPFA/6X+3B4Js8GPEZD0bf48G4h7yY9KgPk7+WgElfTMBF9/sw+k4fht/qw+Drveh/pRe9J0v4cRLXCAvtB1gSv4n0ziaS25jwpRiwPNBPMyZgNuO8N+us86YR23vA3gVX+vbtKze9sHAsNKV3795y4wuLO2aaNzwKb3iu8MbnSje58bnCmx+li9z4XOGYbUonuflROsqNz5UOHTo4Y9g57tsVjgmncFy4KywLhb0krmRlZcGVzMxMZIpkZGTAFbdLN7rbmGPXKdHd18mRce5JSUmgJEZ1z7vDAnw+H1xxhyHEDnWwLAsUd2iFYRgwjLA06wtJM9/qCdhCoJLIgX0OCcn5c0oICMVIUI5rIwHxFyv+IBArAXGLltjztTkukzgq+QsAZbWQUgnnCuOoJBK+NCKV3CVM7HGltOV87HEsBx7bJtC2r4nETAO2hNmzIoig1Em0VFU/56pXiUKuBv3GA4GQ1GvJaRunD4RwdFsQ+1cHsXtRADs+DmDLBwFsfMuPtS/7sfI5P1a/4MfW9wPIXRzE0S0h5B+2ESiRUpyrQg3AkwAkZgCp7Q1kdjfQrp+JjsNMdLvIQq9LRPm/3IMBV1kYfIMHQ2/2YPinvRh5h0eMAC/GflbkXh9G3ubFkBu8ovR70GuSB11HWo7Cn9XdQmo7E1T2DVPyo9/6JdBMYmvVVc8xxByfzK1bX9ynuMe6VQJKoGUTOJfyVZXCVslNlOLzUaipMFYSUSyilWbuxyqdPI5Vgv2i0FYSiSdWmY09ZjyVwkTiqBR3FfEwXGxclcJIPNUdM2yNIhwr8ajl8VmGiyhXleqnmuMa670RLvnM7iZS2hmgAnZ4QxBlRZLRRkhXk6h/Any5V8kZGyf3hXBI6nLXwgC2fujH5vf92PSOHxvfEsPgTTl+N4CcT4I4IEbD8R02Co6IQVB8jno3AF+qgdQOBtr0MtBhCI0AE30uszBAWv8HXufFIGnZHzzdgyE3ejFUegOG3uzFsFvkeHpY+e8x0YNOwy1k97OQ2c1EaraJxDQDllcily/0owRqINCqDQUaCZx8yUmQLiNOmqSbe6xbJRBFQHerIVCj0iXPQZ4/p/ImiuFZSl8VblSga5KqlNFKym2UMstW40rnYpVj8VuVQu26OUpxbBg5PmceYv0wnVi3ao5ro0zXhmN067W7f846itQl67Nc5JoQZ0SLOOn3HAR8yQbaSa8CW4RLzgBnDsrFfo4wejo+CNCoO7UviP1rgtg+J4D1r/ux/lU/NkkvwRbpGdg+M4CcuUExCEI4kWOj8JgNfzFAg6K6EtBg9KUC6V0MtB9sOkOBBlzrkdZ+jzMMaPitXgy5yev0DAy8VgyAqzzoN1V6AC620HW0hQ6DLLTpaSKto4mkDAOWTywA+UI/SuACCbRqQ4ErvnC1maKionKMXOmF49DLHXRHCTQigXLlS7Su6vbPpcxVpyRWUjBFCY1VtqtUbkWBdZThqC2V6/OR2HjOOpY8xeahKiXeL/pUtSJxVFWuSm4S3mVRHatyd6kHV4muanuuuog+X119Ou5yjUlSlZRtHouzfhucQNMl0GmYhfaDTBEDKdmq1TVdTVSfckjufflHQjggRgF7CVY8W4bl/+KwoQBoFOTMC2DfiiCObAnhZK4YBcfDRoHzZ64qWqlmDuVJ72qg03ATfaZYGHarBxc94MW4B3wYdYdXegW8GDDNg96TLXQd60HHIRba9jGR2dUM9wakG/AkGE5vVFVJqJsSqE8Crc5QYO8BJ3Ry8h5XOHnttdeclzu5UNmb8L3vfQ8PP/yw84IbLi/pntNt8yHgKF+iaUVvo5U2Z18UxnKFsLp9UTyDMVJJ6ZRzscotjyspuPKgqUqxLhH3cvEDJZRot2r2q4or2q1MwlUlbiu4s60i3ywX8x4trkIdva2KmcNTeNf3Nrr+arUvl6hkw3lGu1tx0q8SiEsCSVmGoxSOvN2HpHQzLvPY2jLF+0zB0RD2Lg9gnfQSLPxzGZY+6QfnFOyaH8SRjSGc3BOeR1ByikOHaugpMIDktoYzZ6D/VRZG3+3B5K/6MPlrPox/0Ifhn/I68wK6j/Og/UALWT1MpHcykSJhEtLEGJBeAUPiaG11UC/l1UjqjUCruzNZlgUuC8lVRd5++21wzXn2KHAteAr3t2/fDq6I8uCDDzqTeeuNdjONiDfOWIlVCKtSHmPdqIhGS7RC6uxXoeBGK8DOPpXpGCmW40pSBlQ6jpx3FHHZL99Kek6cNW1FoXYnPLrbSkaAnHfyHrONLieV7FgWPK40rl20WjKN5Xxex3KdSXSVlOXaHktQ/SoBJdBIBKgEsnU5IVW0Qfk2UrKaTBQBDgeiYZC7NIBVz5dh9i9LMO93ZVj/mvQULA/i9P4QOCm5rBAIyrOF/qOCV+xK/SVIS3976SGiUTD+YS+u+mkCLv9OAsbe6xODwIvOIz3gHIHkNgYSxS/r3pNowPQAvBagHyUQhwRanaHAOqCxwNVxfD4fEhMTqxSe48o5hiH/fgaqZ6FSSKk0nCHSqk3FsloRhbSSEho5rqSsiuJbVYtyJaU4WmGO2o9VsIvkxhjrxuNyZTsStlLckn5Vx+dQsMHhJLHlpkJdSUTjJbdoOUuZrue60uiUgBJQAkqgGRPgc4PPylI4k8ZPHww5KxCtfK4Mc/6rBJ/8NmwYHFwbQulpgCsW0SDgs8UtNecQUKH3JADeJIC9QdmDTfSbZjnDhq78oQ/TfpSA8Q/5MOAqr9NDQAPQtACGdaRh1AnoRwk0JAGzISPXuKsnwOEsVLZLRdEul4iCXZWSX+4mN7tYhZvHlQwFMThiFW4en0vhpvLNG2O0VF8CPaMElIASOBcBPa8EmoYAl53lpOOiPBt5e0Ngj8Gal8sw7w9lmP/7Mmx8M4BD60IoOSn5E0NCfit9DVHwvclhgyC9k4EOYhT0nWph5B1eXPJVH674fgImPOjDwKu9zhyCpEzTMQgqRaIHSqAFEDBbQBm0CEpACSgBJaAEmjWBU/tCOLo1iNL8KrTWZl2yxst8UBreCmkY7AnhwLqgsyLR6hfLsPTvZY5hcHg9DYOq+bK3gEOHaBRwNaouoy30u9KDEbd5MOERH8Z+NtxTwAnoXF6UPQSNV7I4S0mz06oIqKHQqqpbC6sElIASUAJxR0B013Wv+bH6Rb+z5Gbc5S9OM8Te79ICGyelx+DA2iC4AtGW9/zOi8zWvuLH7vlBnNxjO3MLYotAw4DDh7J6Gug80kSvyR4MuNrC0Fu8GH23F6Nu96LPpR7n3QOcWGzosKFYhHrcSgioodA6KlpLqQSUgBJQAnFMgD0JgRIgb1cIXJIzjrPapFnj/IHC4yEc3hjEzk8C2PJeAJveCYAvNdv2YQCHpNeA7y2wA2dnMykTaNffRI+JFgZe43HeSTCELym72YtB13rQY7wHbXuboGFwdmh1UQKtk4AaCq2z3rXUSkAJNHsCWoAWQ8CAszQmJ9CWnLFRfCrUYopWXwXhkKJ9q4LY9LYf618PYPP7AeyYE8C+lUHpNQihTHoWYtOyvEBaJwPdLjIx9GYPhn/aiyHTPdJz4EFv6S3oPMJCVncTnHSsQ4li6TXTY+mda6Y5j9tsq6EQt1WjGVMCSkAJKIHWQqBtH8MpKpfhzD+i2g5h0GDatyqANf/xY9UzZdj6QQB7lwdxfEfIedsxlyulv2jxJLLXwACXKB1znxej7/KCbzLuMcHjrETE9xTEtWEQXRjdVwJxQEANhTioBM2CElACSkAJtG4C7fpYDgB/sY3C463XUCgttHFgbQCrXijDkr/5pQchgINrgzh9wHbeZ1DVsCzONegy1sTIOz249Gs+MQ586DNFDIMBlvMCM76zgHMSHMD606IJtN5/TsNVqxoKF85WY1ACSkAJKAElcEEEktuY8CQBnKdQdLJ1qTtU/g9vCoIvPJv7m1KseZHGgfQaiMHkLwq/1wBRH76bIL2LAb7DYPLXvc5LzUbd5kO30R6kZJvOUCKPz4AOJ4qCprtK4DwJqKFwnuA0mBJQAi2ZgJZNCTQuAcMA0joY4DwFjrdnz0Lj5qBxUuNKRVzGtEx6Do5sCYLvNpj58xKs+Ldfeg5C4NArMoBrKwkXzjXgOw0yuhkYeJ2FS7/hw6VfT3DeYZDZ1QLPO0aB+G2cUmgqSqD1EDBbT1G1pEpACSgBJaAE4pMAFd3U7LCmS2WZk5rjM6fnlyv2GpSctp2Jxzs+9mPRX8sc42D/ihAC0msQHStZ8O3HyW0NtO1toO8VFiZ+3ofJX01Av6leMahM0LCKDlOrffWkBJRAnQmYdQ6hAeqHQPh5UD9xaSxKQAkoASXQrAlQOc7oaoJj6dnqzmVAm3WBIpl33nOQG8LelQFseNOPFU+XYcfsIAqO2E7vScSbo/iz1yC9s4EOQ0z0udyDUXd5MP5zCeh/pRcZXUzHj+tft0qgOgL8/1R3Tt3rTsCse5BGDaGJKQEloASUgBJo8QTYQt5+gIleky10HWMiuU3zbU0K+m2cPhjCvlVBbJ8VAF8mt/HNAA5vDA8tiq5MrlKU2d1Al9EW+l3hAV94NvJ2L/pN9aBNDwuWJ9q37isBJdDYBMzGTlDTUwJKoLUT0PIrASVwFgGxC1LamRh0nRfdxnrgTRSHszzFrwNbcYtP2zi0MYhtYhxsfjfgrFi0Z3EQ+Yek9yBYkXfDAlLbG+D7DQZf7wVfejbkJg/6XOZB215msys79KMEWjABNRRacOVq0ZSAEr2BbOMAABAASURBVFACSqB5EWDPAqW55JoTj88cCmHHx35seN2PLe8FsHtB+F0H/iJ3RnK4NJx30H4gjSEPht3qwcBrvOgxwUKbniZ8yUbYk/4qASUQVwTUUIir6tDMKAEloASUgBJoHgRO7A5hw1tlWP2CH7vmBnFkS8h5BwQnLpeXQPR/TkrufZmF0fd4naFFPSdaaNfXQmKGnJRvuV/dUQJKIK4IMDNqKJBCE4jeG5sAuiapBJSAElACF0QgFLDBdx4s/WcZVj3rx77lIeQftuEvlmijOhAMD9B+kInRd3kw6Ys+DLjKg+z+FlLaGrB8+gSEfpRAMyGghkIzqSjNphKoHQH1pQSUQHMmUJpvY//qAE7tD6H8XQJxUKBAiY19qwJY8KewgXBMeg+Y10q9B5JP9h70u9LC5d/2YdwDPnQZ6UFSpgFPgqGrFkE/SqD5EVBDofnVmeZYCSgBJaAEWiCBYJkYCSuDzpuJt80MIP+oGAssZ1OI9A4Ey4DCEzZ2zvNjwf+VYe1LAZw5YCN66VZOTOaypu36Ghh9rweXPuZz5h6ktDXBJV9hNEXmNU0loATqi4BZXxFpPEpACSgBJaAElMD5E+DKQcHI6kCcCBwoPf+4zjck8+C8+2BfEFtn+bHkb2XY8m4QBUfFcpCvG6/lA1LaGeg8wsLou70Y/3ACuozw6IpFLiDdKoFzEGgup9VQaC41pflUAkpACSiBFk3AMA1wZSAWMugHQiLcbwyhgcDlTY9uDWLLB34seyo8Qbn4ZJR1IL0DvlQgq6eJXhdbzgvRRt3pRfsBlvOiuMbIp6ahBJRA4xIwGzc5TU0JNGcCmncloASUQMMRMOSJ7E0SbVySCJQBwUCUki5uDfF1DYRDG4LYNtOPtS+HJyj7iypSY76Ssgx0HGqi35UejLzNg4HXeZHV3YIRzm6FZ91TAkqgRRGQ21KLKo8WRgkoASWgBJRA7QnEkU8q5J6EcIZCfhuxE4XDZ+rpV2wQDjE6sCaArdKDwBek7V8RQllBRfzMT2oHAz0mWhh0gwdDb/Ki1yQPUtubaiBUYNI9JdCiCZgtunRxXDhthYnjytGsKQEloASagACfC6ZHmujlywnDfJkZJShGA1cdCgVFu6+HfDmTpsVA2PCGH1tnBHFgTQgcYsTeBTf6tI4G+l/lwfBPedF/mgddhlvO6kU0Hlw/ulUC8UpA81V/BNRQqD+WGpMSUAJKQAkogVoToMK+Z0kAa1/xY/WLfqx8zo/ts/3gsqh8L8HWGQEs/msZlvzNj6X/CJ8vPnX+xgLfgXBgXQArnvFjy/tBHN4YMRCiFldKyTac3gNOUO59iYW2vU0kpBqAfKEfJaAEWh0BNRRaXZXHa4E1X0pACSiB1kUgb08Iu+ZJi/6qIA6uE8V9QxCncsOGgB2Es9JQnvg5mRsC5fj2UPj9CnXExJ4I5yVpT5Vhw+sBMJ6S0zbYW+FGldzGwMBrLYx/yIdeF3uQ3smEJ1GtA+hHCbRyAmootPILQIuvBJSAEmgwAhpxjQQSMwxHWXeGGYlhQMU9evhPbGAOTcrsVjfl/dSBEFY868eq5/04sdMGJylHp5GQBvS9wsKkR33oN9XrLHlqeaEfJdAsCYTN7GaZ9bjNtBoKcVs1mjEloASUgBJoyQTSOpjoNNwEX1pWm3J2HWshKcM8p1caHnxR2tYZfiz7RxmObgpVWmrV9ACJmQZ6TQ4bCIOu9TrzD3R40TnRqgcACqF1ETj3Had18dDSKgEloASUgBJoNAK9LvEgUXoWcI4PV0OiYl+TN/ZIFJ20sX9VACueLsOOj4KVVjFyX5LWfZyFcQ95nVWMUrNVDaiJqZ5TAq2dgN4hWsUVoIVUAkpACSiBeCSQJC37vaVl3zBqzl3nUSZS21X/yOacg0ObguBKRutfCyD/UMUgDPYgpHYwQANh9D1eDLvVi4xOZs0J6lkloASUgBDQO4VA0K8SUAJKoNkR0Ay3GALdxlpI71K9peBNBnpO9FRZXn+RjSNbgtg2K4B1r/hxdEvImffgeJYo+aK0rqMtDLnRg0E3eJHZVR/7Dhv9UQJKoFYE9I5RK0z170nu3/UfqcaoBJSAElACzY4A38bcd6oHbPmvKvMdhphI61D5cc2XseXlhrD9owA2vxPAvhVBBIorQnuSgE7DTAy8zoOB13rQvr8Fy1NxXvfik4DmSgnEGwEz3jKk+VECSkAJKAEl0NoIZPc3kT3g7EeyVxT+bmM8iJ7wzGFGOfMD2PiWH7lLgig4Zpf3IhjSCpXVw8Dg6z0YdJ0XXUZYSEgTR/lCP0pACSiBOhI4+65UxwjUuxJQAkpACSgBJXBhBDwJBnpdbMGTWDme9gNNpHU0QAOAy5oe3xnE2lf9yJkbwOl9NoJlFf5pEAy41sLI233oKsZFSjsJp0/5CkC6pwSUQJ0J6C2kzsg0gBJQAi2egBZQCTQyARoCGV1MdJYeADdprlLEY1+ygZDfxtYP+T6E8AvT+D4E15/pBbqPNzHpi170nuxFansD+i4E6EcJKIF6IKCGQj1APK8ojPMKpYGUgBJQAkqghRLwpRjoMsqCV7YsIocjpXUycXJfCPP+tww7Pw6irMAuH2ZEP1m9DUx4xIdht/rEQDDVQED1Hz2jBJRA3QmooVB3ZhpCCSgBJaAElECDEMjoaqDvVAsZ3Qy062cid2nAeWlawWEbkC8TNeTJzdWMBlxj4aL7fGjby4Rp8YyKElACSqB+Ccjtpn4jrN/YNDYloASUgBJQAq2HgDfBQPeLLPS/0oND64PYNT+IQElF+Tm5mZOeR9zmQb+pXiSkGhUndU8JKAElUM8E1FCoZ6C1jU5v7bUlpf5aHAEtkBJQAlUSCAWB0wdDzkTlDW8EcCLHhi1u9GzI0zq9s4HeUzwYcZsX2f0s0I3nVJSAElACDUVAbj0NFbXGqwSUgBJQAkpACdSGQKDMxoG1QWx+L4CceUFwCVQ3XEIq0GWMiSE3edB/qgeJXO4U8fXR3CgBJdAyCaih0IT1qr0KTQhfk1YCSkAJxAmBopMhbJ8dxNYZARzfEaroRbCANr1N9L/Gg8E3eNGujzjogyNOak2zoQRaPAGngGooOBga/8fQm33jQ9cUlYASUALxRMAGjm0PgsOM9iwMoOSUOETyl5AG8L0KQ6Z70H2sBwmRlZAip3WjBJRANQQq/kXVeFDnOhFQQ6FOuOrZsxoL9QxUo4MiUAJKoFkQ4IvSdolxsOmdAI5tDSHoD2eb8w4yexgYerMX/a7wIKOrCdMTPqe/SkAJKIHGJqCGQmMT1/SUgBJQAkqgVRMoyrOx8R0/ts8OIP+IDb5xmUBoEHQcbmLk7V50HGqB71Vg7zP0owSUgBJoIgJqKDQReE1WCSgBJaAEWhcBGgR5uUGsftGPvUuDcN6uHBknwfcgDLjKg9F3eZHW3gSPWxcdLa0SaFUEmk1h1VBowqrSkUdNCF+TVgJKQAk0IgF/sY19KwNY9VwAJ/eEylOmQZDS3sCER7zoO9UD09QnQzkc3VECSqDJCaih0ORVoBloNgQ0o0pACSiB8yBQeJyrGgWcScvRE5Z9KUDnkSYmfd6HtlzR6Dzi1iBKQAkogYYkoIZCQ9I9R9zabnQOQHpaCSgBJdDABBoyels6DvJ2h7D+dT92zQ8iFDVhObWj4fQgcNJyYoY+DRqyHjRuJaAEzp+AGgrnz+7CQ+qz4cIZagxKQAkogTgkwBeoHVwXxPo3/Di+IzIRQfLpSQCyB5oYfL0HPSd54E3SB4Fg0a8SqE8CGlc9ElBDoR5halRKQAkoASWgBErzbexZHMSWGQHkH64wEvhuhB4TLQy6zoP2AyxYXmWlBJSAEohvAmZ8Z69l507bkaLqV3eVgBJQAi2AQOEJGzs/CSBnbgDFJ8VIkC+LlZhpoP80D/pc5kF6RxOGSVcVJaAElEB8E9BbVXzXj+ZOCSgBJdBsCbS2jJ85GMLWD/zYuyyIsgIpfcRISMk2MOIzHnQd60FCmjYRCRn9KgEl0EwIqKHQTCpKs6kElIASUALxSYDvRziZG8L6N/04vDGEQGlFPvmW5XEPepHdz4LHV+Gue0qgmRLQbLcyAmootLIK1+IqASWgBJRA/RGgkXA8J4iVz/lxcreNULAi7vDSpwlIzTZ1qFEFFt1TAkqgGREwm1FeW1xWDaORiqTJKAEloASUQL0TCPrhvERtxb/9KDkVGWck93VvEtDvSgvDP+WFpb0I9c5dI1QCSqDxCKih0HisNSUloASUQL0R0IialkBZoY2c+X6sfyWAYGSoEScoJ7cx0P9qD/pM8ejSp01bRZq6ElAC9UBADYV6gHi+UUjD0/kG1XBKQAkoASXQRASKpfcgZ14AO2YHwaFHzIZpARldDQy81oMe4y14Ew06qyiBuhBQv0og7giooRB3VaIZUgJKQAkogXglUHjcdpY+3bMoiFAgnEvTA7TtZ2LgNR50GmbB8qqRECajv0pACTR3AmZzL0CT518zoASUgBJQAq2CQP6REHbODWDfymD5ykYcbtR+YNhI4MpGpvQstAoYWkgloARaBQE1FFpFNWshlYASqAsB9asEYgnQSNjxcQAH14qRUFJxttMIE4Ou8yCzqzxOtSOhAozuKQEl0CIIyJ2tRZSjWRZCVz1qltWmmVYCSqCVESg4GsK2DwM4vCGEQJSR0H28iSE3eJHaXh+lzeCS0CwqASVwHgT07nYe0DSIElACSkAJtA4ChSdC2PCmH0c2hxAsi5RZeg56XWph0PVeJGYYEUfdKAEloARaHoH4NhRaHm8tkRJQAkpACTQTAiVnbKx6zo/jO2y4L1JjT3Cfyy0MuMoDX7IaCc2kKjWbSkAJnCcBNRTOE5wGUwJK4PwIaCglEPcEbIA9CUueLMPp/XIQybAnEehzhYW+l3l0+dMIE90oASXQsgmoodCy61dLpwSUgBJQAnUkkH80hNUv+FFwOGIkSMeBLw3gcKPek6UnIUUc6hhnC/euxVMCSqCFElBDoYVWrBZLCSgBJaAE6k7gzOEQNr3jx+l9FUZCQrqB3pd40PtiDxLUSKg7VA2hBJRAMyQQzrIaCmEOTfLLsa5NkrAmqgSUgBJQAmcRoJGwfVYAJ3Js2BE7wZcM9LrYQs9JFnxqJEA/SiCuCUT+t3Gdx2aWOTUUmlmFaXaVQE0E9JwSUALnR6DgmI1d84I4ti2EUCAch+kVI+ESMRImWPAmGWFH/VUCSiBuCTh2gvMTt1lsdhlTQ6HZVZlmWAkoASWgBOqTQNFJG7sXBHBoQxCB0kjMYhf0mSJGwsUeeJt2daNIhnSjBJSAEmh8AmooND7z8hTlOVS+rztKQAkoASXQ+ARKC2zsWRTA/tViJES9TI1GQp9LPfCpkdD4laIpKoEWT6D5FFANheZTV5pTJaAElIASqEcCgVIbucsC2LO4spHQY5KJflOlJ0GHG9UjbY1KCSiB5khADYXmWGua5ybgJRulAAAQAElEQVQhoIkqASXQcgjYITi9CNs/DCJYVlGuLqNNDLjKq3MSKpDonhJQAq2YgBoKTVj5uupRE8LXpJWAEmi1BGgkHFwXwMa3A+WrG5kW0HFo2EhISNWBoa324tCCKwElUImAGgqVcDT+gRoLjc9cU1QCSqD1EuCyp8dzglj/RgC2u7qRB2jX30S/aR6ktDNaLxwtuRJoEQS0EPVJQA2F+qSpcSkBJaAElEBcEzi1L4SNbwYQKA5nkz0JWT1N9J3qQWZnfSSGqeivElACSiBMQO+KYQ7628QENHkloASUQEMTyD8awrZZARQeCy+0zh7d1A4G+k6x0EaMBWhnQkNXgcavBJRAMyOghkITV5g+l5q4AjR5JaAEGopAXMVbfNp2XqiWlxMqn5fgSzPQ+zIP2vWzQKMhrjKsmVECSkAJxAEBNRTioBI0C0pACSgBJdBwBPwlNvYuCzovVAv6w+mYHqD3pSY6DbPA4UdhV/1VAkqgZgJ6trURMFtbgeOtvNqjEG81ovlRAkqgJREIBYGD60LYuzwIf1FFybqNs9BjggceX4Wb7ikBJaAElEBlAmooVObR+EeNYCk0fqE0RSWgBJRA0xNwVjjaGcSu+QGUnA7PS2Cu2vYzMeg6L7yJegMmDxUloASUQHUE1FCojoy6KwEloATil4DmrBYE8o+EsOOjAAqOiJEgXwZJyTYw5i4aCTxSUQJKQAkogZoIqKFQEx09pwSUgBJQAs2SQMmZyOTlXRELQUqRmAWMuM0Dn75QTWjoN/4IaI6UQPwRUEOhietEO76buAI0eSWgBFocgVAA2L8q6IhbuIQ0AwOv9iCzm65w5DLRrRJQAkrgXATUUDgXoXOc19NKQAkoASUQXwSO7wxi59wg7FA4X95koMdECx0GW7A8YTf9VQJKQAkogXMTMM/tRX0oASWgBFoVAS1sMyZQcDyELTMC8BeGhxxxGdQOg0x0HWPBl6x9uNCPElACSqAOBNRQqAOshvCqj62GoKpxKgEl0BoJ8H0J22YGcOZA2EiA3GAzuprgMqjJbeSgNULRMkcI6Ka1EIj8+1tLcRu8nGooNDjicySgz65zANLTSkAJKIFaEBDtYM/iAI5siow3kiCJGQa6j7OQ2c2EvnlZgOhXCSgBJVBHAmYd/Teqd01MCSgBJaAElEBtCBzZGsTeZSEEy8K+LS/QcYiJziMscPhR2FV/lYASUAJKoC4EzLp4Vr/1T0A7FOqfqcYY1wQ0c0qg3gkU5YWQMy+I4jzpVmDscmNN62Sg3xUeeBLooKIElIASUALnQ0ANhfOhpmGUgBJQAkogLggE/TZ2LQjiZG4IfBMzM0XjYMhNXiSmGzxUaXACmoASUAItlYAaCi21ZrVcSkAJKIEWTiAUBA6sDeHwhhBC/nBhTQvoN82DNj308RYmor9KQAkogfMgEAmid9IICN0oASWgBJRA8yHA3oPT+0PYtyKI4lPhIUecsNxhqIk+k8VaaD5F0ZwqASWgBOKWgBoKTVw1fLA1cRY0+ZZDQEuiBFoNgbJCG/vXBHFyT8UqRxldDQy63gPD1CFHreZC0IIqASXQoATUUGhQvBq5ElACSkAJ1DeBUAA4sTOEQ+tDcN++zKVQOXk5ObOlPdbqm57GpwSUgBKoPQG9o9aelfpUAkpACSiBBiJQUlKC06dPIy/vBE6ezENBQQGCwWCVqRWfDmHPkgBKz0SGHFlAt4sstO1rSm9ClUHUUQkoASUQPwSaUU7MZpRXzaoSUAJKQAm0AAKhUAhHjhzBokUL8cLzz+G3v/lv/Ozxn+KXv/gZ/t8vf4lf/fIX+MXPH5fjn+OJv/4F77/3LjZv3oyysjJwAvO+lUGc3BM2EoijbS++L8GEN0GHHEE/SkAJKIF6JKCGQj3C1KhaNAEtnBJQAhdIgIr+6lWr8Pvf/w4//MH38H9//ANeeuk/mD1rJpYtXYJVK1di9epVoJ8Vy5djwfx5eOedt/HPp/4hBsTP8Z1vfRPP/+slbPjksGMwMDsJaUDXsRZS28vjTO0EIlFRAkpACdQbAbmz1ltcGtH5ENAH2/lQ0zBKQAk0MwIrVizH9777Hfz0Jz/CrA9nYFdODo4dO4bCggJ4vAno2Xcgho2ZgJHjJ2PERRdjwJCRyGrbHoFAAKdOncLBgwexYcN6vPjqP/H86sewYP9TOOM/gg6DLbQfaILLotYdiYZQAkpACSiBmgiooVATnUY4p3ZCI0DWJJSAEmgSArZtI+/ECekN+AW+++1vYe2a1SgqKoJhmujdfzA+fd8X8ZPf/RN/ePpt/ODXf8NXvv9rPPrtX+BL3/0VvvmzP+K/nngJv3nyNTz6vV/h4qnXITEpWQwHP/LLjmLl4Vfw3r4f4oB3PuAtg36UgBJQAg4B/alXAma9xqaRKQEloASUgBIQApycvHjRIjz22Nfw0UdzYIpxkNU2G+MnT8PXf/w7fPvn/4erbrwdXXv0gWV5JETV37T0TIwcezE+++h3xHB4Bbc/8BV0793fMRqO5O3FX5/8rTM0iT0OnPtQdSzqqgSUgBJQAudDQA2F86FWj2G0R8GBqT9KQAm0IAJnzpzBu++8jT/+4XfYt3cvkpJTMWTUODz4lR/gga98H/0GDYPlqd44qA5FckoKLr/2Fnz9R7/FtbfejU7deqDM78frr72Kvz3xF+Tk5IC9GNWFV3cloASUgBKoGwE1FOrGS30rASWgBJRADQROnTqF9959B6++8jJOnDiBTl2646qbbsfDX/sxBgwdBcO48OaR1PQMTJt+G+566OsYPmaC9C6kYOGCBXjqyb8jZ+fOGnKnp5SAElACSqAuBNRQqAst9asElIASUALVEuC7D+bMnoV33n4Lx48fdyYo33TnQ7j6pjulVyGl2nDnc8Lj8aL/kJG4+c7PYfylVyI5JQ2cMP3k3/+G3Nw95xOlhlECSuBcBPR8qyOghkJTV/mFN641dQk0fSWgBJQA/H4/1qxZjTfffANHjx5Fr36DcMNnPist/pNgWVaDEDIMAx3ZY3HjHRg3+UokJCZh5coV+OdTTzkvb2uQRDVSJaAElEArIhA3hgInvhUWFlb7Js6WWie0E+RZ15DF07iVgBJQAg1OgC9Qe+Wl/+DQwYPo3K0npk2/HYOGjYbH623wtNu174hrbr7TWVbVNC0sX7YUb77+OnRyc8OityX6/FIbpQHuyYF+lYASaHEEzKYsESed5ebm4o033sCzzz6LF198ES+99JK0Sq1BcXFxnbPG+Pbs2YPZs2fXSj755BPs3r37LOOE3efz5s2rMY6PPvoIBw4cqHMeNYASUAJK4MIJxFcM7E3g5OWtW7ciJTUNEy69CsNGj4fXl9BoGW3Trj1uuv0BZHfsDL7Ybc5Hs7F27doGTz+vyMZTS/z43cdlleS9TQEUldkNnn5TJbA7L4Q/zfPjF+/6sfVoyy1nU/HVdJVAvBBoMkMhGAxixYoVeO2117B3715MnToV06dPR2JioqOgz507F/n5+XXixDg3bNiAZcuW1Uo2btwI9mKYZmUMu3btwuLFi2uMg+nEhqtTZtWzElACSqCFEGCDC+clsAV/wNDRmHDZVc4woMYuXrsOnXHng19xkj1y+DDeevMN570NjkMD/WQmGZjSz8LBkzZmrAyVy9KcEEoCDZRoE0Ubsm1sOhzEz2eU4bHny/Du8iB2HbFR7FdDoV6qRCNRAnFIoLKG3IgZ3Lx5MxYsWAC23vfu3Rt9+vRBdnY2+vbt64xnXb16NVauXAkOSaptttiKdFgeDjQYaiPp6elo165dpVU4+KBj3hhXTXF06tTJyW9t81aTPw4/qum8nlMCSkAJxDOBl/7zIkpLS5EtivqkKVcjs027JsmuYRgYPHIcJk65yukp5gpIq1etbNC8mHID75xuYEQXC5D9QBCgBEM2RK9GS/hwaNGq/UH88B0/vvGCHx+vDeFUIeBvYYZQS6grLYMSqG8CTWIocMk8dgnzDZ0sUOfOnWEYhmMgZGRkICkpCYFAAOvXrwfHvXJIEWrx4bJ8FMMwnLh8Ph8SEhIqCd0gH6/Xi/bt2yMzM1OOKr7Hjh1zhhTRX2xY95j5GzZsGDweT0VA3VMCSkAJtEICBw8cwIL585x7bvc+/TFoxNgmp3DNzXeDE5uPHj2C5dLDXFpS0qB5orGQ4GnQJJoscs5BmLkliNkiKQlAZoohz+smy44mrASUQCMTaHRDgUo/hxpRIWfrPctLxZtbChX4BFHuuX/69GlwzCtb9nl8LqFRwThpeAwdOhTjx4/HJZdcgsmTJ5cLFXzLshxjhL0CblqMm3nbsWOH8wbRiRMnloeJDs/9yy+/HL169WIQFSWgBFocAS1QXQh88MH7Tut9Slo6xky4DF6vry7BG8Rvuw6dMOKiSU6+du3KQY5IgyQUG6kR69D8j9MSDNw4zIPvTfPhB1f7cOVwE4m+5l8uLYESUAK1I9DohgKHEh06dKh8SJFhGE5LFCIfwzAcRR3yoeLOycm1mdhMvzQUaCDccsstuOmmm5x5DzQULr74YriSlZUl3cE22HNBQ8EwKu7sTIeGQteuXTF27FjH0HDDRW8vuugix9CQLOpXCSgBJdBqCXCIJnsTDMNAm3YdnBeqxQMMy/KI0TIFfPvz/v0HwCFIfEbEQ96acx7Yc5IlPQqeRtcc6oGaRqEElMB5EWj0vzsnD588edIZWsQcG4ZRbhhAPoZhSLemIXvhL4cScahS+Kj6Xz4EOJSICn3btm0rxeGG4kNt586dTnr0Gzvs6ODBg2BPB3sy5s+fj4ULF4JzJWisMN9Mw42rXrcVxa3XaDUyJaAElEBDEti/f79zz+TCDr37D0ZqWkZDJlfruJmfLj16o212R+Tnn3GGk57P8CNO0l1/MIhZW4N4d0MQHIKz/mAIhRewmlHQBo4V2Fi1L1Qp3pV7g8gvkZPVlDIkp3YeD2G25OX9jUEs2hXEkXwbJwptbDly9sRp5nHdgRA+3BzEjE1BrN4fdPJ94LSNTYdD1aRybmdLnlfymD63R/WhBJRAiyDQ6IYCJy9HK92GYTiKO6I+hiF3IsBx4QS5vLw8Z7+mH8MwMGTIEKenoDp/NALY68DhRt26dYPP5yv3yuFNOTk5zoQ8LnvKFZloLHAZ1FmzZoFbDoNifsoD1WGHPSlM352XQeNn+/bt2LZtG3J370JRYWG1sXE41aGDB7Bz+7azZHfOThQWFNQY9uiRw8jZUXXYU2K0Mf6qIqD7ybwT2J2z46x0d+3cjmNHjzhd+1WFpVtBfr6E3XlWWJaD5WH89FeVFBUVYveuKsJKOQ4e2O8sf1hVOLqVlBRj/7692Cl+mVa5yPHe3D0oLiqityqFc2OYt7PCCvtdwqGwsGbWhw8dRHl6EsbdZz2dOX3K6c2qKmGyOHH8GJiGG8bd0o3nQsFgVUGdOM+cPn3+rOXa2yXXkZte9Pbgwf3Oi7SqTFgci4uLZLdDOgAAEABJREFUsG/vHpzFS1jv35eLkhqWOabhzro8K6xwY92f8z9xqPr/BJVDASM5PPtL1sePHQGv4eiycp/Xep5c8/Rzdkg46/KfOnWyStb8jx05fKjG/0ShsOa1wLRi5ZCwri5d5qVI/hO5e3ZVyfrA/r3lvbT0GytUkg/s31dlWMZZE+vYuKKPt2/b6jAxTQu9+w+JPtXk+4lJyejeq59cBjaOyD3wpNRbXTK1Q5Tyv88P4Kl5AczbGcQn2wP4pxz/ZY4fzy0N4ODpEER3r0uUOFVsi9IewL8WM84AtoqC/8HGAJ78xI+/fiTxLwy7xU6CDoheP3NrAH8RPy8tD2CdGC/zJU//XuzH3+b68da6AApKK3JzssjGa6sD+Luc+3BTAOsPBfGeGDpPSv7pf862qu8ltSlMxdO5Nr7VjxJQAs2dQKMbCsWiOMQq24ZRcesxjIp9wmUr/qlTp7hboxiG4UxaNozK4aMDsTeBCntaWho4j8EwKvyyF2Hfvn3OQwWRD9OmYs+hUpxYPWfOHHClJj7sI15qtckXhXnRokWg4cHeFAbatWsXGB+NkDmzPsS8T+aAyiDPRQvzsHTxAsz+8D3M/XjWWfLxRzPx/rtvVhmWSsfaNSsxe+YH+OSjKsLOmYlZH76L/XtznYd9dLpUSneLoj575vv4WNKITfsTiW/OrA+wacM60G90WO4fP3YMM95/q8qwjIvlYblYPvqPFnKYM2sGPpb80W8lkXRnf/g+li9ZKIrR2e/aOC3KOOOdI3mbK35jw340ewYWLfgENICi0+Q+jcXlSxcJE2EdG1bYfyL5+fD9t3H82FF6ryQsx8oVS4X1+2fVEfPwsTD88IN3cUiUW/qNDkx+27dtAfPMNOg/WujGetgmfpjH6LCMi8bJzBnvgmlEh3P350j9r1y+5Kw6Zjwnjh/Hhx+8LdfHh1Xmm6yXCevYdBn25MkTwnKu5HsGqmLNdJcsno/TlRQ0hoRTdyuWLQ7zqoI16548qmO9fOlCzJ5RPesZ772FY1XUE/8Tmzeul3RnSJmr/k+wzDTOYsvMsDRAZ814r0rWn0g5mGf+5+g3XNKK37wTx/HBu29UGZZ1NUuu6yWL5le6B7mhGXa+3CM+ni31JOnQf7nIMf/j/E/QOHfDuNuCgnwsr461hP1I4qzu/uPGUd12z549znVlWia69uhTnbcmcff5EtCxS3cnbV7np8WYdg5q8bPtaEgUdz8+WBOEIU3od4314JohHiRYwLYDNt5eFcRLIiV1WBb0tBgJr6wK4LlFQRRKz8HU/hY+M8qDe8Z7AHkU7TpsY8baIP4jRsjeU2IZoOKzRnoDnl8YxIbcEEb2MHHvOA8+NdKDjhkG1u+zkXvcRjAShNtPdgTxxoqgszLRFQMt3C35v3m4B4WS32U7QjguPRoVseueEmg5BCrM5ZZTpqYuidmYGaBSQyOBL+dx0zUMA4ZhuIdVbuuqmFcVCQ2UXaKcG4YBzk3gXIVof+xC54OEeYx2d/epNORJzwaXbOWL2tga6p6racv4uGQrwx0XpYwt1vRPg4XxUY5LSzIVxa1bN/FUJaGCQCXPaRE7mYeTMcLze3N3O4pApYByQCVry6YNYEtlbDge5+UdB1vYN6xf4yhuEqT8S+WCYXk+78SJs9OVVle2UG7dsgknRAEqDxjZWbliCXL37EaenGNascLyrF29AuyViAQp32wU44OtvdWFPXr0MFavWi4K+7FKShVZH9i3FxvWrXXijU2Tx2SyedNGsAWd/ssTlZ2TUqaVy5eCPTD0Gyt5cn6P9P6sWbVCfFf+soV64/q1oNIeG47HLAvrae2qlWe1OJ8SRXrr5o3SMp8LpkH/0UI3Kqj0Q7/RKdPIWLd2lbDeVS3rw4cPYoPkrSrWa9eskJ4bhj27jpkHsli9chlovEWnS3a7pQeO1wiZ0m+sUFFnusx7tOLMsFTcVq1YVj1ruW6orG/csDY6WWf/uBihq1eukFbiQ2ddl8xDmPUerBDjyAkQ9cNzW4T1gf17q2XNHpLNGzcgVunmf3aT5If1yHiYVqwckp4/MqmKNfNT03+CrFeJsXlCyheVZWd329bN4D2C94rYNHnM9GigsK5DdkRjlJBkffTwYbj/NfqNFdYt42YaEqRO34MHDzqGguXxOi86q1PgBvbMSdWc1MxkTp06LfVZfW8g/bjCF6ixx2BDrg2ivKS/gUEdTPRvb6BzZvhZVVwCLNgaxKEztVNLOGyIQ43eXxPE0ZM2TkmLf4JHnkXpBkZ1NdE+Em+pH6L4h7BSDAKGYZ64NClXHDqcJ/kRB3mEoVO6gX7tTdwoyv+EfiYME+WGwhkxQmZuDOK0FJdxJPsk3xkmhnU28dkJHnTvYIAGTmyvhUR9/l8NqQTiiEDt/pVxlOE4z4rcXhovh3xoUeHmti6pRhsWdQkX7ffo0aM4Jg9gy5Iu8t69Ky1tSiUmNTXVmbw8adIkjBgxwjEmuAJTdBzcp6Gzbt06rF27lofnFMbNHgUqGTV5LisrBYeP0H+0v1OiRDLNaLfYffI8evhQrDOo7BcXFYHnzzoZceC5k2IAuQZMxNkZ2nP69Klzhi0qLEChiBvO3VLpYdzucVVblquq1mYq7LH5iQ3PsGckf5LB8lNUmpkXDj0qd6xip7S0xGHDazH6dJi1aADRjjH7IXm6Hjt+do/CGWmtPFe65HFcwnIbHS2NWCqlse7RfniuIP8MSoorD5tifqg483y0/9h9Dj1hfca6H5f/hU1tKPZE1HFpaSlOiYEa5eQoh7y+znVdM10ON2TdRIfPP3MapVIP0W6x+7wG8sRIjXU/ffrkOcPaUk8cBhQbtqiwEEVyvfJ87Dn3mOeYBv+Trhu3wYDfMUx4nsdVCc+F6/PMWadpHPP8WSeiHEqFdV4Ma4Y5I9c6z0V5PWuX51knITYpR87yflJQmC8NATVf1yzrGbmG6T8StFabIuHJ/CUkJsXFakfRmTallyM5OdVxYvlq+xxZkBPEhj0h8F0IiQlA32wTnMSbkWigYybk2eFECX+QQ9HC++f6ZZWs2x9ylHe5NLHjkI11+0LOi8p8FpDgrYihuAw4lm9L/GF1p6AU2Cc9BlT6OfpwzroQXl4dBA2IrGQDVwwynZ4FvreBsdDQOShGBfePnrLx8vIAVuQGwbkRXTNNfOYiCxwzFWCE9KSiBJSAEqiCgOtkujuNtTVNs8YeBD50KNH58Xikazba4Tz2d+/e7Si/fMkaVzWKjoJ54kvfuELStGnTcPPNN+Nzn/scHn30UUyZMgXsfTCMcEsSw1GBWbVqFc6cOVsZ4PlooWHCydWpYogYRkUc0X64n5ycjOzs9mBeEPXp3KUbvL6KuRRRp8p3DcNAr959y4/dnXbt2iPlHOkahoFOXbpWmq/B8ElJyWjfvmONdWUYBtIzMpHVpi2DVJJevfrUGJae2eLXqXNX7laSTp27OMPIKjnGHCQlJSG7fQcYcj25pyy5TjIz2yA1Nc11qnKbnJIiddpGHviVr6tOnSTdxMQqw7iOHstC9+493cPybfuOnZGYkFR+XNWOYRhO2Ng6TktPR1Y1E/DdeAzDQJu27ZCWluE6OVvG1a17j3OyTpRydZQ8OoGifrr16AFeo1FOZ+0mJCSis1wj0ScYpo3U+7lYpziss+DxesuDG4aBtnKtJ8k1X+5YxY4vIQG8FmJPdZZrxuv1xTpXOjYMA72r+E9ktmnjXLOGYVTyH31gGIZz7cfmz+sL58cwag6bkpKKdtkdoqN09nv3rsV/wudD127dHf/uj2EYcq13BK9b162qbXJyCtq2aYfo+yXrKSurLZinqsK4bslSF9nt2591/3HPV7flvZDnvB4fN3ElBoxyFsFQSIxb0ezPkUO2xq/aHUJBxK6SWwq4PCiDZYpSPnWwB8N7Gmgjf8MbR1volmXyVK2E7yCIul2BxochIWkOUGTX+dKQ4IvMaFzQgX7kEuCuI6cKbDw3P4D//diPQ6dD6C89CzcNt5Ah+aOHaP9SbGzfb+PXHwTw7oYAivw2Jve2cPNIy0mf/lWUgBJQAjURMGs6Wd/nqNR4RWHgti5xU9moi/9Yv4XS6rV37155UITQrVs30FiI9RN7bBgGMjMzcemll+L2228Hl13lJGjX36lTp3DkyBH3sMYthzpNnToVHTp0KH9wUXFj/DRC2mVnY+ToizBs+Kiz4kkShfimWz4DKkcZmVmIlUxxGz5iNCZefOlZYdMzMnDx5MvRo2cvKcvZYbOy2mDwkGEYPeYiJEqLYHQENDBGjh6LQYOHOkp1hqQTLZkStneffhg3YRIyMjKjgzr74yZeghEjR4P+osO5+53EGLjhxluQmpbm+I/+GSksRowaAxogrv/oLcNeMe1a53x0OO73kLJOmDQZHTp2OosV42gvxsVF4yZiwMDB9F5JklOScd0NN9fIetiIURg3flKlcDzgvJcrrroWXbp2rzJdchg6bATGStpU3hjGlfT0DKmDceg/YFCVrFlP/foPxKgx48A6dcNxy7jGjB0v185IZGW1qTLtLl27Yeq0a84Ky/Bjx03C8JFjwOuIfGKFrK+5/kZRUlPpvZL0k/yOHTcB7Tt0rDLdDh06YfykS9FDjMZKAeWAZbryquvA+GPT5DHrntf1aCmbeK/0TRbj44abPyVhu1aZLssybPhISXtypXA8IGtes3369kemXMNMK1qYr4GDhmCU/CdijaBEMbZGjroIQ4aOkGvvbNZMt3uPnvKfmyL5Ovs/MX7iZPC6pr/oNN19srjxpk8jWZR25jVahsi1M0r+F+3EwHL9R287duqMyVOuQAfZRofjfsdOnXCpnKOf6DDufrt22ZKvizB02Eh6r5OYlun4D4YCzjaefqh8u72GptzPjWgtvZqMHhMl/NgZW54VYQ+MI7wHMTuAEZ1N/P4zCXjj0UQ8crEXCR7U6uOxgOuGWJg63ESvDgamDjFxUU9TegWADQdDOBHV5sQ0KwaPAelJQG8JE0HtpFcivQwz14bw6xl+sKeCQ6PSE2giANmpBnpkG5AiO375c/K0jb/MDuBPn0ivWLGNST09sEyDp1SUgBJQAjUSCN/la/RSvyd90mJGY6G6WNmbQIk+X9WDM/r8ufap0Ofl5YFKVf/+/evUamYYhqPgU9EfNGiQdK97neT4ADp58qSzf64flnnUqFGYPn06OslDm/5HjhyJhx56COy5uP+Bhx3lIkEUEZ6LlV7SMnrHPffjvgc+h/vuryyffegLuOraG6rtdaDi8qnb7sa9MeGceB54BNdcf5MoPW1jk3SOs0WpvlYU5/vEn+M/Jo6bP3W7tH72cPzG/tCouvLq63H/g58/K88sx133PoieUq7YcDxm2EunXInq0r3j7vsxSAwcD5v7GCBK2Ao9SpS8O+95oMrwd933kBg3F6Mq1oZhom+/AQizfgSxZSbrK0W5ZRpRSZbv0ki54+7PguU7Ky4bAfkAABAASURBVKxwuPq6G6s0jBgBlcQbbvoU7n3g7HTpNv3mTyO2VZ/hKDS2rrp2Ou6TNGLTZV7Iq2cVyjrD8tq8QoyI++U6qirsnXLd0YAxq1CyEqTF/yIxmliXVYa99wGMGTsO9Me0ooV1N1AUcubtrLC8zoTDlKnTqgzLeHr27I27JH6WLzY8y0IeVOzpN1ZozN10622IDeccS7rXTb/FMX5iw/E4S3okrhHD6b4HPn9WeP7HPn37Peghxir9xgrve9PkP8HryEmL5XRF/tt3yjXbu2+/2GDOMRlOuuQy3C3X71lhJQ6GHS5GLOvTCRD14/X6MHT4SNBPVbzu/uzDuOTSKajqPxEVTZW7SXLPMgwDZaWlZ829qTJAIzpyGFVpZHgb2fOaO1fy7FEoEiWcrfr0GxD7J3o1IbqdjxgSqGumiR9d68M/7k/AA2JkHBLl/X9Fcf/zxwGczqd5IJ6q+HpEob9+qAc9xFgQ1OU+QtJBsn63jT9/FMCCnSExOsJxcE7CjSMstMswEO0/4AdmrhHj4kM/uMxq2Hd5dLqjBJSAEqiSQKMbCqmpqZVazGgUUKrMnTjyBt+2bdWKrJw+55cKPXsTOJY6MzMTXbp0OWeYqjwwLF+0xrwYhuF4YdzOTi1/qGxR6J3lSpLeAopPHuR0q0lo5CRKq3+ihIkWnxheNYXjOaYZHcbdp8LLc/RTnfA8/blh3C2VCp6rLhzdDcNwDBg3TPlWynGusAzPspWHiSp3bR745JsoSkxseLoz7pokzDoRsWGZn5rC8RzLlSjlqyqsYYSvG/qrShg2QZTv2LB047mqwrhuhmE4w8diwzIv5wrLOLw+31nlZVjLOneTKZlWlS7dGXdNwro8K6zU9YWw9vp8oiDVgnUV1wev9XPxMgyjataS73OFJQuW7awyyzXD647na5Iqw0q65FhTOJ6jH9ZpbNqMk+fPR7Lbt3dYl4lCfirv+PlE0WBhAv4y5B0P9/qmpaVXeu5UlyjH8UdP2fGLcn20BiW+uniqcy+W+DYcCOLZJQH8YZYfB/Ns3D7OQs9ONV+vA9ubeOgyDwZ3M2BZqPTZd9TGC0sDyDkecqZsWSYwqbeF28Zb6NrOQLSNTwNowy4bTy4IgEuoQj9KQAk0CYHmlKjcUho3u6liKKSnp8vNK5w0jQS2/ETngm7ucUpKCqicu8d13XIiJZc35US2Xr16gUNE6hqH659Dh7p37+48GA3DAPPmntOtElACSqC1EejRvadzL+c9/OC+3XFVfH9ZGY4c3O/kqU3bNkhPz3D2a/pJ8hrweip8cELz1iM26mPeL1+A9vG2IJ74JAAuu5qaYOCuCR5M7mOdpfxX5CC8J48bTOpp4dErvLhimInU5LC7+7tXjIXle0LOhGW6pfgMXDfUwv2TPRjR00SCj64Vsik3BL44rsJF95SAElACVRMwq3ZuOFcOI8rOznZa5JgKjQIq8dyn8JhbVzp27AgaF+4xewb4PoQ1a9aA7z2IDuv6id5ypaO8vDxnbkDfvn0dJT/6fPQ+4+Z8htg8uH7Y4kdjwZQmGpajvbSmued029IJaPmUgBKIJdC3Xz8xFCyEQkHs2bk19nSTHnPY0f7cHCcP7dt3QFZWlrNf00+bZAMZKYaUCc6HBsL2gyEcK4ieNeCcqtMP41m5N4QXFgew/YDtGAaX9DcxsqsJn6fmqDipefX+IDgsanBHEw9e7MVdEz3oFjUPgash7ZHeCU5e5mpIq/YFYYl1Mbmvhc9JT8S04SbSUyrSKZOejdy8UIVDHfZ0yFIdYKlXJdACCDS6oeDxeNCjRw9wKI9hGNJValdauo8tU+6QHg5doHLPLVnz3QVclnTWrFn45JNPMHPmTOzYsQPuyhv0Ey10Z28ClX/2SnSKzA+I9uPu810HM2bMwOuvv46aXqpGI4FhevbseUE9HYzDFcHg7upWCSgBJdBsCPTu0wfJKcnOSxe3b14HtuLHQ+bZ2HPi2GEc2p8LDu/kvT9FeqfPyluMQ1sxEvp3MpDgDZ/gUJ19x2ws3CWt9TF69dECG/tiXowWDnX2L5X3mZuCOCTKPM8mJwA92hpgyz+PmQ63VQmXQJ63I4gVYmgY4qFDugHOQbh7kjxL29NFHOWb6JEfOSwLADO3BLH9WAhcenVQBxP3TvDi+lEWUhLFj3zFGxI8/JWDOn5p9ETnl/uUOkaj3pWAEmgmBMymyCdv2tEGAFv8mQ/e3NmqT+ExlfHevXtL6044m3wfwaZNm5z3IXCfL/vZtm0bSktL6f0s4bAjGgA8T+OED4yzPIkDjRPGs337dnAZ1SVLloDGSOxkZRownBjNHo5x48bB6408TSQO/SoBJaAEWhsBKt+cu8V797HDB7B755a4QBAMBrB+5RJw7gRXfYp+jtSUQSrWU/pb6NjGkN7nsM/8YjhDhZbsCSIQMRZyT4bw7yUBnCgMt6/zl/Mb+H6CcCiAPQF053FRGbD/pC0NYzwC+GK1k0WAX7RuDgHaL8ZI+AwcP+wZcMNapgGGf2l5AIfzQzDEI4ctXdTTxLBupvSWQ55FwOBOpvQiQJ6XwIFTNmZsCOBUsQ02RHVIMzBtsIXsTAMGIMYTMKgj9+Sgjl/mRbJdHor7JdJDUe6gO0qgiQlo8vVLwKzf6GoXGyfPUdHmzdswDOTm5qKoqMh5zwEVcSr4HOIzYcIEZGRkVIqUvQSuAx9OQfa5ug4x2xMnTuD48eNyE/WChgKHDsV4cQ4Nw0BiYiIMI3zjpKGyefNmfPDBB2CPBD0xLfZe7N+/H1dddRU6d+5MZxUloASUQKsmcN31Nzjlzz9zCquWzHX2m/qnRJ4nS+fPdLLBe3//AQOd/dr88L0Ed06Q1veksG8q7bsP2/jt+3489lopvvNWGX70ph8d00XZ7mA5nmhAHJcehujH0fECoMRvO+c59yEjOfx8oUNxCfCfpQH84O0yfLI9iP5dKh7FXGlpyY4Qnlzkx+4TIYid4LT+7z5o4+fvB7AnMmSIhgh7D5i/Id0NjO1uwpJoLAlg2AbmbwnhWUnDNWZKpaeBcduSgYsHmRgsPQ2yW6cvDY+dR7jCUkWw4jIbmw7SjTFXuOueElACLYOA3FaapiCcVDx9+nSMHDnS6SF4+eWX8dZbb2HFihXgC9Guu+469OwZnijn5pAt+YMHD3aUeir96enpGDhwoHPs+nG3NChoJFDpp9HRvn37ckPA9eNuDcNw8jF+/HgkJyeDcbOXgb0LzNdrr72Gt99+Gzk5OWC+mKZhVNz03Xh0e74ENJwSUALNlcDw4SMwQO7DHHa0c8sG7N21vWmLYttY+PEHOHPqJNq0aYNRo0aDz4raZkr0bFw10IPv3+hBp2zAa0GeHUCB9ABszbVx4ISNO8dbuGOMVxR44JgYCP89y49Z64POfIMEL0A5eNTG4+/5sSw3iERx+/QoE5liXPCdCpYpPQ5BYIAo6w9P9OLui6zwOXG35NFSJkp9ZpIJDoWCfDhUqX8PQ+K18e1Xy/CNN0rxk3fLsFCMjGE9DXzuUq8YLqb4BCQ4slKBXp0NbDgQwjdeK8N3xCD5heTlRL6NK0ebeHSyV8pFnzjnh8bO/JwgfjlT0pW0V4oRwzyyjBTBjZlrg2JEleEfi/3YJ70t54xUPSiBhiJAe5XSUPG3wnjDd5YmKjiV8htvvBEPPvigo6izh+Hmm2/GbbfdBq4uZJqVs8dlIqnM8zwV9jvuuAODBg1yFPvYInAuBP0+9thjeOCBB8AHRqyf6GPGfdlll+ELX/gCbr31VkybNg1XXHEF6DZmzBinF+H6668Hh00ZRu1usNHx674SUAJKoKUSuOOOO52e28MH92LRJzNQUlwENFFhDx/chxlvPA/DMNFDGpvGS8/0+WTl4l4e/PuzCfj5Z7x48EoPHrrScvafuNuH64Z4kOAJx8oXnP1yug/vfS0RM79VIR/K/lP3JGB8D8vpFbikjwf/c7sPn7/Kg69e58Gf7/Hhcxd7kZFkYGgnC3+SeB+Rc5+7ysKvPu3FPRd5kJ4YftZc1tfCj6714ve3JuAPEgeHR13a38SPb/LiVzf7MKSj6aTBHHlM4NOjPPj5DT786Q4fvjnNg7E9TNw8xsIfJc0fXOVDWkI4XtTik+g1cGkfSf9qH/51XwLef6yijG5535Wy//WOBHxukhfdsiQDtYhXvSgBJdA8CMTFP5qt/XwhGce6cglTKu3V4eOwJfoZPXq0o7Sz9b86v+fjzp4O9lpw2NPEiROlNWoUmB6NmvOJT8MoASWgBFo6gfETJuKii8Y5k5k3rl6GdSsXIcA3fDVywQvyT+O1555AcVEhMjMzcOUV09C+fYfzzgWV5Im9LNw9xoO7pAdhYk+rXHmva6SWPG37tjPxmZEe3DjU4yjU7L1w4+mWaeI2UfBvH+V1FH+v5Z6Bc9w53QTbqLqKP4ZnfiZIfjhfocInwHRGdDbBFZwSPQaGd7Zwm6RJGdDeLDcoosPovhKoLQH11/oImK2vyPFXYt784y9XmiMloASUQO0IsHHn9jvvROcuXXDsyEEs/OgD5OZsd5ZNrV0MF+6LxsEnH76JzWtXgA1I48aNx5TLL7/wiDUGJaAElEArJqCGQouvfC2gElACSqBhCRiGgb59++Hmm291XmqZs3UjZr/7Cg7uyxVjIdSwiUvsxcVFWDz3Q8yb+Y70ZATQu08f3H7nXUhKTpaz+lUCSkAJKIHzJaCGwvmS03BKQAkogaYiEIfpcvlptuBfOW0avF4P1q9agndf/jcO7d8DrhrXUFkuKsjHIunBmCOGSf7pk+jYqRMe/twj4GIYDZWmxqsElIASaC0E1FBoLTWt5VQCSkAJNDCBtm3b4tZbP40pUy6HZRrYsHop/vPU/2HrhlUNknLe8SOY+fZL0nvxMvKOH0V2dja+/JWvYsyYsQ2SnkaqBBqSgMatBOKRgBoK8VgrmicloASUQDMkYBgG+I6Ze+77LKZOvQKWZWLHlvV4+i+/wdsv/QtFhQX1UqpgMIDtm9fh+b//HpyXcPLEMUm3C77+jW+CcxPMmBXz6iVRjUQJKAEl0AoJqKFwQZWugZWAElACSiCagCFKeseOHfHIF76Im2++xXnPzckTRzFLWv5/9/hjWLHwI5SWlkQHqdP+iWOH8erTf8UTv/0RNq9b4SzFOmTIUHznu99zVl7i0th1ilA9KwEloASUQLUE1FCoFk3jnZBGuMZLTFNSAkqgZgJ69oIJGIaBjIwMfP6Lj+J7P/ghstt1QDAQxL7dO/DU//0Kv/rOI/jwrRdx5NA+lInRwKVUg8EgQiFKSLYichwMBOD3l6GoqACb1i7D33/3U/zwy3fj4xlvoKigwJmsfONNN+NHP/kphg0fLj0Y1gXnXSNQAkpACSiBCgJqKFSwaNI9ea42afqauBJQAkqgIQhMnjwZ37rrCQzPno50Xwd4jAQcPrAPbzz/JB5/7AH86rtfwL9P8A7dAAAQAElEQVT//Gt88MbzWDD7XSz+ZAYWfvQ+5rz/Gl599q/4v199Fz989E7Zfg+rlsyDIZnMzMzE8BEj8O3vfBdf+vJX0KFDB3HVrxKonoCeUQJK4PwIqKFwftw0lBJQAkpACdSCgL/ExpntaZjS/Yu4ud8vcVH3WzCo/zBweJLP6xWjIdcZjsQVkl74xx/x7BO/xfN//x1ee/YJfPzBG9i2cQ1KS4qdHopevXrj4osvwZe/8jX88pf/D5deehm8EkctsqFelIASUAJK4DwIxLGhcB6laaZB2ELWTLOu2VYCSkAJ1EjgRE4Ipadt6Qkw0C65B64bfz++/92f4AtffBSf/sxtuOLKac7cgoGDBqFPn76gMdC7dx/079/f6TW45JLJuP6G6bjnvvvwrW9/Bz/+6eOYesUVSElNrTFdPakElIASUAIXTkANhQtnqDEoASVQWwLqr3URsIFDG4MIBcPFtnxAm54edO3THpdeNgUPPPgQHvvGN/G1xx5zhhB98UtfwhcefRRffPRL+OKXvoyvfPVreOyb35IehK86y64OGjxY5yGEUeqvElACSqBRCKih0CiYNREloASUQOsjUCw9Caf32bBD4bJ7EqVXoX/lPlS+qK1z5y7gykWjR49xehfGjB2LESNGOj0MWVlZahyE8cXtr2ZMCSiBlktADYWWW7daMiWgBJRAkxI4sSuI0gLpVmAuxD5IbmMgs6s+dohDRQkoASUQxwTKs6Z37HIUTbsjz9CmzYCmrgSUgBKoRwK22AfHd4QQKA5HasrTpl1/Ex6f3u2gHyWgBJRAMyEgt+5mklPNphJQAjUT0LNKII4IFB0PIf+IXT4/wbCAjkP0kRNHVaRZUQJKQAmck4Detc+JSD0oASWgBJRAXQnk5YZQcroiVGoHAxmd9ZFTQaR2e+pLCSiB2hOQjkxQah9CfZ6LgN61z0Wokc5rZ3wjgdZklIASaHACoQBwcq9dMT9BUuw8UroUZKtfJaAElEArJ9Csiq+GQrOqLs2sElACSiD+CeQfC6HgiA3bXRbVC3QaqoZC/Nec5lAJKAElUJmAGgqVeeiREqiagLoqASVQawJnDtooPB5ZE1VCZfYwkdJW+00FhX6VgBJQAs2KgBoKcVJdhj5D46QmNBtKQAlcCIFAiY0zB0Moza+Ipevo+HzUVORQ95SAElACSqAqAnr3roqKuikBJaAElMB5ESjMo6Fgl79kzZcCZPfXYUfnBVMDKQElUFcC6r+eCaihUM9ANToloASUQGsmUHTCRv7himFHbfqY8KUYrRmJll0JKAEl0GwJqKHQbKuuBWVci6IElECLIBAsAwqO2SgrqChOh0EWTO1QqACie0pACSiBZkTAbEZ51awqASWgBJRAHBMoLbSd+Ql8KzOzaSUAmd1MGCaPVJSAElACSqC5EdDbd3OrMc2vElACSiBOCZQV0FCoeN1RlhgJvqQ4zaxmSwkogboSUP+tkIAaCvFQ6Tp8Nx5qQfOgBJTABRCwQ0DxSS6LGmUo9DTgkV6FC4hWgyoBJaAElEATElBDoQnhRydtNJSxEJ2I7isBJaAEGohAoNTGyb2h8tWOTA+Q0dWE5dObWwMh12iVgBJQAg1OQA2FBkesCSgBJaAE6pdAPMYWKAVO5kq3QiRzKe0MJGUa0PkJESC6UQJKQAk0QwJqKDTDStMsKwEloATijUAp5yccqhh2lN7FQEKqEW/Z1PwogXgloPlSAnFJwIzLXGmmlIASUAJKoNkQ4PyEU/tCCJSEs8xehPROpr4/IYxDf5WAElACzZaAGgoXUnUaVgkoASWgBBAKAid2Vgw7SkgDUrMNWF7oRwkoASWgBJoxATUU4qDyDMkDRTb6VQJKoIkJaPJ1J0BD4fiuCkMhRYyEpCy9q9WdpIZQAkpACcQXATUU4qU+9JkaLzWh+VACSqCOBE4fCKIsvyJQWnsTyWooVADRvaYmoOkrASVwngTUUDhPcBpMCSgBJaAEwgSObKnoTfAkAqliKHiTtPUjTEd/lYASaEwCdsWaCo2ZbItNK34NhRaLXAumBJSAEmhZBI5HzU/gkqgp2S2rfFoaJaAElEBrJaCGQmuteS23EmgCAppkyyPgL7aRf7iiCS8xw0BKW+1NaHk1rSVSAkqgNRJQQ6E11rqWWQkoASVQTwS4LKodCEdmiH1AQ4ESdtHfVkBAi6gElEALJqCGQpxUrjxf4yQnmg0loASUQO0J5O2umJ9gJQDJbQxYXr2jQT9KQAkogWZLoCLjaihUsGjSPbbE6aO1SatAE1cCSuA8COTtqRh25E02kJKtd7LzwKhBlIASUAJxSUANhXiqFn2+xlNtNLu8aIaVQGMTCJTayD9UYSj4kuC8aK2x86HpKQEloASUQMMQUEOhYbhqrEpACSiBFk/gjBgJgbIKQ4E9CqnttMWjHiteo1ICSkAJNCkBNRSaFL8mrgSUgBJovgScicyRKQqmF0hpb8DyqaEA/SgBJaAEqiXQvE6oodC86ktzqwSUgBKIGwLRhoLHC6R3VCMhbipHM6IElIASqAcCaijUA0SNouUT0BIqASVQmUDQD+QfsWFHehTYk5DeWQ2FypT0SAkoASXQvAmooRBH9aeP2DiqDM2KElACNRIoOBaCv6jCiycJSGvfrB4pFZnXPSWgBJSAEqiSgN7Vq8SijkpACSgBJVATgTMHbbBXgX64vHNKOwPeJG3uIA8VJaAEmoqAplvfBNRQqG+iGp8SUAJKoBUQyD8cQjCy4pEhT5KMrmoktIJq1yIqASXQygjI7b2VlViLG3cENENKQAk0LwKhIFBw1EbIH843DYWsbvo4CdPQXyWgBJqaQMWizU2dk+afvt7Zm38dagmUgBJQAo1KoDQ/hLJCwI48jWkopHeu9Dhp1PxoYkpACSgBJdAwBPTO3jBcNVYloASUQIslUHwK4FuZ3QImpBnwpejQI5eHbpVAyySgpWqNBMzWWOh4LDMfsZR4zJvmSQkoASUQTaD4ZEgMhQqXtI4AJzRDP0pACSgBJdCiCKihEE/V2QCWQjwVT/OiBJRAyyBQfLpyj0KaDjtqGRWrpVACSkAJxBBQQyEGiB4qASWgBOKcQJNmj/MSik/alXoU0jvpo6RJK0UTVwJKQAk0EAG9uzcQ2POJVjsUzoeahlECSqAxCfiLbZQVAHawItX0Tnr3qqChe0rgfAhoGCUQnwTUUIjPetFcKQEloATikkBpvhgKhZHljiSHnkQgOUsNBUGhXyWgBJRAiyOghsIFVKkGVQJKQAm0NgIlZ8RQKKowFFI7GDAtNRSgHyWgBJRACySghkILrFQtkhJQAudNQAOeg0BpPlBWVOEpTYcdVcDQPSWgBJRACyOghkILq1AtjhJQAkqgIQmUFtjwR/UoZOiKRw2JW+OuFwIaiRJQAudLQA2F8yWn4ZSAElACrYxA0G+j9IyNoL+i4OkdddhRBQ3dUwJKQAm0LAJxayi0LMxaGiWgBJRA8yfAIUclZ6QckSkKhjxB0jrIjzjpVwkoASUQNwQi96i4yU8zzoje4Ztx5WnWlUAzI6DZbeYEygqlRyE/VF6K5LYGTK/2KEA/SkAJKIEWSkANhRZasVosJaAElEB9E/AXA6UFFbGmtjdgGBXHutcaCWiZlYASaMkE1FCIl9qVh60+cOOlMjQfSkAJVEUgUGLDL70K7jn2KOh9y6WhWyWgBOKBgI46qodaiIpCDYUoGLqrBJSAElAC1RMIlADsVXB9JGUa2qPgwtCtElACSqAFElBDoQVWqhapVRLQQiuBBiUQCtJIqLziEQ0F6FOkQblr5EpACSiBpiSgt/impB+VthG1r7tKQAkogXgj4CyNWlC5Uz8pw9AehQatKI1cCSgBJdC0BNRQaFr+lVI3Kh3pgRJQAkogfgjw3QnRE5k9SYBXJH5yqDlRAkpACTQDAs0si2Yzy69mVwkoASWgBJqAQLCMKx5V9CgkphkwPdq8Af0oASWgBFowATUU4qly9ZkbT7URnRfdVwKtngCHHvE9Ci6IhHTAtNwj3SoBJaAElEBLJKCGQhzVqhFHedGsKAEloASiCYT8QFnUOxQS0w0YzdpQiC6d7isBJaAElEBVBNRQqIqKuikBJaAElEAlAhx6VBY1mTlBDAXtUaiESA+UgBJoagKafr0TUEOh3pFeWITGhQXX0EpACSiBeidg24CfL1srqYiaPQo6R6GCh+4pASWgBFoiATUUWmKtNq8yaW6VgBKIcwJ2ECjNF2tBvm5WHUNBhx65OHSrBJSAEmiRBNRQaJHVqoVSAkpACdQfgVDQRsmZCivB9AK+ZMCo9gkC/SgBJaAElEALIKC3+RZQiVoEJaAElEBDEuBbmUujDAVfCmD5jIZMUuNWAkog3ghoflolATUU4q3a9dkbbzWi+VECrZ5AKACU5Fdg8KUaYihAP0pACSgBJdDCCaih0LIrWEunBJSAErhgAnYIiH6Hgi/JgKUvW4N+lIASUAItnYAaCi29hrV8SkAJtDACjV8cGgr+4op0PYmA6ak41j0l0CoJBMsQOr0PdtGJllV8t1zFTVMuu/QMQqd2Abzx1JUs837mAEKlp+saUv1XQ0ANhWrANIWzIYlSZKNfJaAElEDcEODzOhC1NKpjKFhxkz3NiBJoFAKh03sQ2PgS/LO+i7IXb0XZXy9D4JVHENq78MLTb8IYmrRcotgHD6+Ff+XfUPbel1H29LUoe2IaAu89BgRKz0klVHgcgS1vwP/Rj1D2n8+g7O9TUfrCvQjuXX7OsOqhdgTUUKgdJ/WlBJSAEmi1BEIcelRcseqRN8HQHgXop1URCAVh5x+GvXcJ7E1zgUN7AX8ARmo7GG37NV8UNZWrTcOXyw4FYJ/Mgb1rMezty4ATx2AEg0DHYYBZi9aIkjwJs1PqZA5wcDdQXAIzoyOMlLbNt07iLOdqKJx/hWhIJaAElECrIBAqsxHyVxRVexQqWOheCyRg27BP5cI+vhUQRdYpoSitVtcJMAffDHh8jpOjyGaJUpreJXzcHH+buFyGNxlWn6tgdp8Iw4oYBl4PrE6jIA4418ds21/q5FYgMSns1TRgZPUUA65D+Fh/L5iAecExaAT1R8Cov6g0JiWgBM6HgIaJJSA6E8qKpDdBvu45T6IBQyczuzh028II2Cd3IbDkLwhsfRu2tLhHF8/OPyjGg7R409GbACN7AAxfGo+atTRpucoKYJ/eB7AngRTTsmC06w8YtVNR7YIjQFkpnI8vAWbbHjCTspxD/blwArWrhQtPR2NQAkpACSiB5khADISyoqiMG4CHQ48ijX9RZ3RXCcQngTrkKnRqDwJL/wZ7/zpRVsUI8CSUh7YDJbAPbxBDIRB2S0yF0WEoaqvQIk4/TVouaYmwC4/DPpEDyD4RGW37SI9Ae8CQmw3O/bGPrAf8kS7P5DYw20iPgifSw3Du4OrjHATMc5zX00pACSgBJdDKCUQvjWqKgcCRDT1/GgAAEABJREFUF7V8hrdyclr8ZkNAlNTQoTUILvgD7B3zgYRUmNmDKmXfLjgMHN8TVmjlD2BktIOZ1buSn+Z40KTlCgVgn9oLnD4URmeZMDoOheFNDR+f45dGTmj/ciAkLRpOnXQChx7V1sg4R/R6WgiYIvH4bbV5qp393GrxaMGVgBJoZAKiP8HPoUeRdC0fdCJzhIVuWgYBu+g4AuueQeDj38LOWQoEQ2Io+GAXHoVdEFFgpaj2iW2w80/Cafk2TBjt+8FIauscc5nUwLrn4J/3SwR3zQFihixJcOdrl5xEcPccBBb8F4KbXo64nUJw438QWPJHhI5udNyq+rHLChDMXYDAsj/D//FPw2nt/kjSivRwMJAdgpOX9S/C/8nP4P/4Jwgs/5Ok+TFCx7YguOUNxH7qo1zlccoNI5S3E4HV/3TyF5A8BNc9i9DJ3YDkrdxfZMdR9I9th10SWVYtORVG276QbsuIj6hNoBShQ6ulPFL+uT8DOdun9gBHJW56szxAZhcgpSOPVOqJgFlP8Wg0SkAJKIFzENDTzZKADZQWVuScIzEsb8Wx7imBZksg6EcwZxYC730boUX/Bo7sECMhKAqtXPSH9yD0iSjuexc7xbPZ8s1hR5E/g+3xwug8Vs7ZCO5fisCcnyG04CnYa99HcP4fEBKjQk6Gv6LgBvcvcZR2/6uPIPjhrxFc8x5svpxEJLD0zwjO+ztCq1+HvW91OEz0b0jyueMDBN7/GkIbX4NdfBz2npXhtD76jZO+490OIii9IoFZP0Fo4T+AE7uA1PYIFRxBUIygwBvfQHDzB45X96fmci2puVxuJJGtfWYf/HMfR+CNryN0QFr5EzMQOrJZjKJ/IjDrcTFyFgLCMeI9vBHjB4fXweDSauJiZHSFkdENsa0RNOb8qySeD36C0JaZgBhqoc1vIbj2GdiFkRtUQjKMdr1hJKRDP/VHQA2F+mOpMSkBJaAEWiQBf6EoTpGSWT4DlteAfpSAQ6AZ/9hl+bCPbIJdsB92sBSQ1nAWxzZN2Ik+ICUVRmYPOgHFedIivwsIlDnHRkqKKKUDpYV7jRgGv4eduy5sUQf8sE8eFQW5omfAtgNy7gzsvL2ivOcCRaeo50qPxFAExFCx178PlBTAmZAbDMfvJCI/dslp5x0BgQ9/CZheeC75JqyhdwBcaUkMHZw+AXv/MvEp2ZeekeCqp2HvlbQTEmCNuhfesV+Eb8rPYI6/Hyg9Kekajt/ynwsoV3kcsBHatwg0uOy1M6RVPwveq34D75jPwRp2u3jzSx43I7j6BTiTlsXF+Qpv+8wB4SJM6GAYMLL7w0huw6NyIYPgiqdgL30W8BdIue6Gd9I3Yfa/RoyGBTAkHsezhDPbDoAOO0K9ftRQqFec9RCZUQ9xaBRKQAkogXoiwGdw9GRmywfqK/UUu0ajBJqOgJHUBp5Jj8Ez/X9hZveFq2Aa7TrCe/er8H76GZhOrwEQOrUbOHNUdkJwPtm9AVHUg+ueh5GaBbOLKKim4ZwSvRmQ1v3wAWB4U2D1vBxm7ymALzLJNqMdDE8SQqIAh8fXA/B4ROQPJrsSgaNU+9mLsP4jSaMdzDGfldb27rBLTgEl+fQCW5RrJLeVfRv2qf3AoY0wIIY9DRa21nO4j2nBGnQLjL4XAUnpTuzuT83lalNjuZw4pIcgtGeeGEv/B/twDpCQCGvil6VVPwOQdA1fMgxumacjW8TY2obytZaFEYdDoajQiQpi3BhtewPRq0ixN2bDSwite1PChWD0mAiz5yWAN1nK0kbiNsNhTdlmtK8w7MKu+nueBKKDCdnoQ91vSgJGUyauaSsBJaAEqiIgOkdZ1MvWPKLHWN6qPKqbEmiGBMQStk9sl16FE3B7FIwOA2FGv7BLlG37mCi4RXlOAamcm51GOMOWjLb9YE3+NpDVS86Fn+JGglcU+m5yXPG12VNQcgY0LujKlvNQzkzZFb+jpgPtJXynwdKi3k/cJCsFRxBY+D/A3s0wLA+MfhfD7DQGdqAY9tHNQH5k7gQNji7jJIwYCpKGHZDeCzlC4RmEts1CSMoGyb8hFr7R+woYWT15NizifkHlkvCh49sQXPuy5El6Wxhr73Gw2g/nnhQiBLtMjIBgJE/+MnAIEYc7OR7E0LIPrBImIecQadmSvx5iQCWEj8W4CB5YhtCqF6UnIQjQIOsxVoymjuHzpadhu0uqyo3JzO4FGn/hk/pbXwTUUKgvkhqPEmhSApq4EmgYAmIngM96N3bLZ8D0Qj9KoEUQcBTv4zukhV6UeCkRhx2ZPSZBtHO4H5sK6XFRhEuLHCcjKVGUW1F+/cWwht8pSmxJuDU/Ms4eadISnyUt447vyI/0AthnDgJs6bcsIKUNQvuWw7rky/Be8m14rn4cnku/DrPzGImvGMHNbyC0Zy3AONMyYPW/HobpgS15tfcsA4oLYSelwBp2I6w2fQHDgJGYASMlC86HBtCelQiufk56Qzi0x4bVTVrj+1/nnObPhZaL4UM7ZsHet07yKXeKxCRYfa8CRGl34pfeBrtQDDBXmacj8wmDewgVHRMDY6uzD7pn9YSR3lmOw+ft4pPgkCNwDgLPc/5BRzFChAONH/vEDhjupPGEFBjthwLOOYiJIdHot14ImPUSi0aiBJSAElACLZOAPP/9xfITKR11AMtjRI5006AENPIGJ2CLshrK2ycKfHhugJGaKgqnKKNRKTsvI+OwHlfh9Xhh5++HNfAmZ4iNM+7+9IHyEAaX90xqU37MHaZjM46QDSMxUQyLXBidR8LsPhmwfDCzh8Ckoiv7oWMbEdoxH4ZrmHQdKi3tvcHVhIIbXoN9cGO4dX3o9bAG3+qEBwwYGV1g9LoY8HrhfILSor99rrT4Pw+7OE+MiA4ws/o4p/hzQeWS3gT7xE6Edi0EysLsIC36ZvZAwBBDCPIJlMLmakeSDzkChJuRmAn3fOjYZukZOQXnI3k22vQAkto6hxBDJ5gzGzggPTl08SVIvfSDkdaFR9JTkY/QYTEyaCgYUvbUTBjtBjjn9Kd+CZj1G53GpgSUgBJQAi2NQCiiB7Bcpuggpod7KkqgBRA4lQuckpZ+UeCd0lDZjSijzjEV4rzdsLnOvyivrpvR41KYbfrC9hfBztsjLfz54VNejxgA0ivAP4rjIj/Ssg72JuQfkQP50touOQ1zwHQYMeP4bOmlCO1dGs4T0zMNwJeK0MZXEVz0F9i5SyX+YbAmPgTPmPtF+W8vEYa/fEO0NfAGGN1HAWZEvfMHYG/6EMFNr6N8yA+916pcu6stl7Os6aH1wMmIgWSZMLuMhpGUxdjDUnzK6QEJH8hvWjs4PQa8gUjZ7H1LAMmfnAHnThhtpEfBl+IcOr0VW98XAy7oHEPiNToMhsG5CeJi5+0A8vZL14ENGAbQtgeM1M5oDp/mlsfIldTcsq35VQJKQAkogcYgYIsCxUY7Ny3TMmDok8PFodvmTIBj+sUIQOFxpxTO3IOu4wFPgnPMH9sxBERhLjrFQ9CP0W00rB6XwVFQnWFJorRG5gYY0rIdblU34X4cpZq9CcUFYaeyYhgdhsPMjBmeJGftoqOwj+4ExI8cAqKA2wVHwNZ3I6sHrEu+Buuyx2ANkt6MFDESDMPx5vzIH9PknImRd8DoJK3rZuRcaSlC69+AfTLH8caf2pVL8lFdufyF0qK/DuWKfmIyDPYmeBIZvSjwIYSY3unD4WPJi9FhCIy0TiA3u1SMiAMSHvKRbBppHaXXpBdgWOAnlLcdOLaXu6B/I7UNjDaR3pCgH44xVRipEzE82DtjRNUb9FNvBCqu5HqLUiO6EALyf7mQ4Bq2QQhopEqg9RIQXUoe+hXlN+U5Tqlw0T0l0DwJcPUgpzfAHeKTmCCt9WMqF6boBOwT0uvgD3erGSnJsIbdBoMt32yVLxDFnu8rkBZyBjSy+8JIjVHguQzrSYkjonTD44PV8zJUqdgWHIadfxQQA53xITUDnrGPwDPhy7AuehBW/2tgcglQVyF3PAE2wwVKAcsHs+tFMEfdDrSJmlB9+gRCB1dHfMum+MSFlYtLoUUNt0JqVG+BRA/pRXGU+RLJE49Ts2B2Hyc9Dm14JGmLIXBKyskj3lAyO4d7G3gs4kyyLouEZe8IeyOSs+UMEDqzH/Z+MTL8Jc4xEpNgcO5C+Eh/65mAGgr1DPSCojMuKLQGVgJKQAnUOwFpvKsUJxv8pOGykluzPNBMt3oCdqEo+Rw25I6hz+wIM0tataPI2AUHpSVeehRcQ6DrKJgdhoV9hKRlm0OX8sM9EvBYorDKOVHWOUk67El+i0/CefmZxGHLIToNhdFWWser+CPZpWdQafUAnyjBWWJ8pHeDM76fSjXjiJHAqidhH1kfdvUkwew9FeaQa4Hk9LCbGB52YWTok7jY+YcuoFw2bOlRAI0FiYtfI60DjIQ02Q0rMo4yv2cRIGWGJVx6jIfZZSwgbMQTQnz3Q2nY+ALL2LanlC9q2JIYA+BEbnpmmVPawPClggaIfXxL2Jhi3HLeaCP1lt5T9vTbEATUUGgIqhqnElACSqCFEAiUOapNeWn4zDZMo/xYd5RAsyTA3oB8MQIireK8yp3hK6KMBvcuQOjwWkBa6O086QlgCz8L6TFhdBsHWAk8AocU2cd2wHYn8yYliwHQD8FNryK44T+OH0exPSNKeWR+giHGhNl5FBD9roCwz/Cvo/wyN+FDvi+BL4aLHJVv7MLDCG57C3bRMUm/EPbhjQjmzoWjmIsvjuW3+l0FI1sMH8MAYzRSO8kZ+dZHuQwLMEyUfxLbAGKguMfBnR+KIXICHDaEDv1hDr0JRlpn8MNhT6F9K7gblqRMyecAhE7tAdnbHM4ViPQW0IekY3iTANMDlts+vVeMKTnvsAKMrtILZAcR3DUbdpQxBP3UCwGzXmLRSOqFgFEvsWgkSkAJKIH6I+AMPYqKzrQMmKIjQD9KoDkTYFdZgfQElBY6pTAsuagzuiN4aBWC616Qlvi2ooDnwz6eA5SKUkpfKekwswcBVJIhHw59ydsJI6KwUvkPHd0IrgZk9btBPIjeLn8gKsAoKQofJ6WKMdFboggbG45j1I+R2sFJ23Wyz+RLfp4Vg0CUbultsAuOioHwLgIfPS75K4bhTZH8SS9EQR7sXcsROrFVEg2Fg9MYSUwFTBNGm7Ywu01w3Gl4MI/nXy4DRlIbiZNGiCRnSLTkZ3DHljyI8bT+DbER5FgMFWv8fbA6iXEk3vilMm+fivRuSBgjSXoiyClnFrh8LDxicKVkQyKA8wkFpfx5CJ3cJcbEXjEWpN7E2HHOWVI26W0JbnpFDBPp+UmM6pVwPOjPhRIwLzQCDa8ELoyAhlYCSiCeCcT2KFBHMvTJEc9VpnmrBQFb2thtx1/4YrZDIdjb3kdoxT9gjbofpiifdtEJhI5vB0Jhn+D8g/QuKFdgRQ+2IT+IfET5tXfOg7Nsakq7sGOgGKFjEo95S98AABAASURBVEcgvHqPkdlFWtalZb8aa9vI6i0K/ShADApGQCMktPJN+F+9D/63vwj/mw8jtPpFmH2mwRpwI+BNRqiERkQxcFp6GZb+1ZmLYJ/KRWj/coArOqW0gXnRgzAzejBKUbqlXMzTBZTLSBSjacA1QHo7idOAnbdHDKQdDq/A0j/BLg3A6Dkanssfg9XrCoA3DkQ+ouSXUxMjK3Ryv/TAvCLGR1uYXceJVy+MjqOc90Q4IfjuiZ2LEFz5d+fQoAEkPQg8sIMhhJY9Cfv0PliDbpGwPjqr1CMBsx7j0qiUgBJQAkqghRGQhr7yEvFZX41+U+7H2dEfJRDnBAzLB7P9IBg9LgLadpeegj4wMnrCGv9FWF2l5V0UWBbBbNMbZt/LYfS7HFa/a2D4UunsiCEKq9VbznXsB7TrCaPPRFiXfAVmF4mz3Jo2YKZ1dOJgPGbfK2Ekt0N1H8ZpDrkZxrAbYXQeDLTpIvnqCBjSc2Cmwuw1Bdbl3xOlWM5zQjXkwzcidh4Oc+i1cuBFcNW/4F/6R4Q2vg6kd4J16aPwDLpVzsm3vFx9nDzVWK4ONZTLSoDZYzLMcWJUdR8JDpEKrHkWwRVPwAya8Ey4F56rfi6K/0SgnAWcj5HeHUb/qQ4ztO0Gs8MgYXstzP7Xl/M1O42GNewGGNm9xV8PZ3iR2e86WJ3HihExHEanIcKmq2wHwRx4raT3ZRiRyc5OIvpTbwTUUKg3lPUTkVFuZtdPfBqLElACSuBCCAT9dnlwPu9pLJQ76I4SaK4E5GLmpGTPJV+FNeVrsK74FjxTfwSzsyj5LJM8jM12A+C58qfw3PRbeG/8LazBN4Mt+DztiLTmW4Omw7r8W7CmfkPCfx9Wj0sBMUKc8/LDITqeix9z4mA8ntH3Sct5GzlT/Zct/56JX4J1hRgEl30F1mXcl/iv+gk8F38dZscRQNR7GsyM7vBc9m2R78Mz7Wdi7HxeehtucHoRPFf+BHyrM9z3NZSXS+I6V7mmVi5XdLmYeyMxA56hn4J15Q9gXSr55P6Iu2Fd9Tis0Q/B4PKt9Bgjhi9ZFHvxP/UxkL2H5WRvQLQR5k2CNe4LwuAbYT9TJC89w2yt7hfDmizhp3xVyvt9ietrMJLbx6Sih/VFwKyviDQeJaAElIASaHkEKvUoyBPDtFpeGbVErZSA6YGR2RNWz8vEQBiL8Ko9dWQhyq3ZeQysbpNgpHQAxABBPXwMj7TYtx8Mq/eVsPpcDavLBBjOsCf5E8bEz0nKZpa0vMNwymB2GAGr1xWwuk6Ewd6L88lTbcslBouZ2QtWT+np6HOVcLwIzupMMXmMPTSkN8TqdrETzhBDB4YR6wWGJwmmlJvGl5HaUc5H/IghZmYPgdVrqvQEDQb0piRsGu579hXXcGlpzI1OQBNUAkpACVwYgWhDwZQnhvYoXBhPDa0ElIASaE4E5LYf/9m1A2UIcc3fkjPxn1nNoRJQAkqgIQk0ctzBqOVRaSRo410jV4AmpwSUgBJoQgJxbSjQOChe8D8oePoOFLz4CPKfuReF734TAc7kD4VXEDgfdnwRStm2D1D44fdROON7VUrRhz9A6doXzif6CwpjSGiKbPSrBJSAEmhyAgF/RRYME1BDoYKH7imB+iKg8SiBeCUgt/34zFrgyAYUvfN9lC55FZ5eI5H+4CtIvPxRBHavRNH7P0fZtvfBF5mcT+7twjyUrvoP/GvnwL/uo6pl41yEuH7y+SSgYZSAElACLYRA5aFHBgzTaCEl02IoASWgBJTAuQjEpaEQOrkHpYufkp6DzTBTkuEbcSfgTYKny2h4ug5DKO8wSpY8Az9fD17XngU7hODx7Qgd3QPnDYZcKqwKMRLT4OkxvgZ+ekoJKAEl0PIJnDX0yNPyy6wlVAJKQAkogTABM7yJn187UAJ/zlwE9q0HQiEYaW1h8k2FkkVnFYA2vcDZ8aFj++Df/jFChcdQp0/QD3/uEtiBIIzktGokHWbH3pXeJFinNC7EszbWXQg9DasELoyAhj6LQHRbjCH3JyPunhpnZVkdlIASaMUE7FZc9oYoetzd8jkvIbBvHezignB5pSehfO1ewwJb+g12fYsREchdgdCJHDEogmG/tfgNFR5HcP8aePqMQeIl91Utk+9Dwrh7pTcjuxYxNoAXeRg3QKwapRJQAkqgzgTY4VrnQBpACcQRAc2KElAC508gvgwFO4TQqX0IHt8lyn/YJmQvAlzFmc1ZfGkIt1Lm0JkTCBzZCjtYKke1+/oPrBQjpBDeAVPhG/opJIwSo2DMA0iIltH3w9t9EhBJB/pRAkpACSgBgPdiCvSjBJSAElACrYFAXBkKdtAvhsIB2IV5FewrLbHBJ1RUlgNBBI9tA/zFFf5r2OMyq4Edc2AXFcC/aQ6KP/5flCz8K0o3vCoGxyYgetZeDfE05CmWsCHj17iVgBJQAnUhENujoPeoutBTv0pACSiB5k0gSuuOg4IEihHKPwrbX1aRmUqGAmAYlR9ToZN7YQdq16MQOrUbwX0bYZcUIbBzGcrWvo2SZc+jZN6TKJ71GxTP/z0Cx7aiIT7Mo51/EHZp+F0QwdP74d+3FP69ixE4tK6SsVO5hJIbeVKHJGzg8DrESvDYZil/iXiq/hsqOITAkfWIDRtg2JJTEjDceyM7MV8boeI8YbL57LBHNyBUeCTGf+VD218ohlwVYaUcLE9l35WP2EsUPLbl7HSPrEPo9D4x6qLWbKwcFE7Yk3sQEL+xZQ7m7QQCJTEhog5DYnyeOSBh1+OssEc3O3FH+Y7ZFV5kLeWLDeuwduq+BtZFxxE4uumsdOkWKuJcnOrD2mX5YBpnpSt5CRUclHxWFxZOmYJyLVQVNnhmP2pcXUx684J5OWfnWdgHT+4Gr3tJPPyN/WXDgNRlVfUUkLr//+ydBWAkx5X3/9VDYlzm9aK9aK+ZGRM7juPkwnyBC94ld8HLxUmcOOCAv7tc6MLoxIkptmO2116w10teZkatGAb7e69Ho0FJI2kkzUh/ad50d+GrX9VU1+vq6rZ7qidJS8uVUWcpix1olRDdfyKtxxE6/mq63hI30l4nEbvjZctvuAEhCZeWt/zGIs1HJG73H1v6qu5YR+Q37jxgobvowiNctz1dZ2XduA92Dxc61C/cuB+Z+gFNs8ffRCKKcAfC0o/Gyq5lsUWv7lRW90jL0Yz5KkO7Y6D9T6Jymltc7GAb+x/5/Tt1Je01eu7pjpeNSE/9j7MWsPu40f5nC5y8Ynl2bp12je7iQtqtv9t6GtT+JyIXJpsOIL/6n00Yvv7nkFRG9/WkfYT2FWl1POj9j7RN6RvT8pX2lU3/E+8RuNdfAnllKNhyErXb6oFwJF4eoyqmDZ27/O32RkAGd10OPewEdz8jg9vOtQ+xcDIrYTfXI3xwEwKvPID2v38Zga0PQXqvWIgBbyPSAXes/KkzgxE+td9JL7T7BbQ/+i20P3IX2h66A22P34VIwz7HL/UrsOWvaHvqa+h44Z40aX/+e5LuVxBpyTRotxHY8Sjan/02Opb/AGnxn5e4z30LYRkAw05grgrYYTFg1qL9+e+gQ8KlxZX02p/7DoK7nhRWKXElfkQGzO1Pf13ify89XylHu5THv+kvEjK9Y4rIwKJjuei2/LvpcZffg7Znvg7/pj8j02BQWfvX/U7K/E10SNhUvduflfK8/PPMvCIh+Lf8De1P3ylx03m1q07ip2UTxVM+wlraTbuUOTVP51gYtj97F8Kndku8lDIL++D+FcJZdJM8nPDCqGurbsp63wvCOnU9jo1w/V4p710SvxvWT38DgS0PpOcrLpHWo1LeHupJyuPfdB8gbCR40kcH2x1rfoH2576NLl1jegv79me/Cf/63yJq5CRFderOv1natdRlpnrqeF7r/vty4eBIcsTOI6eenpR6iuWXsG1X1qJ3RAy+zuDxjbLe/XRU5+XfT9db4wrr0KE1SOsDJG74+JZoXAmXXuYfiN+3ENj+d8kv02/iONqf+ipUv7S4or/+xv2b/yxx0z8R+X13rP4R9GJGWlxl/fRdCGz4I+yO+rTIOhgPyKxpu7SDDvndpsbXNNtX/W+3rCMNYix2pmqLERXacn8XNy1L+1Nfkd/T0c4QiRv5TTj9z7eQKV/tV9oH1P98u7P/Sf1NwNGn/Zk7ofqllleP253+R1nbiQo7+xHtf174Ptr71f/Uwb/u9/J7/KaU+R5oXoni9D9rtP/JwEt+Y067lj4mE6/e+5+HMWj9j5wHgj32P1Je5zeboczS7hL6H4dx7CsiF5tU527rSX7HA+p/1v0GEcfIieUY3eq5w79J+h9Jv0N+P4l15OxrWZZ/T34TepElGifx26mnHvufO9Ft/7PnaWmX30HHoPU/D4uq/el/7oR/870SN/0TcfqfH0P7CoeP9FddW+HX7vQ/fxiU/iew9f4sxj9H0pWmS84I6Cg8Z4kNOCGx8G1/CyBX0GNpGcdQiB2lb+2gX8Kn/yhSQ9odjQjufBaIpJ8YYmHtQADhIzvR/uQ90BeyJeoRC9PnrQ4ujm5D4KU/Ily3X2YORF9JxG5vRqT+MCKnDiFych+CW59EYNND4pP80asx/ldksHVqj3Q8Er4pRWRmInR4HXRAlhxT7K36vQhu/wfCMksSSY2nx07c9U5Zo1eb4ilEWusQ2PE4wofXIyLh0uI3HkL42CZh+qRcYdwXj9i555dBi+qVMa7kHZbyBDb+JWPcwLZHEDqwGhEZoKTlK3Ejp/bKoOgv4i88k65UyaD56KsISnx9xG7GuGKMBXc9JemvFE2T20Kk+SgCa38vddID60NrEXhVDRyJnvAJN+yXwfjDCJ/c2UM9CevNf5OKCSbElCYpV0scnY5sRES4puktbiEtl+itfkmRwyHJ936EDq2TuAcz5q06Bbb+XQyKPUlR9SAgJ8vQoVe6jRvRelr/R0n3kAZPEFsYrnLqP1K/T/xT2qXWk7gHtz6C8JENgPwO4pFtye8AAuvvFdZ7M8eVNhc6sEra5sPxaJ17EbkKGFj/J4TF6FIeaaJxj6yDf8MfOmPEN2GZwVDjNnxss+ggvz3VM1EkruqrbT/SejIeUfZsf7P8Jh7tmfWJbQjq70ZmUyRK0se/4fcIHV4r+WauJ4f12j8Ij/jAPJaAXuQI7lmOiLSztPKq/vJbD2x+wGl/SaylL9UZn8Dm+xGRMBnjSpqhvcsR3PV0LLuurfY/kbodXceQPlqN8a50hJf+zv1inMcDRffC+lvLov/xb3sYtjPbFo2n35G2OuH4BHrufzYjuPMp6UO0H9BYcfFr/3Ooh9+Etmun/9kbj9S55/Q/+1cJ6+7qSfufP4u/9nuJfYiN8NGN0v/8vQfW0teLztq25UfRmWN0ExEDJbv+58/RCAnfYZktCmx5yKn/rrrRdhETp57WIyDGOWQmLyEqtI6D0reEeu1/nkTa4Ler/+m+XYfrdiKwVfrGDL+JgFxzXrsqAAAQAElEQVSE6H//s1rqX3SSfiZjmcU9uO1RqZNu+p8N90LPJRnjKq+DqxHY9vdEVM5+dv3Peul/fu+ET/wKa/8j9R8+ugkR6dfT8ha3aP/zjzQDx862/9n+hPSN6X29f+Mfsuh//ih1nKH/2fMMgtJH9N7/SF+R2Nf3qf95KhGVs68X5fxrfi311MM5Wcc/Ypw7Efg1KAR6NxQGJdtuEo1E5CJeIMUzdTZBjhNvP5I4qR1uSgLOoS1XazynXwvfpW+D95yb4J69BKa8AkhMC/InDdtulqtCK34pP7ad4jCwjy2dsnYIertTTynZ/nZE6k9IUcJJwcL1u2H3tgZDdA4f35oUTw904OvMuIi/HmcU+VGHpUPV2ZxEfzvQ4nRkSYOOxAC6L+nqNKktMyZ6mCiOPpJ2olvqvh1oQ6Qh/UQdcfTpSA2edGzrbQXN0qEl5OGwlqtHjrGZFDr5wA60wtZBYMqtGnpLhaabHDrlSGavwhlexKe3Q2lHnhI6+VB0jcigy5ZtokekvQG2DBJ6Zi2/DbmqE0m5YmzLzE9EjJMe40pmqpvqKLtJn+iDA5LbXFIAObCl/YVTT/IyQLBbTsgATwx7CdPdR1nrgFvrpiuMtJtw8yFp161dTpl27GCH/CbSB4Gqi7adTHG63ISx0wa7HKI72lYjYgT3yEvi6oDIlt9ANFb0W38jYTFSe45rw5b61N9eNFb8OyIGe49xJaiyDsnASnYTPjYizUdgS7tNcEzbVX8nnPR1MU9bB/bNx7KoJ/ktSvuSDjgW1dmGpf+BtHnnwPlKHBg7DtJn2XIxYkvnQXzj6CIXaCD1HXdN2VPWzu89egEl5msL+7De9ib+Mbe0raSrBoXt3JaX7KszP+gprgS3A9rnZup/9sPu5XYqradU/bSN69Xrfvc/YsjZ0q+Jat1/pC6c32xKiEjDAanj5hTXlEPhEZG2lbn/OSb12MMFN40r7Uj7qsRUnf5H0uyVtVwAVB0T4+q+UxYpk+53J3am/kfauJ1lX+/USWJfL+0mLBdn7N5+T932P/vkt9jWnbpRd+HVff8jFyDEPxoww7f4qQGRqp8d8suYRNqr+GeIFXWSstkdDdABdtQh/h2R2dBe60lYZ+x/mo5K++qtr5c+RC626VgrlqvuR1qOZxlX2qDUayyubsNy3tH61/1uRcrs/N67DUCPgRLIL0NBBu0mZU1CegHlRCUNI+ZuXC7ZFeNBvnv6WCW1KDrzXSi+6BMoufrLKLv9Z6j4wEMofdO34Z5/AUxxGbqMBskiUn9Mrgw9goH+GZcXruppMCVlknz3epriUli1EySMlieeq2vMfBhPSdwh057lgmvSkjQfV9VUybcGkii6/TMSd8xsyaMoKYjxlYveMwDxR3d/MttjlY6HVTYhLYR70mJA9ErzSHAw3lK4aucmuER3XbWzRJ+S6EE338ZXBlfVdMBYiP0ZlwdW+QSYosqYU8atkbKZ8vGA1E1iANXFeMsSndL3XW64xp2e5u6qmSn5iuEJk+bX5SA8rHFnwKQw1bZpVUxGYlmQ+ifltMonwSquTfLRtFzjzwAk7SSPpAPj6GZVz+xyje24xs8HhFvsONPWqacx85K9JI6pmCjp9sa6IloniayNcepO6wE9/BlvCVxjTksLEa2n0jT3JAfLBacNJjkCVpm2V6l7E283KUEA8XNVT0eqfsZTJPpIe5W00d2fMfKbq4VVOSUthDVRfqM9xZUYxlMMd1r7MrD0t1yk7Qvd/qm+mq+xPF1hjNSTK6t6KhedJwMpbVP7H9vyIvZnZMckzeKpgwWXlk12Ez+uSu33agCjsZD5T/Jz1c6Bcaf2PxVwaXvtiZfUU7Q+J6al7db+sKe4EsNo/zNG6lP2Ez+u2tPQW59rnP5H+8d4O1LWWfU/ReVykUraYOJvQhRwOEi6stv9x+l/5DebEsLR2en3emAtPAbS/7ikj9K+KjFro/WXbf9T09/+p0R+dyn9j7Rxo319cWWiOmn7xlcBq3wijMsX9zMGrippm739nrT/kbaAlD+nnqTtpDgnH1quYex/auS3PDVZHzmyJi4FRC/Z7fbj9D9jU89vRvqfKdLX96f/ccOl/J22iW7/9PdkVUn/Y7mTwjh9vac0yS3twEj/o+ONNA865IpAvJfLVYoDSUd//L0MilOvhsAtJzFpKP3JVk8GnpmXofSmu1B05YdgjZkGSCcC+VPrPVInV6xlf0AfSc814XT4LniXpD8dkMGGpmekg3PVTBXjYJoMPGfBu+A6eBfdql5JYpWMge/8D8BVO1t+/FPSRTo897TzULTkrUnx9MCqmCLpvhau8QucH7olg5ckceKeA+/818B4kzsBzdc79zq4p54jcadlyHcq3BMXwzPvesdP80sU36J/gnv6+Znjih5aHt/ZwkQGv4nxdN8z/ya4Z14MSwZrSfpKPOdYWHjPfBusiqkS3IjEPgbuCYulzLcIr1lwwsbidG5dNac5Orv18bdIjAtomX3nvkfiCuuqKenxZbCmrH2L3hDLsGtrlU+Gb8kb5YQ2Nz2e5q2sp54L3xlSx67kztCSE55HWU9ZBkvySNNb3NyTz4Jn7vVy0pvUlaezI2l5T79FWJ8ncadlzNs1Zg58i0W3yqlOlMQv3xmvh8epJ2mLqmeKOPV0zrthlY5LjObsu6edD6/Uv6vmtMz5yknWu+Dm6CBSfgdOJOfLwJK26Vv2duElrFPydMovde+efhE8816L1D9LDFPfOZ31lCmusp4mrJe8JTWq5DtZ2vv10IFkZtbTpM2fDe/cG6DtITEB4y2Hd94NcEvaluTh6JmYv7QZ/a15T38tXJXTE6M6+0VL3ixxe6gnade+8/8ZlhjfToSEL+9pV8Iz6wpYMtiyEvPs3HeJce1bfLu03TlAKutarX/xkwsCmeJaNTMk7cvhnX0VUv+UgVWbMDAVw8OUjUFXOsLB3W3/I6zPkPrvrf85/TXQAV1i3moQe+dcK3VxTuZ2rb+JiT31P29Cr/3PsnfK70kGJ4kZy37W/Y/zezISI/bJrv/xyu/YPe0CiZQYF1DWXe1a2lIX48461vaqrH2Lbpe4yR+rbBJ8S94I19h58bqpnBLf13rqsf8R1gPqf87PXE+iQ7T/kfbn8ErW27fgNnhmXNB9XG3XPfU/wtIl/UwaK81X3Hvsf856G1zd/SaUl/Y/8zP1P+NRdO575bc2O85X8uvSQeNKH+Fb3F3/I32IGLJan11xYvG1XU85G5450tfLuT+RVrT/uRHaBvrd/zh9/bSMejt9/Xnvgxrfifnq/sD6n9nSNqX+u2Pt9D9XSP9ztWaVJM5v4oJsxj9vS4rHg9wSsHKb3MBS0ysy+kI1WCYhIbm833Uk+wmzCepsfGJtWgMrhpErB9r5Fl/2Aemwxmqy0LUMSU9firr261uvcBed/XYUX/MZ6ZiiV1U8865AyevuQOmtd6L0tm+i+OrPZPyBaobe2Vej5LqvovjKz6ZJydVfQMnlnxVrv0qDpoln+qUoufKLKL7ic+lxr/oCii/9NFw1s5E8uAD02DVugfh/CiUaLiXvkislvSs+C0+GATfkzxTXoOTSf88YV8uh5fHOvkZCpn8siVt8wUdRfNXnoWGT5XMovea/4FPjRq6+psZW1k5dXvWfGeIKPylL0VnvkCvzNalRAbna4p19LUquvaNbXiWXfQZatvTIgGem1KnGVTapvK6WOrjs36WDnipRjUjiRwYYE88S1p/OyKvkyi+gWOK6Jy+D1guS/gwsudJXfInE1TxS8i0WXbQ8HhloAqn5iktxNYp7qqdrvwyvnLSUDVL+rKJq+M6Udi1Mk+tIOKseUge+xW+CVZTeNvUKsnfujSi55stST9KWNHyiaN1f9HEZPNWm5Bo99M66CiXXfU3iduaVELdE9InWU6a4wnrK+SiW30zJlZ9Pi69xlYdr/ELAWEj6M0Z+K7PgsL5K6jMhT6f88hsrkbryyMUHZPgzvkrnt1qSsZ4+K+X5CrT9ZYgqba4aRee8H5q+k1dq3td8SQzkW2XAXZ4W3cgsmfeMW6SP+VJaeTUtTbPo3A9IHpl4QWZI4kaiEYPRJwaPxlMp0f5Hym2kHSHDn2f6JSgZSP9zyQD7n25ZfxVqiGRQGYPd//jO0v4nA+te+p/irnZdk0lt6X8uR4n8XovlN691kyhOu5Y+xHIG66n9gPwmBtL/yEWSYq2njKw/JzrdAc9pV4nOqfkCRvqG4h77nzuknm4AhA1S/qxY/yO/ucSydu0PqP+RPreH/scj/Wmv/U/KQD+qvrCecl7P/c9ln4Z7wiLAZOp/TpP+R38TPfU/lyPTn5HZFe0XSzLW02dRct1XhPX1maJCf98D6n/kYlbx1f3rf6J9/Vcz91299D8ZC1NwjsOvcEpLHGaFZPrZlI+DcXu6FNF7IJE01S3GQpev9B+VckUocVoxwa9Pu/Kj9JwmVu1i7ZQ6sSRn1afk0gJLR6eDWNM5Y6KWsk7ru8bOF+NkOtI6BST+GRkAVMh06cw0scqnADL9ix7+jK9c4s0QSY6vV3WNu7iHmIDqq+FcVSlx5YqpkSus6OlPZogyxdW0tNPqKSqkPlxSNg2bLDOk05ITpfh3G194WKVj08qr6ejVaIh/93Et6MnLVZWJlwzye8pXEu2WtZxMTS/t1MiAzqqYmqa3ntzVT5Lv9qNpW5KHK6WeXFKObFhnytclaRk5GaOnMoufMtWwqWLJoBK9sq6W8qaz1rqHpN1tgcUjynqmxE8Wq2IKIG1PgnT7UZ5W5bSMcbXNdxtRPIz0U5YYZ6nldVXNcH6nEqT7j/DIXE8zJW6lxDMi3XyEhyXT+C6pl1SxiscAkja6+xM/q7g2rbyajqWzepJ2d1ETr80Yl1cuaEzoSifv+5+MvwllXdFdcaPuwkPboPJJFqljuZAB8Y8GzPCtrAeh/3FVZNH/SJ/sknboSmkj+psw+dr/yAUM1S9VZz0etv5H+5Ce6liqfXD6n6lyzpWLn5J+d5/R1v9A2oeew7Q9pEo2/Q/4N2AC1oBTyGECzg+gchJMccIPJRxKzsFZyNM5grcsuUI/R35YRclh+nsk0+qeeTfClJUBxsC4k28RwRD8SbaStS4u1cV9HZKjiJH9BDGyH5eAhE+UoBz3JiEJk62EJWxvEpEwyWKZiEwMqdiyTRdj1A3ilxuJcoPoMfzi6ALAAI6AfyRQwAQSDQWnQWvDLuDyUHUSIIFRQMAeBWUcoiLmlaEAyyVXqqbCqta1Ap0Egu2dO7qRmk84a5niYjEUZsPErpSIEaGPAvWv+Tn08Xjhen1CgMTRqCri7zxNwN/96n1XxSRYFTWSphumQq7SabwhFCMnYcuSgb/VCmNi0iL7cYFpQffSLH65lCZJL1VS00/1jx1ruNh+pm2jpK2S6qfxepNkBjFWljDrWdrEOMkk7eIeF5dpR1w6ZD9R/HIsYvUgrgBcIm4RjyNBfwnzagAAEABJREFUeFxxcVtBRCUk20QJS7i+SkTiJIotx5kE4l544rYgjAZXXBbQbzGQ9jB4YhlI28ytaD+TrSDhz8h+tvGyCqfppYgc5uOHOpEACZDAqCQgp8f8KrfeZuGavAjG43MUswNtQCjg7EOMBH0End35LgTX+LmwxswCXG7HP3RyO9oe/Qo6lv8KHc/+FB0v/AhhfXSb+NrhADpW/g9a//wptD3wGQR2/ANIeRSXBIMNA8gZzpRWwj39PAzHn3G0CAOmUyDbbiUEoK8SlDgDEa2PnsVGQErh71aARL8OCZco7XKcKIl+sf1Ef91vkzhtiKBnsdHqhLMlXLKoe1wiEi4uLZJuBrHFrVtpRsRuRrhLmmQ/LhE0SZqZpFHC9VUaJE4WgnrJMyYNsh+TRtG1NxFd7VRplp9kiqAFdgaBuCVLq7TBRJHfudQJuqRd/KNixGgzpgOWiiXbjOKHJYabiku2LjG2kyUohkB30mmouWTbJWG4XYkSkeNk8bgiYnilii1uCSJdkzcPxSc6ZSvSI0pdRD/SNcLrArKN22s4j6SVIkVynCi9ptGHsmhaA64PFxwGykHF44LUeR6JBXgsDIrk2mjvt3FuQX7PmcUSv36LgfQzgyf6+xmQyM/QJIjs8jMgAoycDQH5SWUTbOjC6H1/nlmXwDVeDAD5RdntjbD1WdyqQjgIu+W4DPBt5/Ygz7yroIYFoD8dILjzCYQPbYfdJoOXlnqE9qxC+Ohm6AtmdCYhsOFhhI9tR3D3anQ8dQ/86/+I1Gf0Rhr3I9J0Cu7Z58I9ZXgMBfAvhYAtx7kRW4axtgyRByZhSSVXEpK0ci3yO0EGsYNiEMQkIPsx8QuR3qRDwiSKhu8Q8zVF7HYxWtIlJO7J0oaQnSitcpwoLXKcKM1yLBLpTpoQ6vQLyjYYaUKyNMpxd9IgfiLhRKlHMJwop+Q4WQLhU3AkItsuqUMgkiDhOvjT5JS4JUq9HNdLWqnSIG4Nkq+K6B5uRChRInIs5QylSFjKn1laEI7EJRJpRWZpE3cRqZ+IiB0Jy++v82Mi0l79iNjSFkTsLvGL0ZgqAXGLSVD2EyUkCfYkmmdUjFwwiYkl+1GJyIAuJrbsx6W3weeAB7tiGLgTJO8MBTGcPAUiAzbapJypaagxmK9SJPoOSFKM6GI5TpUBpZ9Bv1yzTK2vwTjW36QMH6WP4ScXBPLOUIDUrnvSmfCedZsYAWNhNzUhdHiNlFWGdq0noW9xNF4PvAtvgGfuNTLzUCR+0Y9jLsisQ/RIvu2IfokYqAFifJ0LdyMRRE4dQcfzP4H/5f8TQ6RBwkC2jeL2XbjFSCm6+OPQpyE5HvzKGwJUJF8I2KLI0IotQ9SeJSIh8k0yGZSphqEMoMWwi6RJQIyzmPhl3y+GWYLYsi8D9XCKhNKMsnZE3RINszYE7dZupEXcRcSoCIqEAjqgl+rWjwzUI2hHzAgLiJESlUYxkFKlQdxiUi/7iXJKjKOeJJOBVYcOMbqiclL2Y3JC9uPSHjqOqJyQbUxOyn6i1MlxHTpCiXJKjhOlXo7r4Q8lSLgB/gwSEAMuXZrE0ItLMNwsRl9MhG84UaQuwq0IifEWlTbZT5V2cWsXYy8mHbIfE2kLkUQJiF9MgrIfFOMuVULiFpOw7KeLbYfFwFOR35WeTx2R372eZzvFSLsYMSIFkSGIDkMKVvo9myKjwUxxezO8++o/YENd9OwtDdVJ61GaJj85ICDIc5BKrpMwFrzzX4Oiqz8Ba/xsdDz3v2h98ONoe+QLQMjAd9E7UKTPGy+pTcrZO/8muCbPgj4y1RSXwzPrIpkVWAq9NUlfFFNy41fhPm0RTEmlhCmRKYgQ/Kv+hJb7Poq2xz6Ltie+DPeMC1Byyw9g6ZMtklIfugPphmXAM3T5MScSIAES6I6ATOR2eelAwri1h+pyysXOIKWhesZELxolSljylAGwmF52l4Sk302UoBwHxUBLEDsgA+p0CTtGmwzUk7YdCCcYcVFjrR3RrRgBMlsT6hIxEtRwE0Mh6EiLGGOpIkaGzBYFukSMkG4NtZiBptt6x0jzywxZspwSoycmdbKfLh19MsyOi/EVM8x0m2iY6X4m46xOjLFTaeIPnUKXpOldDzXWAmEpW5o0inEWkyYxzBJF+GUy1sQYDjrSKsxTpQ2hSKK0y3Em6RD3RPHLsV/qP1ECcpwoQTlOlkjXrG9I2lmihOU4Lra0yvwRW34n2YtckpXfXux3ORhbSZ6fnBKwcppaLhOzXNDnXJe98YcovvbTMuA/B76z34KyN/5AjIQPwmR4brdVPQOlr/suiq//BIpv+gyKLv8krKoZiP25xp2Bsjf8BKVvuhtF13wUvsveI2H+2UnXd877UXrjN+E78x0w7vgsRSwutyRAAiQwGgmEg6ar2MYFSNfcdcwdEkgmkDjwSzTMdD8sQcMyqEyVkLglSwQhGQp3StfgOSiD5ZgEZJCdSRIH5jJwF0Mt1CXtCCXNtokBoIZalyHQiuhsTuK2RYyHRBFjQwy1YJqIQSJGW7BLGiVeY4LRovuphk29+CeLv8soOiXGUKLUyXFcOkInxbhSqZNtopyS42TxJxpdzn49/F2zZA2yH5VASPSLScYZskbRN1WaktyC4aYE40z3hVePxlkiW91vFW5RidZFm9RJorTLcSaRuo5EJSwza7bOfElr4yc3BPLXUOgsnymqgOe0q2QA/3Z4T79FBv7TxceIZPoYWBWT4D3jVjEyroNVOgZpfy433BOWQF/KVXT2e+Bb+lZ4594AV81pgOVOCz48DtrZDk/OzJUESIAEEgmEA6br0MgZw7jYP3UB4Q4JDCsB/S0mihpkyWKLyZUsiYZaqMtIi/RqnAUTDLXYfkDc4hJOmlFTo61DDLpEkUG+GmsR2WaUuFEQFAMu6MyutXYZD0Fn5qdFjlNFDJJO400NjIgdGtZaGWmZS7c/0orE8vSXAOORAAmQQCqBVEOBMwqphHhMAiSQLwTUbMoXXUaKHjQURkpNshwkQAIkkE5gwC6JhoIlswk0FAaMlAmQAAkMGgE1FVQGLYNRlzANhVFX5SwwCZAACWRHQB9sE+EahexgMRQJDBkBZtQzARoKPfPpmy8Nhb7xGqLQbORDBJrZkAAJ9EBAb/VVYyEWxJIzRt4s5YopxS0JkAAJdBHg+KkLRY52pNvPUUpMpkcC9CQBEiCBQiMQ8idr7Cxm5lkjGQqPSIAE8ooATYXcVge7/NzyZGokQAKjh8CIL2k4kFzE6ONReRpOpsIjEiCBfCEQ7Z2i3/miU6HrQUOh0GuQ+pMACZDAIBEIheKPRtUseOuRUqCMbAIsXWETUCNBpbBLkU/a01DIp9qgLiRAAiSQRwTCqbceuWzorEIeqUhVSIAESCCJgJ10xIOBEhgRhsJAITA+CZAACZBAOoFwwsvWIJMLaiQY2aaHpAsJkAAJ5AMBNRNU8kGXkaEDDYW8rUc29LytGio2FASYRx4QCAXjShjLhuVmvxQnwj0SIAESGPkEaCjkZR3zZJyX1UKlSGCUEQj749MH+sQjvmxtlDWAnBeXCZLAEBBwnunMcVSuSNNQyBVJpkMCJEACI4xAoD1eIEvOFi4vT75xItwjARLIVwLsqXJXM9L195wYfUmABEiABEYngUBL/BSh6xPcvtHJgaUmARIoHAI2aCbksrbiZ4Fcpsq0SIAE8pkAdSOBrAj4EwwFXZ/gKYpkFY+BSIAESGB4CdBYyBV/Ggq5Isl0SIAESGCEEQi0xNco6PoEzijkcwVTNxIggSgBMRLkE93n90AJ0FAYKMEcx7dtmTQTyXGyTI4ESIAE+kwg0Bo/ReiMgruIZ98+Q2QEEiCBISag/ZTKEGc7GNnlQZrxs0AeKEMVSIAESIAE8oeAvzllRoGGQv5UDjUhARIggSEgQENhCCAzi1FFgIUlgRFDwN+aYCi4AQ8XM4+YumVBSGDkEtDZBJWRW8KhLJk1lJkxLxIgARIggcIgEA4Cie9RcNYoFI/Wk29h1Bm1JAESgPPMI/ZUuWsJNBRyx5IpkQAJkMCIIRBsk6IknG2dNQq+BAfx5ocESIAE8o+A9lMqvWhG76wI0FDIChMDkQAJkMDoIhBoNUh8roLlBvjUo9HVBlhaEihIArQRclptVk5TY2IkMLgEmDoJkMAQEQi0megcvuRnZNfli0BvP5JDfkiABEggjwnYeaxb4alGQyHv6kwbuEreKUaFSIAERhEBnVGIFde4bHiLYke53jI9EiABEsgdgegIKvqdu1RHb0o0FEZv3bPkJEACJNAtAZ1RsG2ZSpAQRs4UnhKeeAUFPyRAAtkQGNYwtrOgeVhVGEGZS/c/gkrDopAACZAACeSEgDOj0GkbqKHg5hOPcsKViZAACZBAIRGgoVBItTW4ujJ1EiABEugioIZCp50ANRS8NBS62HCHBEggnwlIz2WL5LOKBaQbDYUCqiyqSgIkQAJ9I9D/0O2NcnroPNdaukahLNL/xBiTBEiABIaIQGe3NUS5jfxs5Eww8gvJEpIACZAACfSBgJxpO8RQiF2U06cdFVWIYx+SYFASIIFBIsBkeyGgfZVKL8HonRUBGgpZYWIgEiABEhg9BEJ+INRmuh6PqoZCcSVPvKOnBbCkJFDYBNhb5a7+aCjkjmVPKdGPBEiABAqGQEeTQTgkhkKnxsZtw1fOU28nDm5IgATymoD2VSp5rWTBKEdDoWCqioqSAAnkF4GRq40aCpFwZ/nEXvCW2nB5O4+5IQESIIG8J0BDIVdVREMhVyRzlg4bd85QMiESIIF+EehoNLBD0ahGDIXi6kj0gN8kMNIJsHwjiADHU7moTBoKuaDINEiABEhgBBHoaLIQCYuFoGWSTXEVDQVFQSEBEigMAmoiqBSGtvmt5UgwFPKbMLUjARIggQIj4HcMhajSzoxCFU+5URr8JgESKAwC7LNyVU80FHJFMkfpaNNWyVFyTIYECpQA1R5OAh3NpmtGwRgbnFEYztpg3iRAAn0nwJFU35lljkFDITOXYXZlAx/mCmD2JDBqCURCQKDVgp2wmJlrFEZtc8htwZkaCQwVAR1GxV4EM1R5jtB8aCiM0IplsUiABEigPwQCrQZhfzymkbNEMW89igPhHgmQQAEQUEuhANQsABXlFNCjlvQkARIgARIYRQT8LWIoBE1XiT1FNjzFXYfcIQESIIG8J2CDhkKuKomGQq5IMh0SKBgCVJQEuicQNRTi/sU1YeiC5rgL90iABEigEAjQWMhFLdFQyAXFnKbBhp1TnEyMBEigTwQcQyEQn1EoqeGjUfsEcLgCM18SIIEEAhxLJcAY0C4NhQHhY2QSIAESGFkE9GVrIX/cUCgdwxPuyKphloYERj6BkXLrUT7UFA2FfKiFNB14Yk5DQgcSIIEhIdDeYCGUsJi5YkJ4SPJlJiRAAiSQOwI6jlLJXYqjNSUaCqO15lnuQSLAZEmgcAkE24BAi0StzGcAABAASURBVAU7Ep9RqJjMW48Kt0apOQmMXgI0E3JT9zQUcsORqZAACZBAwRNobzLQx6PGCuIuiqCkmqdbxIBwSwIkUCAE2G/lqqJoKOSKJNMhARIggQIn4G+ykgyF8vFh6HsUCrxYVJ8ESGCUEbCdl631bCyMMiT9Li4NhX6jG6yIbNiDRZbpkgAJ9Eygo1lmFNoSbjuaFO45An1JgARIgARGNAEaCiO6ekda4VgeEiCBwSTgb7YQTDIUuD5hMHkzbRIgARLIdwI0FPK9hqgfCZAACQwBgXAA8DcZhBPeylwxcQgMhSEoG7MgARIYXQT4eNTc1TcNhdyxZEokQAIkULAEAjKT0CGGAjrvfjRuG2XjOg8KtlRUnARIYDgIDH+e7LtyVQc0FHJFkumQAAmQQAET0Kcd+Zvj6xNKaiJweQu4QFSdBEhglBOwR3n5c1N8Ggq54TgCUmERSIAERjOB6IxC/JRQPi4MY3iiHc1tgmUngcIlYCP65KPCLUG+aB4/K+SLRtSDBEiABEggNwT6kErqjEIZH43aB3oMSgIkkH8EeKEjF3VCQyEXFHOahjZslZwmysRIgARIoFsCdgQItBgE2+OnhPLxtswodBuFHiRAAsNEgNlmR8B2gkW/nV1+9YtA/KzQr+iMRAIkQAIkUOgEQh0GbfVyOug8pxqXjbIxERoKhV6x1J8ERjWBzg5tVDMYeOHlzDDwRJhCbwSy97e1XatkH4UhSYAESGBABALtQOuJ+EJmX4UNb5kkGXeSA35IgARIgARGGwEaCqOtxlleEiCB3BAYQanoS9ZaTri6SlQxIQyXl1csuoBwhwRIoOAI6GJm9mIDrzYaCgNnyBRIgARIoHAJyJnU32LQdip+OqiYREOhcCuUmg+EAOOOJALSuY2k4gxTWeJnhmFSgNmSAAmQAAkMH4FwEGg9biESjN9nVDExArdn+HRiziRAAiQwcAI0FAbOEBgBhkIuMDANEiABEhidBMJiIDQejp8KfOURFFfZMPE7kUYnGJaaBEigwAnYor+KbPjpN4H42aHfSTBibgmwUeeWJ1MrSAJUesgIhAJA05G4VVA6JgJvCfuhIasAZkQCJEACeUyAhkIeVw5VIwESIIHBJqCPRm0+HjcUysZF4KGhMNjYR2X6LDQJDCUBG3LBQz5DmedIzIuGQh7WqtO481AvqkQCJDCyCOiL1pqPWogETLRgsnEMhWKeXaNA+E0CJFC4BNiP5aLuejEUcpEF0yABEiABEshHAmoo1B+InwY8xREUV0fg4kLmfKwu6kQCJNAHArzo2gdYPQSNnyF6CEQvEiCBEUSARSGBTgJqKDTsj992VFxto6jC7vTlhgRIgAQKmYD2ZSqFXIbh152GwvDXATUgARIggWEhEA6YpIXMJTKboE89GhZlmOmACDAyCZAACQwGARoKg0F1QGnS+h0QPkYmARLImkDzMYNQe/w0UFIT4YxC1vQYkARIIJ8J6JuZ81m/LHTLiyDxM0ReqEMlSIAESIAEhopA3e74bUdun+2sT3B7hyp35kMCJEACg0mAF15zQZeGQi4oMg0SiBHglgQKiMCJ7fFVy76KCEpq5MRqCqgAVJUESIAEuiUg/Vm3fvTIlgANhWxJMRwJkAAJjCACoXbg1J74jIK+jblsbHgElTB3RWFKJEAChUdAzQSVwtM8vzSmoZBf9aGvBxGN2LQFAj8kQAKDSODYVhfsSHT6wMimpEZmFMaw7xlE5EyaBEhgSAlof6aSMVM6ZkmAhkKWoBiMBEiABEYSgWNb4rcdeUoiKJ8Yhss9kkrIspAACYxuAjQSclH/NBRyQZFpDA0B5kICJJATAiE/kLiQ2Vtmo3JSJCdpMxESIAESyBsCNo2FgdYFDYWBEmR8EiABEigwAo2HLARaOrt/A+eRqBUTh8dQKDB0VJcESKCACNidN3QXkMp5p2rnmSLv9KJCJEACJEACg0Tg5E437LBYCJK+y22jfEIY3hJeeRMc/JAACQycQB6lwH5toJVBQ2GgBHMen40650iZIAmQQBcBOxK97SgiW3V0+4Dq6WEgajeAfyRAAiQwcghwTDXQuqShMFCCIyU+y0ECJDAqCLSeNGg/5UJsRt5dZKNmhhgKo6L0LCQJkMBoIkAzYeC1TUNh4AyZAgmQAAnkJYFMSp3aZyHYEfVxHos6JoySap5Oo0T4TQIkMLIIsG8baH3SUBgowUGIz2Y9CFCZJAmQgEOgfp8boY7ofUZGzgC1s0LgbUfgHwkUCgHq2ScCHFH1CVeGwHKayOBKJxIgARIggRFHINBq0HLUhUio01Bw2Rg7WwyFEVdSFogESIAElIAaCiq6T+kPARoK/aHW1zgMTwIkQAJ5QKDhoAV/S9RIUHV85RFUTuZJVFlQSIAERh4BPh514HVKQ2HgDJkCCZDAKCRQaEXW9w7V73Ohoyne7Y+dG4LlLrSSUF8SIAESyJKAdnxZBmWwzATiZ4zM/nQdFgK8wjcs2JkpCYxgAv5mg6ZDLoT88RmFSUuDI7jELBoJ9JkAI4wwApxRGHiF0lAYOMMcp0AjIcdAmRwJkIAQaDxsoeWEdPmdXUzJmDBqpne+TEH8+SEBEiCBkUegs8MbeQUbshLJWWPI8hqcjJgqCZAACZBAjwT0JWtNh11oOxXv8icsDMHl7TEaPUmABEigoAlwRmHg1Rc/aww8LaZAAiRAAjkhwERyS6C90aDxkIVwoPO2I2Njypm87Si3lJkaCZBA/hHgjMJA64SGwkAJMj4JkAAJ5DmB1hOWsz4hpmbFxDDKxvEEGuPB7ZAQYCYkQAIFSICGQp5VGk/deVYhVIcECpxAJAw0H7PQctLVVRK97chys7fpAsIdEiCBkUmATz0acL32bCgMOHkmQAIkQAIkMJwE/E0G+lhUdK5btjw2xs0Pw2LvP5zVwrxJgASGgADXKAwcMk8VA2fIFEigoAhQ2dFFoL3BQv3e+GxC9dQQiqvEauhcrjC6aLC0JEACo4sAZ04HWt80FAZKkPFJgARIIE8JhINA4xELbfVxQ2HsvDA8xXaeaky1+kmA0UiABDIQ4IxCBih9dKKh0Edggx9cT+Aqg58TcyABEhjZBEIdBie3u4HOLsVbGkHVtDAfizqyq52lIwES6CIgpkLBrlPoKsSw7tBQGFb8zJwESIAEBo9AR6NB3e74bELl1DBKamwY3nY0eNCZMgmQQJ4RsPNMn8JSh4ZCYdUXtc1zAlSPBPKFgD7t6Pg2FwItnd28GAe1M8Ioqojki4rUgwRIgASGgAANhYFA7jyDDCQJxiUBEiABEsg3ApGQwcFX4q9eLqkJo3JKGO64U76pnK/6UC8SIIECJmAXsO75oDoNhXyoBepAAiRAAjkmULfbQsvR+G1H1dPCKJ8oswkys5DjrJgcCZAACeQxgUymQh6rm2eq0VDIswoBF93kW41QHxIoPAJyXtz7gqerO3EX2aieEUZJtXgUXmmoMQmQAAkMgAD7vQHAAw2FgdBj3CElwMxIgASyI9BaZ3B8q6crcMWEMKqnh7uOuUMCJEACo4WAzQuwA6pqGgoDwsfIJEACJJB/BPaukNmESPQeI8ttO2sTKvS2o/xTlRqRAAmQwCAT4IzCQADTUBgIvZzHZWPOOVImSAKjjIC/2eDIhviK5aJKG7WzQ3DFJxhGGREWlwRIYGgJ5FduduxFMvmlVsFoQ0OhYKqKipIACZBA7wSObnZB35+gIfV9CWVjw6idGdFDCgmQAAmMQgK8CDuQSqehMBB6Iygui0ICJFD4BMIB4PA6D+xw9LYjXcQ8RmYTfOU8URZ+7bIEJEAC/SPA/q9/3KKxaChEOeTRNxt0HlUGVSGBgiJwap8LLcdcsacdwVsawYRF4YIqA5UlARIggVwS4GLmgdGkoTAwfjmNTRMhpziZGAmMKgL6YI8jG90ItEZnE4z07rWzQiit5W1Ho6ohsLAjnACL13cCHF31nVk8hpxK4gfcG34CbM7DXwfUgAQKkUDLcYOG/W6Eg1FDwXLZmLwsCDUYCrE81JkESIAEckGAi5kHRpGGwsD4ZRWbgUiABEhgUAnIFYajr3rQeiLepZeOD2PMLM4mDCp3Jk4CJFAABKSDLAAt81XF+FklXzWkXiRAAiSQfwTySqOWkwYnd7oQbI/OJugswqxL/TDRw7zSlcqQAAmQwFAS4IzCwGjTUBgYP8YmARIggWElYMukwckdbjQecnXpobMJk5dwEXMXEO6QQFYEGGhEEtAFXCOyYENTKBoKQ8M5y1w4PZYlKAYjARLoJNBWb3BihwuBlmh3rrMJsy/zw+IL1joJcUMCJDCaCXBGYWC1Hz2zDCyNYY3NzEmABEhgtBLQ2YSG/S6c2uPuQlAxMYQJZ3A2oQsId0iABEY1ARoKA6t+GgoD48fYJEACuSfAFLMk0NFscHybG/7mzq7cANPPD8BTwtnJLBEyGAmQwIgnwP5wIFXceXYZSBKMSwIkQAIkMNQE9Lbb5qMWjm+V2YTO82DFpDDGzI1Abz8aan2YHwn0TIC+JDBcBDo7yOHKvsDzpaGQdxXIBp13VUKFSCAPCegTjo5uTJhNgI0pywIorozkobZUiQRIgASGi4ANvp25/+x7NBT6nyxjkgAJkAAJDCaBjgaDg+s8EPvAyaZ8YgRjZoXh8jqH/CIBEiABEugiwIuwXSj6uENDoY/ABjU42/Gg4mXiDgF+jQACkRCw7yU3Qm3RLtwYYOLCEErHshMZAdXLIpAACeSYgMwp5DjF0ZNc9CwzesrLkpIACZBAwRNobzQ49LKvqxyl48KonRWCp4iGQheUUbXDwpIACZDA4BCgoTA4XJkqCZAACQwKAX0k6s6nvAi0yjSC5GBcwNg5IVROisgRPyRAAiRAAukECvAiSnohhsWFhsKwYGemJEACJNA/AvX7LRxcE1+IUFITxti5IXjL7P4lyFgkQAIkMOIJsH/sbxXTUOgvuUGJx4Y8KFiHLlHmRAKDSiAcALY/4UM4EJ1NcHlsjJHZhJrT+IK1QQXPxEmABAqaAJ961P/qo6HQf3aDFJPGwiCBZbIkUPAEjmxyo26nu6scJTURTF4ahLeky4k7OSfABEmABAqfAMdW/a1DGgr9Jcd4JEACJDCEBPwtBntf8CIc7JxN8NoYOz+I6ulcmzCE1cCsSIAECpBA2lOPCrAMw6UyDYXhIs98SYAESKAPBA6+7EbzEVfXexOKKiOYfn4QLk8fEmFQEiABEhiVBDij0N9qp6HQX3KMN9QEmB8JjFoCLScNDm/wINgenU2wxF6YsiyA8nE8+Y3aRsGCkwAJZE2AaxSyRpUWkIZCGhI6kAAJkED+ENDHoR5c40HzUbEOOtXyVYVx2iVBIGo3oHD/qDkJkAAJDAUBXlTpL2UaCv0lx3gkQAIkMAQEGg5YOLHVjVBH1Cow0mvPu9oPT/EQZM4sSIAESKCvBPIwvA2u5epvtcgpp79RGW9wCNBWPqZ3AAAQAElEQVTqHRyuTJUECo9AqAM4usmNJl2b0Kl+9YwQppwd6jzihgRIgARIoHcCHFv1zihzCBoKmbmMNleWlwRIIM8I6C1Hp/a5cGyzB7H3JriLbMy9xg9do5Bn6lIdEiABEshjAjQU+ls5NBT6S24Q4mkzVhmEpJkkCZBAgRHwNxscXpe8NmHCwgBqs365WoEVmOqSAAmQwCARsMHRVX/R0lDoL7lBiceGPChYmSgJFBiBSAg4sd2Fo6+6oTMLqn5JTRgzLgjCir9vTZ0pJEACo4kAy9o/AjbHV/0DB9BQ6C85xiMBEiCBQSLQXm+we7kXgdZoF21cNqZfEEDFpAiMGaRMmSwJkAAJjFACnFHof8VGz0L9j8+YvRNgCBIgARLImoDOJux90YOmQ/Gpg7FzQ5iwMAS3L+tkGJAESIAESIAEBkyAhsKAETIBEiCB0Udg8ErccMjCnhd8Xbcc+cojmHpOEGV8udrgQWfKJEACI5qAzcej9rt+aSj0Gx0jkgAJkEBuCYQDwPp7ixAJRe8vMpaNSUuCGCczCrzlKLesmRoJpBGgwwgmwDUK/a1cGgr9JTdo8diYBw0tEyaBPCagi5Z3PuNF8+HOW47EVqiaGsakM4PwlOSx4lSNBEiABAqAgM0Fzf2qpUI3FPpV6LyORDshr6uHypHAYBGo32dh9/PeruS9JTqbEELN9EiXG3dIgARIgAT6S4ADrP6Qo6HQH2qMQwIkMIgERl/S+s6EHU/5EGqLdsn6QrXaWSFMWhqEiTqNPigsMQmQAAnkkIDNdyn0iyZPQf3CNliRaO0OFlmmSwL5SiASBg6scePUbjdiM+O+yojzONTiKvYJ+Vpv1KuPBBicBIadAPvT/lQBDYX+UGMcEiABEsgRgZM7XDj4khehDuOkqLMJU5YFMGaWWBCOC79IgARIgARIYHgI9GQoDI9GzJUESIAERgmBlhMG+1Z60XLc1TWbUDE5hJkXB2F1rmkeJShYTBIgARIYXAKxKdvBzWXEpU5DYcRVKQtEAj0RoF++EAh1AAfXeHB8mxt6+5HqZXkjWHRrB4rKOUWuPCgkQAIkkDsC7Ff7w5KGQn+oDWocNuRBxcvESSAPCOiFrePb3di/youwP3rLkaq18OYOVE/jU46UBaUPBBiUBEggCwIcX2UBKS0IDYU0JHQgARIggcEl0HzEwp7nPehojHbBRmyFiUsDmHpOCJB98I8ESIAESCCnBArtqUc5LfwAEouepQaQAKPmlgDt3dzyZGokkG8E/C0G+1a5UbcrvgihfFII868LwOXJN22pDwmQAAmMFAIcYfWnJmko9Ica45BARgJ0JIGeCUQiwNFX9ZYjnwSMTh0UVUQw5yo/SmvFU1z5IQESIAESyD0Bzij0jykNhf5xYywSIIFRSsC2bYRCYQQCQQRFwuHsB/gN+y3seNKHcCBqJLh9NqaeE8DYORE+5Shf2xP1IgESGAEEbOj/CCjIkBeBhsKQI+8pQ7snT/qRAAkMA4GODj9279qHF5a/hPv/9ih+9Yt78dOf/A4//fFv8ZMf/w66/5tf/wV/f/hJvPzSBhw+fAzBYChNU38TsPURH9rqot2uvnF5zJwQppwdgrfUTgtPBxIgARIggVwSiPezuUx1pKcVPWON9FIWVPnYkAuquqjsiCSgswYHDhzGgw/8A9/59o/wg+/9DD/64a/xfz/7I9Qo+OPv78e9f3pI5EH84Xd/w69/+Wf87Ke/xw//+5f43t0/xv/+zy/x3LMr0VDf6LwfIRwEtj3uw8md8UUIZePDmH5+AGVjs5+RGJGwWSgSIAESGAICnFHoH2QaCv3jxlhDToAZksDgE1ADYe/eA/i/n/4B37jz/+EX//cnPPn481i/fjPUcGhpbkFxqRuTplVg2mlVmDqzChOmVMBy2ThV14Ddu/fhpdXr8dCDTzhGw51fuwcP/O0xbPh7AAfXeCFz304hvGU2pi4LYszsMAx7YYcJv0iABEiABPKPAE9R+Vcn1IgESGAYCLS2tuFhGeB/7Y7v4y9/fhhbNu/AqVMNKCn34KIrZ+Id/3IOPnvXNfj8N6/FJ/7zCnz085fhY1+4DP/6pSvwn9+9Hv/+tavwhncuwaJlE2HEcDh69ATWvLxBZhp+hx/84uvYd3KzUyo1KsbMCWLaeUG4vI7T6P1iyUmABEhgqAjYvGOjP6hpKPSHGuOQAAmMKAInT57C3d/5Mb7/vZ9i1669aG/vcGYN3vHhc/CNH94sRsK5uPiqWZg5pxZjxpehZkwJqmujUjO2BOMmlGPOGeNw7S2n418+cym++K3rcN2t81Fe6UVzcyv21b2Kv2z7d6w4/BuUjA9gwWv8XJcA/pEACYxEAvlaJt561L+asfoXjbEGgwBt3cGgyjRJoHsCkYiNPbv24VOfvANPPbEcth3B2AlleMs/n4XPfP0aXHrtbBSXeuByWbAs031C4mPEW8O4PZZzO9Lt7zxTZiCulTRmoVRmJcIIYvXR3+CxI3egNVwnefEXL9j4IQESIIEhIsA+tz+gaSj0h9qIi8MCkcDoI6CPNd306lZ85jNfx779B1Fc4sHS86bgn//tQlxxw1zneKBUxowrxds/eA7e/qFzMGV6FWBsvLJ2Le7+9o+wf/8hqKEC/pEACZAACQwBARoK/YFMQ6E/1BiHBEigoAlEIhFsWL8ZX7/zHhw/dhLlFT5cdv0cmUk4GzNm18IYmR7IUQmNzEQsu3AaPvwfF2PRskmStu08RvXnP/sDDhw4NHgzCznSn8mQAAmQwMggQEOhP/VIQ6E/1BiHBEigoAns2LEHP/7Rb3D0yAnorUVX3jQXN952OiqrigatXOMmluOtHzgbyy6aChthrFq5Fn/9yyPQ9RGDlikTJgESGFEEWJj+E4iaCdHv/qcy+mLmjaEQCATQ0dEhU/GD90xxv9/Pq3ejr42zxCSQRKDu5Cn85d6HnZeoGekBr3ntPKiUlA7+I4iqa0pw8z8txFkXTIX2efquheXPr3YWTycpyYMcE7ARDAfREWiXc0w4x2kzORIggYIgYNscA/ajouQ02Y9YOYpiS6UdOXIEzzzzDB588EE8/PDD+Mc//oFt27ZBB/W5yEbzOHnyJFauXIknnnhCTsjtvSbb1taGtWvXYvXq1d3KSy+9hOPHj/eaFtCHIMIDcq2xDzEYlARIoA8EwuGw9Dcr8PJL62WgHsR5l0zH1WIoFBV7+pBK/4PqHU1jxpXh6tfMxaz5Y1Bf34i/P/wk9uzZP6QnsCN1B7Fu12qs3bGySzbuXoMTDceGVI/+k8wupvb/9c11eGX7Sjy55mE8vuYhPPHKQ3h1z1r4gx3ZJcJQJEACJDCKCQyboaD3CG/atAkPPfQQNmzYgGnTpuH0009HQ0ODM6DXQboO2PtbN5r+0aNH8fTTT+P+++/H888/j+3btyMYDPaa5P79+2Uw8QyeffbZbkX1yyatXjNjABIggSEjsH3bbjz3zErpZ5owcWoFXvumhejXTMIANNYnI02bWY1LrjkNlTXF2LN7Px5/7DnnMaoDSLZPUStKK+EyLry8/UWs2PysI7p/5NRBROxIn9LK18BajkN1B/DM+kexQYygitIKLJi+GIGQHy9uehpPrX0ELW1N+ao+9SIBEhgUArz1qK9Yh81Q2LlzJ5577jnojMLkyZOxdOlSzJkzB7Nnz0abXNFftWoV1q/Xq36BPpVJDYTDhw/jkUcewb333gtN59ChQ06aenWpt8Q0/ubNm9HU1OTEUV0ySWVlJcaMGdNbcvQnARLIEwLBYAj6ArRtYizolf2bbl/gvBNhONRze1xYeNYkLDl7EiIRG089uVz6wmNDdjW/tKgcMyfOhsflRbu/rUtCYb2QMjJOpA0yk7BCDIJ9R3ehqqwGc6cslDLPxcIZZ4mxEMD2A5uwfNNTaPO3DkcTYJ55SIAqjQYCI6N/G8qaGhZDQQfhr7zyCurq6pwT45QpU+DxeBypqalBSUkJWltbsWbNGuhtQ9kM8BVaKBTC8uXL8eKLL8rVuWZnzYPeB5xtfE1DZzT27t2ru92KMQYLFiyAz+frNkx/PdiE+0uO8UigZwL6ONJ16zY5tzWevmQC5i0YB72633OswfOtqCyCPgVp3MQyuTDRgicefx6h0NDdP+9x+6TP9Q5eAYcx5XAkjM371uPAce3LDapKa1BaVAZjDGoqxqLEWwI1ivYc3o7dh7cNo6bMmgRIYCgJcIzVd9rDYijs27cPeltQJBKd4i4rK+vS3Ov1oqioyDk+deqUs14hFs5xTPpKPnC73bj00kvxhje8AbfeeiuWLVsmJ0JPcqBejnbt2oWQGBxnnXUWzjvvvIxyySWXYO7cub2kRG8SIIF8IaAXC3bv2oetW3Y6xsG5l0xDuQzUh1u/uWKsTJ9VIwNY4OknX8hqDVWudDbQ/1ylll/pNLc1YvvBzXIhKuLUt8fjhcvlcpT0ujwoLip29nVx886DW9HMW5AcHvwigZFNwJbiqciGn6wJWFmHzFFAXaSstwa1t0cXFRtjujpwyJ9lWdKxR9XSk7sO3PVpSOLVp48aDTozoTMV2UZU3bZu3eqsl7j66qtx7bXX4vrrr0+TK664AqWlpdkmy3AkQAJ9ITAIYRsbm8VI2CEzlW2YPKMSU2dWw+2O9jODkF3WSZaWeTHnjLEoryiSGdZ6vPzyhqzjMmD3BA6fPICm1gYngIGeU1xdZpGxXHCJQP50HcOpljqcbDwmR/yQAAmMfAI0FPpax1ZfIww0vN5SpDMFsYXAxpguwwDyZ4yBMUb2oh8NqxI96tu3Gh19iaGzHMeOHYM+GUXXR+haBb0NSW9/UiNCDZe+pMewJEAC+UGgoaERO2VGQbWZM38sqmuiV5T1eLhl9uljUVVb7KixetU6Z9v/L9t5BKgOfA+d3A+V4/VH0NrRAh0U9zddjatpnGg4hsN1B5x0j9UfRkt7s1y17/7EGwwFcarpJA6LLhqvoeUU9Jafdn+ro1Nqn+oPdOBEw1En/aOd6YfCITS21iMYym69mqZ5qG4/9PYjp7xyPjFGzykqgH4bEz/1dQTacKr5JPg3uASYOgnkAwGbT5bsczXEe8s+R+1fhJaWFqhoZ64pGGOQOqA3RrtyOH86QNe1DM5BP76MiafVU3S9vWn37t3OugZdaP3YY4/hr3/9qyOPPvqosyj6wIEDWT01KVM+ejuTllvXTKi/7qtRosaJGiIxw0n9UkVZNTW14Pixk2ly8sSpHnXSuC3NrThxrC5j3Pb2jm5P9Bq3ra0dmkdq3ieO10k9tnYbV8sQ8AczxtW0muQKr4bpTnThqb6ISsMmSx306rAac93FVdYN9U1p5dV06k81CK9Qd1Gh7UB1646X6tVdZOXV3EM9+Tv83T79VuO2tmZmrfxbW9t6ZO33B7plrTpp+t3prWXSPJRPqigLZdJd3FAwhPpTjRlZN9Q3Quuiu7jhcASa/vFuAMDJaAAAEABJREFU2qbq1V1cdddyHe/8TWh96W8kImmqX6po2IP7D8MlswgTplSiZAjemZCqQ3fHukahsroYxhi8unFLj/XcXRrqHpIB9aET+/HS1uV48dWnnUeAPrvhMTz+ykNYuflZHDy+N+vBtqYXE70tZ9v+jVi3YxW27t+A9btexjPrH8MTax7EC68+hd1HtsmgPP031SbGia4TeFbCrt62HJv2rsO6natFXsKa7Suw58gOiRdfk6FGxMvbXnDSXrtjpej/ioRdjQ27XsKqLc9D/e0sTvKhcBAnm47H1IeeAYx+m06n2LbzMCjGjBounYfckAAJjGgC3V/YGNHFHkDhejAUBpBqD1Hb2tqcxYSJQYyJ99zGxPc1jA5SGhoadHdQpbm5Gbp2QvOLZaT7uvBab3/Sx6s+/vjjzvsVYrdNxcL1ttVbpzZu3Oi8y6G+vt4JvmfPHmh6+t4I3erTmZqb9VF96Y1425ZdeObJFXj6iRczyvJnX4IaA07CCV86ONy9az+ef2YVnn4yQ1xxe+H5l50BpoZNiOoMVo4dOYkXxb/7fFdj756DMrhO17lZjJMXnn9J9M6Qr5TjmadWYOvmnYlZdu1rWV5auQ7PPJG5zMpiy6adCAaCXXFiO21i2Ly6YRuekbI9nSm+cFy/dhNaW9piUbq2Wt9bO1k/JTo+nUFelDJp2boide4ov53b9+LZp1ciUzx1e+G5l1Bfn96WNe6hg0eh/houk6jfwQNHMrKulwG5+mesYynDs0+txI5te5w67VS3a9PS0ooVy1/uVuenhZfWk7LpitS5o8bL+rWb8XRG1ivEfQU2rt+KNjGAOqN0bdQw1nSflvQzlfcZcV+9Yi0ysdZE0n4TosOzEmeH1EFqu1DdlVFDQxPKyr2olqv3ajBoOvkgPp8bY8aXwu2xcPTIiW7L3JOuaiTsOboDy1990hnI11aOw5JZZ2NC9RQclyvz+o6EFZueweE6/b1G14b1lF7Mr7GlHvooUX2EaigSwpwpZzjpjq+agPrmU85g/tn1/8DOQ7ogON4PBOXq/7YDm7B6y3M40XgMC6YvkXjnYELNZBw6sc8xGnQdgd35KNaOQLuEXe48rjUsBs/i05bhDIlT5C3CFjFS9h3dCX+we0M7pq9u/cEOtMlMh+47YgBjDAwS/+JHkUjYeQpSoi/3SYAERiiBeDc1QguY+2INqaFg27ZjJOggIVYUYwyMMbHDjNsWmYXI6JFDR103oYN41TFTsnpl9ODBg85TlVavXo3EMmQKH3PT9I4dO+a8x0ENDjUa1K+hoQF79+6FGgz6fgd9IdyWrVvVK0n0SuhzT69yBtX79h5CquzZfQBrXtqIda9sSoqnB40yMHpF/Da9ugM6oE+Lu+sA1r+y2RnM6RVpjRMTHdxt3LAV69dugeaRGlfTe3XDdvHfLFeF1cCJxYxuN8gA8pWXN2K35JEaV4+3bt7lDIz1yn80Rvx7ixgQL7+0QeLuTyvvvr0HoYNEHRifqmuIR5I9ZX340DGskgHmdhkYa9h9Kcx0MP/SyvXYs+dA2sC5uakVy59ZDTUW9kk++1LiKgdlrYNfyS7p09jQjNVi3KgBkxpPjzXuWqmjDeu2Ore2JUZullkITVNFw2n4RFE39VNpbm5JjCppRZz6W7tmE/Z0w1p5qm56hR9JsQGtw5eljWgeiXnG9pX188+uljpuToqprPeJkfjSqvVQpvvSeB10jJNVK9bhoBhBGj4xAZ2FUENS00+Pe8ipe2W9WdpuYjzdV9bLxejScu3rrCNtj3q8asUrYow1arAuCcqsx3GZAVODQa/cl4qx0OWZJzvjJpTB43FJfYaF15E+aWXLVXa9DUiv1qshUFFahUUzz8T46kmYMX4WvG6fc+X+yKlD2OsMuDuySl+vzL8iV/a37Fvv3Cbk9XgxRgyQSbVTMWPCbBT5ip109IVm63auQltHq3OsX3r1f9fhbWhub4LLcku8CRhXNQFzxdBYOuc8VJePQcQOd/0GD4rxsOPQZkdPr6cIY6smQvNZJAbD/GmL4PVEy6Bp9yaBYAAqsXAG8t/DOUb5aduIheeWBEhg5BLQ3/vILd3glMwanGQzp2qLoaAD7r52yrHbdTKnOnBX1UsXP59xhlwtW7LEeaKRviNB3VJTb5aZBzUUdNFzql+mYy2rGiANDQ2ZvLvc2mSm5djRY4hEks3dkyfqnZdDdQXMsBOJRGRgdSDNRwfhepuO+qd5djqEw2EcOXwcgZSr83pLkt5epP6dQdM2mq4OPjWPVE8deIa7uQ0kFraxscWZzYgdx7aHDx6Dv6Pn+5E1z1NyJV3rLhYvpk+TpBtzy7RtkdmEUycbEEnRr66uvlfWWqb9MjhNTVeNlkYxFhL1SQ2jcQ/sP5xWx6pP3cl6Z5CYGid2rHE1TKvM1MTcdKtlPrj/SI9xVafGxmbUpRhWGv/AvkMI9/JITi3XSdFPw8ckIu1U02tO0SfmH9uqEaRtRPWPuak+9aeaoO0z5pZpq8brYTEyUv3q6k5BdUp11+Pjx+rQmjKDoW24VWZO1L+o2A2fz627eSU60+FyGUenRjHwnZ0svzr87dh1eCuOOrMFYdRWjEVJURmMMagoqUBZcbmTkt6z75er7bp1HHr50luOdh/Z7gzedYZg39HdONVc58TSgXtsQbA61MvsQmt7i+46omsKmtoaHENAZw5e2PQkdHbCslyYKLMKcybPh9vlga590AhH6w85V/W1bRyT/bWdhodPjIY5k093jB5JTIP2KqFwwNG5u4AG+p/gK12u5pvgUnC7VJgESCAbAvJjlwsr2YRkmDiBITUUNFtjjG66lUwddqYBe7cJ9MPDGIOZM2fisssuw3XXXYdbbrkFb3vb2xw555xzUF4ePdHGktZB/UsvvSQDkvgVtJhf6tayLOjjX3t7+pLX60V5RTksK5lPTW0ljEl2Q4a/sWNr0lzLK8rg9fb+eNiq6gq43a6k+BqvvKI0yS3TQVGRD6WlJWleYzLokxrIGIOa2qpUZ0T1cae5JzqovhXCC4izUdYlJSW9ltkjTEpKi2G5LCT+VddUwuVK5pDor/vGGNRm0LmyqgKuFIYaPlW0vMbEdVb/4uKijAzVL1FKhXORhE10syQtTTPRLdO+8qoSHVP9amqqYEyyPqlhLMtCTXVVkrNlGZSWFMPr8ya5px5ouy8R1i5XnLUxBhWVpXB73KnBk47dwlPbQpKjHFSLLkbyl920T3l5qRgC3iR37VNiM4ButyV13HN5kyIP0YHH60asTP5Az0ZyqkqNraecxb+BUDReqWMkRHlXlFZj4cyzUF5SiTFV4zBjwiwUe4tTk8h4bIxw0vOq+CrDQNCPUCh6u59B9F+8nI8aH8Fw1E8d1ACwO28rCkdC0EeQPrTyT86MhsftcV58Nm3cTLgslwZHOBySbTSzto42rN2xCs9u+AdONh4X3SucMlSUVkqY3j8GUnaDbv/0imI0p84gEtYY+eo85IYESGAkE0j69edzQfNGN+lRh04Xy7KgAwdXL4MxW2YekPBXXJzdiS0hSp933W638/4GzaukpASVlZWYPn26YzjcfvvtOO2006D6o/Pv+PHj0FuKOg+73RhjMHnyZJx//vlQYyBTQOUxe/Zs6LsbUv0rZXB3zXUXw+P1pHp1HU+aPB6XXnFe13Fsp3ZMNc4+ZxHKyktiTmnbCRPG4sxlC1GcMgBVI2PJ0tMxbvyYtDgxh8qqciw58wxoPjG32PaiS8/B5CkTYodpW4/HjSuuuiCjobDs3MWYNmMSjMl88lYWF1y0DGPHVkuYeNLGGMyYOQWLlpzutLO4T3xP63ne/FmYf/osiZucfmVlOS678nypp55ZX3Dx2fEEO/dqx1ThwouXpQ1SO72dzcRJ43Hu+UvhlgGw49D5pYPhxcJ6TA/GlRonGkaNmc5ozsYlaZ1z3hJhPd45zvSl7e6CC89CpvTPF52nTO2hnrxuYXIeVMfEtI0xmCcMlaPb40706trXOl60ZL4Y4VPTWNeOqcFFkrcapF0REnaMMZg6fRLOlrIh5U8ZXHX1hVLHyfkWlxQ54TMZzUC0rrVrUUGe/SX2eZaUPVv1IjKb2NBaj6a2+O1Wlol363rl/6w55+N9N34cb7/6g5gz+Qy4XMncusurqqwG5y24FKW+MhT7SjB36gKMrRrvXK3X/GKGSSy+3WkY6HF5cSVKJJ7uq4QjYRw9dRh/X3UfVm9dLn4lmFg7BR63V70xrmoiLBM1GnTFv65Z2LJvAx5d/Vdn0fNEmYXQ25WMidajE6mbL7fHA5cVSytDIB0nJDQCI20jsW/PEINOJEACI4CA89PnjEKfazJ+Rulz1P5F8Egn7pZBeXexbenAVRL9deCeeDyU+y4xaqZOnYobbrgBOpjXY80/HA4j28e2FhcX4/LLL8db3vIWTJo0SaM7RsEHPvABfPjDH8ZHP/pR3HbbbahImblwAsrXUhnIf/hjb8d7P/BPafKBf3kr3vrOW1FaViIh0z9nLJqH933gLXjvBzPHfcs7Xgc1NIwxSZGNMTJYnyJpvw7//OG3puX7/g+9Ge9+35tw+oI5MCY5riZUXl6KN7/9FnzgI29Li6vl+JePvxNLly3QoGlSJmV5/e03ZMxX437wX96G8y86C5muZpfI1esrrr5A4kqZM/BSva+/6TIxnkrT8tXBwjIxrD740cys/1lYa5m6M7wWyaD4Qx97R8byfkB0fovwyDRYN8Zg1pzpeNu7Xp9R7/d/+C14+3vegNlzZ2RkXSsG4T+9VVhLHsonVbTtLBaDLq3A4lAqvN701puhZUuNp8cf/Mg7cPa5S2C50rsKbXPX3nAp3v+hblhLu7nymgsztk2v14NzLziz2/ahbe62N94os3np9SRqQ8vzL594Vxfr933wzVDR+lNDUsPExBgjbSVq/IVCEYTDerqI+ebHNhAIw45E9dJZumy1ithhtMsV+EDA3xWlI9ghY+1oWupojIFluUSsjO0HPfwtnHEmPnjLp/HBmz+FM+ecB33c6sMr7sXzG55w1i10F3VM5ThMl9mLIjEwEsPo04VWb3kez218As3OS86ieupMx+Sx05L0s8XwOFZ/GI+veQib92/I+olNekuTx+VLzDZpX3O0EwYLxhgxUizwjwRIYBQQ0A5gFBQzl0Uc8t5Rb8PRgXNiIWwxDhKPE/ddLhdqamoSnYZlX9csXHjhhaiurnbyV50DfbhFwBgDn88HNZQ0gdLSUrkiPtYRnb0wxqhzt6Jxa2VAmCqVVRVJJ9dMCXh9HtTWVjtX/hPja1x3N1eDY+l4xLDTq8mJ8XS/uqaqa/AVC5u6tSxLZmbK0/LV+JkG+YnxjTGorMoct1iuHBvTPS9jjDM41XxSRWdKjOk5rg7UUuPpcVU2rL3COmM9lUOv/ieWMXVfB89V1ZVpvKrFTf1Swycea9rd8cqGtZZNy5gqxcW+HtuXMcYZzGygVU8AABAASURBVKfG02M1+IzpmXWxzGRp2FTRshjTfVwtuzKJxdPbrzQtdU8VvTBRWVnhOLe2BNDRFr9FxnHMg6+GU+1QI0ZVqa2t0U1Wov2QXq1PHPi2tDd13fufVSK9BNL1CUfqDuHptY/gsdV/c9I+a+55qCyt6jamx+2FPrno9GmLZPagNCmczkRsldmC9btfRnsg+uLNYl8prlh6A6aOnemsXUiMoOVZselp7D++B1reRL9M+3prVeJtSjouSI4ntBLOOZblchZLo5s/OpMACYwcAtofjJzSDE1JrKHJJp6LGgp6z78lg0h11Q5cp891PybqFtvXAbUO0mPHw7nVW4h0dkF1N8agWGYKcq8Pm3HumTLF0UzAI8aw3kLnlpnMpvoONDfHr77nAxcds5442oJgMAy9TaynW/ZS9TXGgsflgfZJ6Pyrb6lDa+LjQTvd+7Np97fh1T1rnVuAtu5/FRNqJuPCBVc4W8v0fPooK67ABQsux7J5F6CmYgyMiRt+/qAf+47uwqmmE6JWtM/TRdjXnnMzzpixxFmAbWDEL/rR2Yet+zcilLAOIuqT/u0WHuOqJohHZ3wBLKZBwhyCHol358fr8TnrIDoPuSEBEhjRBJz+ZkSXMNeF67mnz3Vukp7eRqQDf4/HI0eAGgn6JCTnQL4SjQQ5dK64q2Gh+yp6Ff/IkSPQR42eOHECiXHVP1VS00v1TzzWtDs6ZNo+0TFhXwcaEydOhDHGmR0YN25cgi93SYAE8pGAMUZmtiqkL6mBziicOtGKYCD+oq/h1rm9NYCTx1sRCkYwfcYU6IxWtjqpgVBSVIoiT1FXlJa2Zmc9QJdDP3eCoaDzToblG5+EPu60oqTSGcSPrRoPI/89JatrDJraGuGVmYVlcy/EpYuvxYzxs5NmC1rEmNHHp+rCZw2rx5Wl1bh44VU47/RLMK56YtJaA32Jml9vq+op406/KWNnQBdN66FtRxAJh+OzETpOEONB/VRKfKWoLhujuxQSIIERTcD58Y/oEg5G4azBSLSnNPWKmV6Vr6iI3gpgS4edODhXw0FF09CB+axZs5yrbHocDAahjyX9xz/+gcceewxPPvkk9u/fD10voP6pommnunV3rOsNXnzxRTzxxBNYv36984bmTGFVf2MMpkyZAjV4MoWh2yAQYJIkMAACFRVlmDZ9ijNYPLi3Hs1N+TOrcHBfA3SmQ4u3dOkZusla9Kq+LjpOXOirV90371+PNn/yU9m0X21pb4IaANlkcLLpGDbsfhmBkB/GGJSViLElV+qNzCT0drptam3AzkNbnHUILsuFWZPm4bIl12L+1EVwxRZTm04tbINjpw5B39dgy6C+2FeCBTPOwgVnXA59l4KWsTMkYlFix91tx9dMwjjRVf3VENEnMtmRiB4iIuecsOSjBy7LDV1PUVNOQ0F5UEhgpBOwE+YWR3pZc1W+ITcUVHG9hUcfRxqbVWhoaFBn5yTu9/uhog4aTg0FY6KnB33x2rp167B3717obMKOHTuwefPmrvAaJya2nAx0tkFPjjE3NSjULXYc22qYbdu2QR95umbNGjz11FN44YUXoG9ljoXRrYarq6uDzoqcffbZzqyCulNIgATym4Cu85g77zQYY7Bjy0mcOtmWFwprP7V98wnUn2qDsQwuvOicPutVKVfhp487DcXekq64B0/sg74sLbYGQNcxHDq5D7sOb4M/GF0XoCdMHTR3RZId1Sd2HtXbgnTxsThD3bTv1PUFQZlpONFwFDpr4PjJly0D74iI7DofTVt12HdsF3SQro41lWOxZPbZXWsbyorKUV5cCUvKbUt/vWnveuhaCA3rcXswfcJpmD3l9K4Xu+mA3pswc6LhupNSXylOn74YPm8xtN/u8Ld16REI6jkmyqCsuBxzp5wBNU66S4vuJEACI4mAXuYYSeUZ/LJYg59Feg56b/+yZcugMwvGGBw4cMC5gh+UGYOTJ09CDYLa2lroOwx0IbMxUUNBO/z29mgHr6nGjvUko8eJ0tbWBh3Ua5oxdzVADh06FDvs2hoTT18d1UBQg+GZZ55xDBJ10zz27duHgwcP4uKLL8aMGTPUOcfCBpxjoEyOBBwCJSXFmDv3NIwdW4tTJ9qwffNx+Dv02f2O97B9nTjWit3bTqKjLYRZs2Zg9py+9ytej1cG1PMxY+Lsrlt7gqEA1u98CY+sug/Pb3gcz6x7BBt3r4G+Y6FIBs9aYL2Nxx+I32oZDoecwb8aFerv8xSLYRU9RdhiKdQ1H8cLrz6FlVuehRoQPo9PgkX7TjUGNP0dBzfLDEQALplF0LRf2b4S2w9sch6pamAcd8ifV+JOH38aolfyjbPOormtAc9t+AfUwND+1hgLxhjHSCmTAf38qQu7yidJ9PixJP9Zk+bjjGmLofu6bkNnUzSSPkmptaMFHrfXWXA9TYwsYyQf9aSQAAkMlEDex9f+Je+VzCMFreHQxRgjJ+yxziNH582bBx2833///c7tRC+//LJzS89VV12FOXPmwO12d6moC5t1hiHmVlJSIifXWfB6vU4YNRy2b9+Oxx9/HA888AC2bNmSdFtSOBx2bi3SvDQfNUg0ojEGCxcuxOLFixGb5VCDZOPGjbjvvvvw8MMPO7rpbU/65KOlS5cm6aVp5EJoJuSCItMggXQCxhjMmj0dZyyYI1eYbax+bi+aG+OD5PQYQ+OyQwyWfbtOObOp1157KYqL4msNstfAyFX6Gpx/+mVYMGMpdBCucfWK/76jO7FBDARdA3CG+M2YEDUmdGbh0dX3Q28R0rAqQZkp2LxvPVZteQ46qJ48ZhqmjZ+pXo4ExfhoaWuCLjrWJxpNHz8Lns7+WW/rOdF4TPpFjzPot4zLedpReWkl1u5YiQdf/AOeXf8Ynlr7d+gL1eZPXeS8RK3IV+yk7XK5USazC7reQo2aR1b/BU+98jDW7VztpHn+6Zc6T0QyJvsBfWlRGc6edyHOnH0uGlvr8fzGJ/DEKw/ihU1Pi94eXL7kOiydfU4XL0cRfpEACYxwAjrSUhnhxcxh8awcptWnpIwxjkGgLzN7+9vf7swu6LqFq6++Gm9+85sxf/78LgMglnCRnET1ar6+c0ANiTe+8Y1Jg3vLshzjQv30nQWf/vSn8cUvfjFJPvGJT+C1r30tdEZDn8AUS1sXTF9//fX40Ic+5PhrPuedd55jQOj7Ey666CJcd911jmESMyZicQt+ywKQwCggMHHieCxdusB5nOvBvY1Y8cxehEPR+9aHo/hHDzdh7cqDaKzvgL748MKLzobL7eqXKsYYVJfX4qqzbsJbr3w/rlh6vQySL8Yli6/G6y56M26+4I3QdxXoE4E0g9MmzsUbLns7Pn7bF/DJN/ynI594wxfx3hs+josXXSWD9grndpzXnPcG3HjebTj/jMtk+3rcJnFOl6v0FaXVuHTxNbj+3Ftx7umX4Iozb8Ctl7wNaogYY5y4Z845V+Lchn+64j1YPPNsGZx7MVPyff0lbxU9b4SurTAwqg4qy6px5Vk34DWip/rrwudSmUVYNvdCvPGyd2HxrLP7PKA3xqCitMopz+svfhtmT56PYm8pzpl/Md553Yex6LRlkmZ/DDNHZX6RAAmQwKggMGyGQoyuDu51YfCFF16Iyy67zDEQdKbAmOgJJBYuti0SY0GNCB3IT58+HbHZhZi/MUammq1exZj09I2Rk211NfQNyWpsqNGiBoLOeqghoboakx4P/CMBEsh7AnoL/cJ5yzBn5gIZnho89tct0IXEw6G43va0bvUhbFp7BC6XC7e87jrU1FYPWBVjDHQtwFlzL8BlS64RY+EiTB47XfLwSNrxvssY47xkzLJc0lcmigVjLMT+3G6vc6//RQuvxHwxEPQJQcZE0/GI39wpC3DJoqtx5pzzUFFSCSP/GrfYV4JJMiOh4TWN0ybPgz5W9VwZpE+snQLNV8PFpFIMD52hsIyFkqJynCGzHxpeZy7UiDDiHgvb163mNaZqPM6cfR60HAsl7WJfKYwxfU2K4UmABEhg1BGInxFGXdHzrcA6FaaSb3pRHxIofAKREHBqrwsnXpyGiW1Xo8I3AR0dYfzqf1ajvq5tSAsYDkew9dVjeOaRHQiHbZy1bBEuvPgcFBcXDakezIwESKDgCFDhnBDgWKsvGGko9IUWw5IACRQcgXAAOLrZjc0P+nB8swenVVyAOdWXwuMqwr5d9fjzL9ah7njrkJRLF9Ht3laHR/6yBSePtUJvh3rtzddg8uQJQ5I/MyEBEiCB0U1AH81AQ6EvbYCGQl9o9Scs45AACQwbgUCrwb6VHmx52If6fdEHI7gtH86ddRPOXHgWLMvCyy/ux4N/3IgjB5sGXc/tm0/g/t9twM4tJ1BdU4WbXnM1lp65EC6Xa9DzZgYkQAIkQAJKgIaCUshWaChkS4rhSIAECopA0xELWx7xYtvjPrSeiA/Ey8aFcdYNlXjvh96A884707n9Z/Xy/XjgDxuxc+sJRMK9n0T6CiIUiuDlF/bJ7MVabH31OCoqynHDDVfgmusudRZX9zU9hicBEiABEiCBoSBAQ2EoKDMPEiCBISNgh4FDa93Y+Nci7F/lRbA12s3p2tXq6SHMu96P6eeGMPeMqfjnD74Nl11+PgL+MHRx8Z9/uQ4vPLUbrc3+nOl74miLY4T85dcbsGfHKZSWlkBvN3rd66/HmDE1OcuHCZEACQyIACOPAgJ64xGQ+4tBIxld9Aw6kktYIGXTZqtSIOpSTRLISwL+FiMzCF5s+XsR6na5YYejT7axZEJh7PwgzniNHxMWhOAuiv7aZsycig988O143a3XwcCCrh/42+824nc/XYOtG48hFIygv38tTX7H6Pjlf6/CUw/vgBoMZWUleOe7b8ftb3wN9OVv/U2b8UiABEiABPpBQLp+XSvWj5ijNkphGwqjttpYcBIggVQCTYctbPiLD7uf9aGtTro2OSFoGJfXxrQL/Fj8hg7UzAzDpU8KVY9OmThpPN71nn/Cxz7xPowbNwaN9e1Y88IB/OjbL+J/7noeq57bB7/MOHQG73GjJ6CTJ1rxyH2b8YOvPos//mwttm86gY72IGbPnoGvf/PzuPnma1FZVdFjOvQkARIgARIggXwgIGfTfFCDOpAACZBAlEBfv/X9CMc2u7Dmt0U4ssGLkD86i6DpuItsLLm9DYtu9aOk2obppserrCzHjTddia/f9TlcfvkFMMaF5sYObFhzGD/93gp88h1/wbe/+CT+9tv1ePmF/di17QT27zmFfbtPYceW41j+5C78/icv445/exRf+PBDuO/XG7B7ex3aWgMoKioSQ+SN+H8//BoWLpwHX5FPVaOQAAmQAAkMOQFbclSRDT9ZEejmtJlVXAYiARIggWEloLca7XzWg1d+V4zmI27Ebj213DaqpodwycdbMGVZGMb0rqYxBnor0uf/8xP41ne+gMvEYKitqYbPK8ZH0MbWjccLn3g9AAAQAElEQVTx0L2b8b/fegFf/48ncMcnH8NX/vUx3PXZJ/GLe1bjyYd34MDuBtHBOO9EmDJlIv7pzbfgJz/7Ft7xztvh89FA6L0WGGKEEmCxSCBvCNixE0XeaJTfilj5rR61IwESIIF0AvoCtcbDFl79mw9bHypCsK2zKxODwFcRwYwLA7jwn9tQPr7vV47cbheWLF2A/7rj33D3976Ed7zrdlxwwTLMmjXded+BLkCuqqpEZWUFKqsqUF1dibHjajF16iTMnz8bV119CT72iffie/fcgQ986O2YNHmCGCqiWHox6EICJEACJEACeU2g8+yaQUc6DQOBvg9qhkFJZkkCw0qgrd7g4CturPl1MQ694oVtRwfhzizC1BDOuKkDp9/oh7t44GpOmz4Fb37L6/CVO/8d3777P/HZL3wUH/7Iu/De9/0T3vnuN+Jd734T3vv+t+BjH38vvvTlf8V3vvslfOZzH8F111+O2trqgSvAFEiABEiABHJMgGOtvgClodAXWgxLAgVOoJDVDweAE9td2PqoDxvuK0bLMVdXcTwlNiYuDmLBzX5MPisEl7fLKyc7xhhUyczBggXzcMWVF+I1N1+DW19/PfRpSTe95ipcfMm5mDV7BkpKi3OSHxMhARIgARLIPQG97Ugl9ymP3BRpKIzcumXJSGBkEJCLP60nDXY/78WmB4pwaI0XkUB0FgGyKamNYNZlfsy/3o/amWFYcfthZJSfpSCBngnQlwRIgAQGjQANhUFD25+EZUTUn2iMQwIjlEA4CBzd7HIMhJ1P+9B02AV9ypEW10jvNe70IBbd2o6ZFwdROkZ+P2I4qB+FBEiABEiABDITkHNFZo88cs0fVeRUmz/KUBMSIAESiBHoaDLY9pgXr/6tCMe3eBBsi1sB3lIbZ7ymHYtf34Fx88PwFNuxaNySAAmQAAmQAAnkiAANhRyBZDIkQAK5I3Byh4XV/1eMPct9aKtzIRKOpW1j/BlBXPihVsy4KIiSGhs6sxDz5ZYESIAESIAEuidgi5eKbPjJigANhawwDUEgbbcqQ5AVsyCBfCUQ8gMb7vNhxf+WomG/G+HYWgRR2FsewcJbO7Ds7e2omBRB6huWJQg/JJBrAkyPBEhghBGwbXuElWhwi0NDYXD59iF1Ntw+wGLQEURA1xzobUUHXnLj2btLsfcFH+zOR57qYmW3T2YRFgRw3nvbnLUIbt8IKjyLQgIkQAIkMMQEIOcYjrmyhU5DIVtSDEcCJJBTArb004FWgxPbXHjlDz5s+HMxWk+4pAePZmPJbvmEMOZe24Ez/6kD1dMiMPFlCtFA/CYBEiABEiCBPhGQkw/fzpw1MRoKWaNiwOEkwLxHFgG9xahutwvb/uHF2j8W49irXoSDcSvAVx7BxCUBLH59O2ZdHoS3dGSVn6UhARIgARIggUIgQEOhEGqJOpLASCEgF3IaDlrY9awXr/61yFms7G+Kd0N6m5E+8nTe9X4surUDtbM4izBSqj5DOehEAiRAAsNEQE5Gw5RzoWUbP0MXmuYjUl823BFZrSyUQ6DtlBEDwYNN9xdhxxPRdyLEZn+Ny0b1jBDmXufHwlv8mHEBZxEcaPwiARIggYIikP/K2nLi4Wgr+3qioZA9K4YkARLoB4FgO3DgZTc2/KUI2x/3oW6XG5FQ/DajktowZl/hFwOhAzMvCqBsXKQfuTAKCZAACZAACWRLgKZCtqRoKGRLagSHY9FIYDAIhALA0U0urPtjEbY8XIQT2zwItse7HHeRjannBLD0TR1iKASdxcp85Olg1ATTJAESIAESiBOgkRBn0fte/Kzde1iGIAESIIFeCejL0U7usvDKb4uw7g/FYix40dFoQR+D6kSWyYTKaSGc9ZY2LHydH7WzwtE3K4u748+vXBBgGiRAAiRAAt0SsLv1oUcyARoKyTx4RAIkMAACTUcMXv5lEVb8sBRHN3oRaBUDoeutyoC7KCLGQRsu+WgbJiwMOwYCH3k6AOCMSgIkMIoIsKgkMPQErKHPkjmSAAmMFAL6LoSQ36B+v4U1v/Hh2e+U4eirXpk9iE8PWG5AH3c646IOXPWZFpx2SQj6joSRwoDlIAESIAESKCACcuLi25mzry8aCtmz6lfIvkWy+xacoUlgmAjobUT+FoO6XS68er8XK/63BIde8SUZCC6PjdKxYUw9x4/z39+GRbcG4KsYJoWZLQmQAAmQAAkIAX3qEcDxlqDI6kNDIStMQxOIzXZoODOX/hOQCzHoaDI4vtWNbY968cpvirF/pQ+hjnhXYrltVEwUA+HcAJa+sV0MBD8qp0Rg4kH6r0B+xKQWJEACJEACJDAqCPDUnTfVTDMhb6qCiqQTkObZcsLg4Bo3tj7iw4b7irB3hU+MhoQuxAAVk8KYcVEAC17XgQWv1YXKEeitR+kJ0oUESIAE8okAdRldBOzRVdwBlDbhLD+AVBg1RwTYcHMEksnkiIA+wUjXH+x4yuu8KG3zg0XYv8qL9lPSdcSaa6eBMOcqMQ5u6cDpN/gxdk4YLm+OlGAyJEACJEACJJAzAtGbj3KW3AhPSM72hVtCak4CJDA4BEJ+4MR2FzY94MPGvxZhxxM+HNvsgb85ocsQA6FsfBjzru3Aotd3YM5VARoIg1MdTJUESIAESIAEhoVAwll/WPJnpiRAAnlEINQBHF7vwtrfF2H9vUXYv9KLhn1uhPxiFXTqqWsN1ECYf307znpLO2ZdFkDtzDDcvs4AA9swNgmQAAmQAAkMGgHbSTn67ezyq0cCNBR6xENPEhgdBMIyg7DnRTdW/LgE6/9U4jzitK3OhXAwbiBAdiumhLD4tnZc8IE2zLo8iKopEbiLhJH4yTc/JEACJJCBAJ1IIJ8I0EjoS23QUOgLLYYlgRFGoL3eYOtjXjz+1TJs/HMJ6ve6EWw30MefJha1dlYQ572vFZd9sg3TLwiiuMqGyyMhaCAIBH5IgARIgAQKiQBXKWRfW90aCtknwZAkQAKFQEAfbRoOAB2Nxrm9aNX/FeOpb5Rh+2NFCLQmdAUy+Nd3IBRVRDDl7AAu/lgrLvxwO8afHoYRv0IoK3UkARIgARIggcwEbHFWkQ0/vRJIGB30GpYBBpkAm+0gAx6lyUdCQNsp5+Vo2Pa4Fy/+bzHW/LoEx171JN1apEaAp8RG5ZQwZlwccF6SduabOlAzgwbCKG06LDYJkAAJkMAoJ0BDYZQ3ABZ/hBIQq7OjSYyD3S7sW+nBxvuK8NIvSrDzySK0HHPDjsSnBoxlo6Q2gnGnBzHn6g4se2sbzniNHxWTIzCuEcqHxSKBEUOABSEBEugzAZ1ih5wo+xxx9EWgoZBXdc5Gm1fVUYDKhPxAw0EL+1d7sO1RL/TJRfp4U320abAtbhxo0bylNmpnhTDzkgBOv6kDS27vwOzLgygbZ/MWIwVEIQESIAESGKEE8nyVQh5Rp6GQR5VBVUigPwT0pWhNR9Q4cGPL333Oi9E2PejDvlU+mT2QKQE7biBYclg+IYzpFwRk1qADC2/pwBk3+TF5aQhFlXZ/smccEiABEiABEigoAjzbZV9dNBSyZzXIIdlsBxnwYCc/pOnrrGnLcYN9K93OrMGGPxdh6yNF2PuiF3W73Ai2yU87oUm5i2yMXyDGwc3tWPyGDsy7zo+p5wRROSUCyz2kqjMzEiABEiABEsgDAnYe6JD/KshoIv+VpIYkQAJCQPo0XZSsxsHLvyp21hyocXBwjRen9rjR0WjBDsdnDyQGSseFMPuqDpz3vjYsfr0f088Pova0MIoqbOiL0zQMhQRIoDsCdCcBEhiZBGxwiUJ2NUtDITtODEUCw0bA3wIceNmN1b8owgv/XYpNDxTj6EYPmo+64G+2xDhIVs3lszF+YQDnvKcVF324HfOuCaB2ZhjF1Tacdx8kB+cRCZAACZAACYweAl0lFWOha5873RGgodAdGbqTwDAS0PcdHF7vgr7r4ImvlmPt70rEOPCivd5CqMPAjiQrZ3ls1MwMYfEb2nDVZ1pw3rs7MHFh2Jk5cHklbPJEgzjwQwIkQAIkQAKjlQCNhGxrnoZCtqQGOVy0yUa/BzmrQkx+xOqsA/6Q38DfYtBwwIWdT3uc9xw88sVyvPzL0ui7DgLJo3y9Zcgtswa+cjEOTgtiwevacPmnWnDRR9ow48LORcnJUUYsPxaMBEiABEiABPpKQJ95pNLXeKMxPA2F0VjrLPOwEgj5gbZ6MQwOWji83o3ND3ux4n9LsPyeEmx+sBgnt3sQCSaP9NU40MeZlo2LYNz8IOZe14ELP9SCiz/SjlmXhlA21uYjTYe1Vpl53wkwBgmQAAmQQL4ToKGQ7zVE/QqegD6+VF9+1nDAwpFX3dj9nBev/rUIq39e7Lwhee9yH5oOuxAJJRsHkENvWQRVU8OYtDTgvAztrLe24ex3tjvvOyifYBc8GxaABEiABEhgBBEomKLw/JltVdFQyJbUIIczMio0sOTb1QfR8MkCSSNdDCCp9i7gXy4ISP8TvZVIDIONbux53outj/iw8b4irP1dsewX4eirHnTUu9Jys9w2SsaEMXZeEDMu9DuPMV30+nbnZWizLguK0RDhguQ0anQgARIgARIggT4QsDWs86U7lB4IWD340WsICRhjwW2VwOMqy16scngyiqRhJUqP4SSNWNhM4aJ+bkkvWUpF32ylRML2LC5TApcpTpEiOe5JfOKfjXglnBeW6U484pcobjnuXYxxwYgALvib3c4jSvev9mKLGAWv/q0Ir95f5Lz8TI/3r/Kifp/bWYiMlD99x0HVtDCmnRfE6TcGsPAWPxbcEsCC1wYx86IQqqfbcPuMxFKRDT8kQAIkQAIkQAIDIEAjIVt4NBSyJTXo4YwMTj1wmWwGvp1hLNmmiFuO3VaRDMyzkWIJ15uUSJgSMSZ6FzV0MkuppJEoJXKcLB41kqxSySdRokaKR4yUuPTmnylOb26ZDKQe3Ew5Im1lqN9dir3LS7Dxz8VY+/siZ8ZAZw52PePFoVc8OLXbjbZTVtp6A8hfUYXBpIUWFt7kxnlv8+LsN3qx+CYf5l1ejGmLSzFmchmKi8vhdVWkSKUcR8VjVQivROlB5zSDskzipkqcrVvqwm1KkVlKxD1RpA2JkedOEZccu0yRtOlM4hP3nsQr/nGxjBeW8WQhbhiTQSBGXa9iwSBZIMdRMYD4di/Isz+qQwIkQAIk0B2BqJkQ/e4uDN2jBKzoht8k0FcC6QMnIwOp7MSSkCli5DgrkQGf6atEB46WDCCzEw+slEFpsN2NE9stbH0CWPELG8//EHjl9wZbHzPYt9rC8a0WGg9Z6Gg06WsNBK2ojMpJBrMuduGCd3lw2Ye8WHa7B3Mvd2PyIhdqp3lQWuWFx+2FK0tj0Z1mEMqA3UqUIqSHibklhovtl0j4BHHJflZSCrcrXTzi1v0MmRg1LpEkAybRcEn280o4rxhGvUslvFYGcYlbr1IFrytZTsCnFwAAEABJREFUfHIclWr4XIlSJceJEvXzWlXoWUQP0c/TrVTAI+WMSzIHj3BIl0Rusf1SSSdRpC7FGHd3SazO07cux8ArhiujkZdo3HkRNeAStx5xy1Igs3YJYmQ/Ki4YpIolblEBLGQWI+6JIof8kMBIIsCy5JAAn3mULUztcbMNy3AkMCoIhINA/cEIdq8MYc29QTzxXT8e+3oAL/48iM2PhXFoQ8Txbzlpw98CMQzSsRgZrxRVAlOWWFj6ejeu/qQXV3zEi6W3eDB1qQtVkw1Kqg08PkDDYlD+RAn0T4zE614s8c2RGEmnS1wwZuBiSRrpIoNSk0vxwDLp4rK86FlkoO3M+vkQnf1L3cYMub5siyWtVCkRt0RJNBp0vwyepJm6+LG36/bHcnjUmEsSMWRklsvjSCW8vRpfPYRxi1GVID7Zj4oYXe5UqYHPHZUi2WaWWhS5E2WMHIu4asWoSxRJx5UokpcrKl7Zpovo6UqVeLk8XUZfBTxJRp4eC8MsjDu31IVbZ/HSJKEOjew7InUtxpy7S6StiFHn7hSXkTaWJNImTbpYxoM0gbiJwWYliJH9dHHBIFkgx4CFZDFynChyyA8J5AsBmzMK2VSF/qqzCTdiw9jSUJqbm7F7927U1dUhEkl5k9XASs7Y+UpA+wcRfY9B8/EI9r4UNQoe/44ff/1sB/7xzQBe+l0IO58Po26PjfZGG4E2QF+EpnGSiiXnQR3s+yoMppxp4azb3bj+c17cfEcRLnqvF/Nk1qBmmgVfmYHbB5hR/6sD/7ImYCTk0IuRYWD/xJKYeSbGBStJ3HKcKDI47hw0u2SbLl640gba8cF43OCTAbuVKjKoT5rlix3LoL9rdqcEHtn3iJGQLnEDztOtAScGiWO4RbfeNOMt1ciJHifPkEUNJZ9joIkRJcZYz4ZZokEW3S8WI63YPQbJMlaOE2WcHI9DkWtsBhkjbolSC5+rJ6kR/5hUy35cvFY14iLltWJSKe6JUiHHiVIux+VSHzEpk/1MosZ2Kdxdt2eWyH6iSD13GXLF0n6KUiTeflwmvm8ZLzKKY8BJO+3cGtlGxQ2DRHHJcVwAl/QfVgYx4pYocpgHHxmOQSUPVKEKCQS0BSUcjp7dQCCANWvW4IMf/CCWLVuGG264AUuWLMHll1+OBx54AG1tMiocPThGZEn1saQ6sA+265V/G20NtswE2NizKoxX7gviqXvEKPhcB/7+tQBW/TpqFJzaZzvGQEYg0q+63ICnGNA1Bnor0YzzLJz9JjeuU8Pgyz5c9G4v5lziRsV4C0bCZ0yHjgVOgOqTAAkMhIAxRvrHVNE+M1FcMmjuSTIbe5bxwGUlileOYyKDcitRisQvUWRQb8kgv0tK4BYjLl1Kxb0UHuf2St2KMdFlyOl+ufjFxSuGXLKIsZJm0FXC56rKLI4BV42oIVeNIjmOSo3sJ0qtHMelOKPxNgbF7rEpMk6Ox4mhNjZFxshxokjaWRtvNVKWZPFaNYgbcNUJ+1Vw2+V49onV+Ou9j+HYwUYgVCz+lSJxQ87TNWMnbNNm6oS7zMx5jGy7ROpGjDlPirhlZk5vrTTGNZBmPGriWqOmpAkFVSPhmWeewUc+8hHcd999eP/7349Vq1bhpz/9KXbu3Il3vOMd+NGPfoSmpqaEWNzNVwKREORqf9QQaD4uxsChCE7siuDgujC2PRPE2r8G8cLPA3ji7gAe/5Yfq38bxI5nwzix00awTUolMwvynfwxgOUGfKVAaY1x1heMnWVh5oUunPl6Ny77Fw+u/ZQP573Vi1kXulEphoHlSk6CRyRAAiRAAgVCgGrCGJMilhwnikuOXT0YcG7x615cclJ1JRlxHkSPvfDIFbgJEybj/372C7zlLe/E7377J2zetB2hoJEwRY64rSIx0FSKZZsqnUZd0rq6UrjFmEsVj2PUlcIybvCvdwJW70FGVgi91UhvM7r77ruxevVqnHbaabjwwgtRVVWFSy65BIsWLXIMhO9973vOzEIoJKPQkYWgMEsjg3ldO9DRZKPpeAR1+yI4ui2CA+vD2PViGFseD2H934JY/bsAlv8kiGf+O4AVvwxi40Nh7FkphsMOG+0yo9DdtKb0XzJLAFRMMFCDYMpiSwwAF864zu3cSnTRezy4/F+8WPYGD2ae50bVRMsxJAoTJrUmARIgARIggfwisHDhQlxxxRXYsmUL3ve+9+HNb34zfv7zn2PDhg3o6OjIL2VHkTaFbCj0q5p04P/www/j+eefd9YjjBs3DrW1tU5apaWlmDVrFtSYOHLkCP70pz9h3759jh+/Bp+A3ioUaLPRUmdDFxMf2yGzAhtkoL8qjO3PhrDlHyFs/LsaBCG88ucgXvpdECvFGND9rU+Gsf+VCE7uttF2ys64wDhWAuMCisoNqqYYTDxDZgkucGH+1W4svNGNpbe6nVuJzn2rB2fd5nGeSjRpgQvl4yxwxiBGkFsSIAESIAESyC0Bj8eDW265xbmAqylv2rQJH//4x/GJT3wC//3f/421a9fC7/erF2UICYw6Q6GhoQEPPfSQswbBGIPi4mJ4vd4u5GPGjHH2g8EgNm7c6NySxAXODpIBf+nV/KBcFGiti+DU/giObAlj78tRI+DVR0JYJzMCa+8LYe19QayT7bq/yvZvIWemYP0DIWx6LITdMntw+FWJv08MgvqeDQJV2CVVW1JrUDvTYMpSC3OvcGHJLW7nSURn3upxDIOlr3NjkRgJegvRxNNdMqtgwVNkAPmAf0NMgNmRAAmQAAmMVgKnn366s2a0rKzMQaC3ij/99NP48pe/jH/7t3/Dd77zHWeGQcdoTgB+DTqBUWco7Ny5E2qlKlljDNxuNywrjsHn86mXIydPnnQs2NbWVueYX5kJqAEQEiO/rcFGw+EITuwM49DGMPasCmHbM9FZgDUyA7DyV0Gs+EUAq34bwst/CmLdX8XvQTEAHg1h6xMh7HhODIfVYRzeGMHxnRE0HLTRqo8gFfy6DiFz7lFXyw2UjjEYO9vC9HMsnH6tzAz8kwcXvNOD82R2QN9ZsORmDxZc58acS92YvsyFcXMsZ9Gxt5gWQZQiv0mABEhgEAgwSRLIkoCOyd71rndh5syZMCZ+btanU+ra0m9/+9v40Ic+hDvvvNNZU6p3gGSZNIP1k0B8hNzPBAot2quvvopTp045ahtj4HK5kgyFRKNB74nbs2eP89hUjLI/vQ0o2A7nSUGNRyJwFgdvCGPXihC2PBHEuvuDznqA538SwFPfF/lBAM/9bwArfq7uIbzy5xA2PBjGZpkF2C7Gwp4VYRx4JYwjmyUtMQLq99toOhqdFQiIIaDrD2D3DtkxCGqBcfMMTrvIwmKZHbjwvR5c+XEvLnm/F3rL0JJbPJh/lQszz3U5LzMbJ8ZD9RQLZWJIeEuM1Df4RwIkQAIkQAIkkIcEdO3oG9/4RuitSInqqVFQX1+PFStW4Lvf/S5uu+02Z6bh6NGjicG4n2MCVjfpjVhnvZ0oHA53lU8NA2PiVqsexzx1PcOxY8cKylDQq/s66NZBfkezjZaTEdQfiOD4juhV/r2r9cp9CJv/EcT6B4LOlf0VvwrguR8F8KQM+B+7y4+H7vDjwf/y4+9f9TvvE3j6B0FngfDq3wahtwRtejSMnc+Gse+lCI5siuDk7mgejYdl8H9M84waALrwWI2AUAegOqluMbY9bV0yqVM2zogxYGHmBS4svMmNc9/mwRUf8+LGz/twzb/5cNF7vDjzdR7MldmBKYtcqJ1uoXKiQVmtQXGFgc4SqFHRUz70IwESIAESIAESyC8COg77wAc+AF1DmkkzNRgaGxudW5C++c1v4vzzz3dmGE6cOJEpON0GSMAaYPyCi564ONkYI1eXe0ag010NDQ3IxZ8O3oP+6GXzY9vDcsU9CL0vX+/F10d46r35+nz/NX8O4qU/BLDyNwG8+IsA9Kr9Mz+Uq/b3+OG8JfibfjxyZ3RAf/8XO5wXhP3l3ztw7yc78KePd+DP/9aB+/6jA/d/3o+H7wjgH98K4Ol7gs5gf9VvQs7Vfn0a0NYnwti1PIz9L3cO+HdF0HDIdm736Wi0oYaGv8WGv9V2Hj+q+ustRvpugnAI0FmHtJePJYJS+6tTBLVMIyIqgry4xmDMbAN9D8GCm1w47x1uXPVJL275qg+33VWEm77gwxX/IjMEb/ZAbxfS2QGdGSgVQ0BfXKaGgNtn4PIARtID/7IgwCAkQAIkQAIkkP8Exo4d6yxk7k3T9vZ256EzX/jCF3DOOefgnnvuce4aUWOit7j0z47AqBpi6Wr5TO9GMEZHs5mBaRxtiJl9++YaaLehA22NdWy3H+sfa8S6Rxuw7rEG2Rf5RwM2iGx8ogGbnmnE1uWN2L6yEbvWNGLv+kbs39SEg9uacGR3E47tb8LJw02oP9GMxvpmNDc1o7W9Ge2BwZGOYDM6Qi3wh1sQiIjYLQiiBSEjYrUg7BbxtAAlLfCObUX5jFaMWdCGKee3YdbV7TjjdR04611+XPLJAK77UhBX/FsA5747gDNu9mP6hR2ondcO35hWBCW9ltZmqIFGIQe2AbYBtoFe2kAz/dlGRmYbeNvb3oYJEybokKlXUcNALwTrE5Iuv/xy/OQnP3EMCB3D9RqZAXokMKoMhXA4jFDKexGM6d5IUHL6xCMV3R+oJGa19fCLuO+lb+Avq+8sCLlvzZ14YMOdeHjrnXhk1514/MCdeOro1/Fs3dfxQvM3sLLjG3g5fBdeCt2FF5u+gaePfAOP7vg6/vbK1/HH5+7EL//+Nfzod1/F3f/9FXz1zjtwxx0UMmAbYBtgG2AbYBtgG8jcBvQJRzNmzOjT0EvHa3qLud66pOscfv3rX2Pr1q0F91jVPhV6kAOPKkNBV9OnLo5J5auNLNFNH53qS3gSUqJfX/erq6px7qIrMaZyEnYdewl/X3cPHlr7vYKQB176Hu574bv401Pfxe8f/S5+ff938fN778ZPfns3fvh/38E9P/wOvvv9b+M73/k2vv1tChmwDbANsA2wDbANsA0MrA2sXLmyr0OtrvD6Ul19QtLXv/51HDt2rMudO30jMKoMBTUSKisreySUaigUFRWhpKSkxzjZes6eNwOf/8wX8c63vwfXXXcdrr32WsqIYcC6ZHtmG2AbYBtgG2AbyGUb0CcgZTvGSg2nj1jV25duvPFGVFRUpHrzOEsCo8pQMMZg+vTpSWj0vrZEh0RDwRiD8vLynDUwb6nBxDNc+Oin3udcdf/Od74jV+Ap5MA2wDbANpCXbYB9NM9RbAPD1ga+9rWvoa93dBhjMG3aNLzvfe+DPhHpG9/4BvQWpKqqqsShHvf7QGBUGQrKZdGiRV3P5lUjQQ0D3aqfih7rVkVvVZo0aRJ09b0e50rUWFm4cCEoZMA2wDbANsA2wDbANsA2kN4G9u7d67xULZuxlzHGGau9//3vx//8z/846yBvvfVWjB8/Hm70cwoAAAsjSURBVMYkr0XNJj2GiRMYlYZCzLJUA0EXN+si5xiSREOhuLgYOnVVXV0d8+aWBEiABEiABEiABEhgEAm0t7fjrrvuQjAY7DUXvUX8ne98J/74xz/iK1/5Cq6//npMnDjReaFur5EZoFcCo85QmDdvHhYvXuyAUUNBH52lxoLjIF+JhkJNTY0TVhuhePEzbASYMQmQAAmQAAmQwGgh8Kc//QmbNm3qsbh614feVvTCCy/gBz/4AS677DLnJW0ul6vHePTsG4FRZyiUlpbiTW96E3S2QA2FlpYWdHR0dFGLvWdBG+CCBQucN/4Zw2mrLkDcIQESIIFcEGAaJEACJJCBgI7LfvjDHyaNzWLBjDHQp1G+9rWvxYoVK/D73/8eZ511lrOe1LKsWDBuc0hg1FFVA0CfOHTDDTdA9/WRWSdPnoQaDa2trdi+fbtzP9vUqVPxjne8A1OmTMkhbiZFAiRAAiRAAiRAAiOTwEBLpWOx3/3ud87aBN2PpafjNV0v+prXvAYPPvggdMbh7LPPBo2DGKHB2446Q0FRTp48GZ/61KdwxRVXQI2Ep59+Ghs2bMAjjzzibHVdwsc+9jGoxWoMZxOUGYUESIAESIAESIAEBpPA0aNH8atf/Qp1dXVONmoI6FOM1ED40Y9+BDUi9PGrvCXcwTMkX6PSUND718455xzceeeduO222xzj4P/9v/+H3/72t7jooougj9PSl3To7UlDUgvDmgkzJwESIAESIAESIIHhJaBrRHW2YPfu3Y4iEyZMwBve8AbnMae/+MUvoE8xKisrc/z4NXQERqWhoHh1GkunrXSF/Je//GVn3YLOMuh9cbfffnufn92raVJIgARIIC8IUAkSIAESKDAC+/btw6OPPgo1BvTW7zvuuAM6i6DrSisrKwusNCNH3VFrKMSqUF+opk9Buvrqq53ZhNra2pgXtyRAAiRAAiRAAiSQFwRGshI6m7Br1y4sWbLEuavjW9/6lvPStKqqqpFc7IIo26g3FAqilqgkCZAACZAACZAACYxQAsYY6AtxP/jBD+KWW25xHnNqDNeI5kN101AY1Fpg4iRAAiRAAiRAAiRAAj0RMMZg/Pjxjug60p7C0m9oCdBQGFrezI0ESKDQCVB/EiABEiABEhglBGgojJKKZjFJgARIgARIgAQyE6ArCZBAZgI0FDJzoSsJkAAJkAAJkAAJkAAJjGoCBWwojOp6Y+FJgARIgARIgARIgARIYFAJ0FAYVLxMnARIoE8EGJgESIAESIAEBkjAtm2odJeM+ql050/3OAEaCnEW3CMBEiABEiABEsgxASZHAkNBQAf+9fX1ePLJJ50Xtd1zzz3405/+hAMHDjjZq//x48fx17/+Fer3y1/+Ehs3bkQwGHT8+ZWZAA2FzFzoSgIkQAIkQAIkQAIkUAAEwuGwM+j/z//8T3z5y1/G73//e/zmN7/BF77wBXzyk5/Eiy++iG3btuFLX/oSvvvd7+Jvf/ubYyx8+tOfxurVq6EvfCuAYg6Lit0YCsOiCzMlARIgARIgARIgARIggawJ6EzB3r17HSNgy5YtePe73w19s/P3v/99LF26FPfff79jLKgRsX79enz84x/Hxz72MYwZMwbPPPMMfvzjHyMQCGSd32gLSENhtNU4yzt6CbDkJEACJEACJDDCCPj9ftx11104ceIEvvrVr+Itb3kLzj33XFxwwQW4+eab4Xa78fLLL2PVqlWOgXDppZfilVdewUsvveQYCGo88Paj7hsFDYXu2dCHBEiABEiABPKaAJUjgdFOYMWKFXj44YedmQQ1EHw+XxcSvSVJD3TWYcKECbjllltw8uRJrF27FrqeQd2nT58Ol8ulwSgZCNBQyACFTiRAAiRAAiRAAiRAAvlNQAf6d999NyZPnoy3vvWtsKzkYa3eiqTGgs4qXHTRRSgqKsK4ceMwd+5clJaWYs6cOfjc5z6H4uLifCpoXumSTDSvVKMyJEACJEACJEACJEACJNA9Ab296L/+67+QOJOgofV2Ir29KGYoXHLJJTDGoLa2Fl/72tecxc16C5LOQhhjNAolAwEaChmg0IkE+kyAEUiABEiABEiABIaUgDEG73//+3HjjTc6RkBi5vv378e+ffucJxqVlJTg/PPP7/LWmQWdhSgrK0uL1xWIOw4BGgoOBn6RAAmQAAmQQDIBHpEACRQuAV3A3NLS4hRg8eLFGD9+vLPPr74RoKHQN14MTQIkQAIkQAIkQAIkkMcEdO1CoqFw9dVXx9Yv5LHW+akaDYX8rBdqRQIkQAIkQAIkQAIkkAUBfQ+CrkmIBW1qasKmTZvQ3t7uOF177bXONvHr1KlTeOGFF5ynHyW6cz+ZAA2FZB48ykcC1IkESIAESIAESIAEUgjozMGvfvUr3H777fjXf/1XbN++3Qmxbds2HDp0yFmfUFlZiQULFjjuiV9PPfUUvvzlL+Po0aOJztxPIUBDIQUID0mABEiABAafAHMgARIggYES0Pch/Pu//zsefPBB/OUvf8Gzzz4LNR7WrVuH48ePO8nPmjXLeSyqc9D5pe9SeOihh5wjXdDs7PArIwEaChmx0JEESIAESIAESIAESKAPBIY86OOPP45jx445xoHX64XOHuhtR8uXL+8yFGbOnJn0ZCN9XKoaFitXrsR73/te6IvYhlzxAsqQhkIBVRZVJQESIAESIAESIAESiBLQJxkZY1BRUYF3vetd0LUI9957L1588UXHAPB4PM5ahdbWVoRCIej2j3/8I77+9a/jmmuuweWXXw4NE02N35kI0FDIRGU0ubGsJEACJEACJEACJFCABF7/+tdj0aJFzkzC3r178eEPfxjf/va3ceutt+LXv/41Lr30Uhw+fBj61KNPfepTeNOb3oTPfvazjpGgx2pogH89EqCh0CMeepIACZBA4RGgxiRAAiQwGgjoTMJvfvMb3HbbbY5BoE85+o//+A98/vOfx5VXXok//OEP+MxnPoPS0lJs3LgR48aNwz333IOvfe1rmD59+mhANOAy0lAYMEImQAIkQAIkQAIkQAKDSoCJd0NAZxTuvvtuPProo86CZr0Fqaqqygk9ZswYx1B47LHH8Mgjj+BnP/sZbr75ZsT8nUD86pEADYUe8dCTBEiABEiABEiABEggnwkYY5wXqlmWlbRwGfJnjIHL5YIudjbGgH99I2D1LThD94kAA5MACZAACZAACZAACZBAgRKgoVCgFUe1SYAEhocAcyUBEiABEiCB0UKAhsJoqWmWkwRIgARIgARIIBMBupEACXRDgIZCN2DoTAIkQAIkQAIkQAIkQAKjmUDhGgqjudZYdhIgARIgARIgARIgARIYZAI0FAYZMJMnARLIngBDkgAJkAAJkAAJ5A8BGgr5UxfUhARIgARIgARGGgGWhwRIoIAJ0FAo4Mqj6iRAAiRAAiRAAiRAAiQwWAQyGwqDlRvTJQESIAESIAESIAESIAESKAgCNBQKopqoJAkMnABTIAESIAESIAESIIG+EKCh0BdaDEsCJEACJEAC+UOAmpAACZDAoBKgoTCoeJk4CZAACZAACZAACZAACWRLIL/C0VDIr/qgNiRAAiRAAiRAAiRAAiSQFwRoKORFNVCJQidA/UmABEiABEiABEhgpBGgoTDSapTlIQESIAESyAUBpkECJEACo54ADYVR3wQIgARIgARIgARIgARGAwGWsa8EaCj0lRjDkwAJkAAJkAAJkAAJkMAoIEBDYRRUcqEXkfqTAAmQAAmQAAmQAAkMPQEaCkPPnDmSAAmQwGgnwPKTAAmQAAkUAIH/DwAA//92UhnUAAAABklEQVQDAHcBEE6a7ue6AAAAAElFTkSuQmCC"/>
          <p:cNvSpPr>
            <a:spLocks noChangeAspect="1" noChangeArrowheads="1"/>
          </p:cNvSpPr>
          <p:nvPr/>
        </p:nvSpPr>
        <p:spPr bwMode="auto">
          <a:xfrm>
            <a:off x="155575" y="841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TextBox 13">
            <a:extLst>
              <a:ext uri="{FF2B5EF4-FFF2-40B4-BE49-F238E27FC236}">
                <a16:creationId xmlns:a16="http://schemas.microsoft.com/office/drawing/2014/main" id="{683FE5A8-BAF7-294C-550F-8CD518539BA3}"/>
              </a:ext>
            </a:extLst>
          </p:cNvPr>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IV. </a:t>
            </a:r>
            <a:r>
              <a:rPr lang="en-US" sz="3600" dirty="0" err="1">
                <a:latin typeface="Times New Roman" panose="02020603050405020304" pitchFamily="18" charset="0"/>
                <a:cs typeface="Times New Roman" panose="02020603050405020304" pitchFamily="18" charset="0"/>
              </a:rPr>
              <a:t>Đánh</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giá</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mô</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hình</a:t>
            </a:r>
            <a:endParaRPr lang="en-US" sz="36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27316F66-9F20-8284-A813-4081B9AF34BC}"/>
              </a:ext>
            </a:extLst>
          </p:cNvPr>
          <p:cNvGraphicFramePr>
            <a:graphicFrameLocks noGrp="1"/>
          </p:cNvGraphicFramePr>
          <p:nvPr>
            <p:extLst>
              <p:ext uri="{D42A27DB-BD31-4B8C-83A1-F6EECF244321}">
                <p14:modId xmlns:p14="http://schemas.microsoft.com/office/powerpoint/2010/main" val="2349876073"/>
              </p:ext>
            </p:extLst>
          </p:nvPr>
        </p:nvGraphicFramePr>
        <p:xfrm>
          <a:off x="1753935" y="1961682"/>
          <a:ext cx="8684130" cy="2610320"/>
        </p:xfrm>
        <a:graphic>
          <a:graphicData uri="http://schemas.openxmlformats.org/drawingml/2006/table">
            <a:tbl>
              <a:tblPr firstRow="1" bandRow="1">
                <a:tableStyleId>{5C22544A-7EE6-4342-B048-85BDC9FD1C3A}</a:tableStyleId>
              </a:tblPr>
              <a:tblGrid>
                <a:gridCol w="1447355">
                  <a:extLst>
                    <a:ext uri="{9D8B030D-6E8A-4147-A177-3AD203B41FA5}">
                      <a16:colId xmlns:a16="http://schemas.microsoft.com/office/drawing/2014/main" val="988632338"/>
                    </a:ext>
                  </a:extLst>
                </a:gridCol>
                <a:gridCol w="1447355">
                  <a:extLst>
                    <a:ext uri="{9D8B030D-6E8A-4147-A177-3AD203B41FA5}">
                      <a16:colId xmlns:a16="http://schemas.microsoft.com/office/drawing/2014/main" val="4195015247"/>
                    </a:ext>
                  </a:extLst>
                </a:gridCol>
                <a:gridCol w="1447355">
                  <a:extLst>
                    <a:ext uri="{9D8B030D-6E8A-4147-A177-3AD203B41FA5}">
                      <a16:colId xmlns:a16="http://schemas.microsoft.com/office/drawing/2014/main" val="2563636901"/>
                    </a:ext>
                  </a:extLst>
                </a:gridCol>
                <a:gridCol w="1447355">
                  <a:extLst>
                    <a:ext uri="{9D8B030D-6E8A-4147-A177-3AD203B41FA5}">
                      <a16:colId xmlns:a16="http://schemas.microsoft.com/office/drawing/2014/main" val="78816785"/>
                    </a:ext>
                  </a:extLst>
                </a:gridCol>
                <a:gridCol w="1447355">
                  <a:extLst>
                    <a:ext uri="{9D8B030D-6E8A-4147-A177-3AD203B41FA5}">
                      <a16:colId xmlns:a16="http://schemas.microsoft.com/office/drawing/2014/main" val="3952594234"/>
                    </a:ext>
                  </a:extLst>
                </a:gridCol>
                <a:gridCol w="1447355">
                  <a:extLst>
                    <a:ext uri="{9D8B030D-6E8A-4147-A177-3AD203B41FA5}">
                      <a16:colId xmlns:a16="http://schemas.microsoft.com/office/drawing/2014/main" val="1395955192"/>
                    </a:ext>
                  </a:extLst>
                </a:gridCol>
              </a:tblGrid>
              <a:tr h="652580">
                <a:tc>
                  <a:txBody>
                    <a:bodyPr/>
                    <a:lstStyle/>
                    <a:p>
                      <a:r>
                        <a:rPr lang="en-US" sz="2400" dirty="0">
                          <a:latin typeface="+mj-lt"/>
                        </a:rPr>
                        <a:t>Model</a:t>
                      </a:r>
                      <a:endParaRPr lang="vi-VN" sz="2400" dirty="0">
                        <a:latin typeface="+mj-lt"/>
                      </a:endParaRPr>
                    </a:p>
                  </a:txBody>
                  <a:tcPr/>
                </a:tc>
                <a:tc>
                  <a:txBody>
                    <a:bodyPr/>
                    <a:lstStyle/>
                    <a:p>
                      <a:r>
                        <a:rPr lang="en-US" sz="2400" dirty="0">
                          <a:latin typeface="+mj-lt"/>
                        </a:rPr>
                        <a:t>Accuracy</a:t>
                      </a:r>
                      <a:endParaRPr lang="vi-VN" sz="2400" dirty="0">
                        <a:latin typeface="+mj-lt"/>
                      </a:endParaRPr>
                    </a:p>
                  </a:txBody>
                  <a:tcPr/>
                </a:tc>
                <a:tc>
                  <a:txBody>
                    <a:bodyPr/>
                    <a:lstStyle/>
                    <a:p>
                      <a:r>
                        <a:rPr lang="en-US" sz="2400" dirty="0">
                          <a:latin typeface="+mj-lt"/>
                        </a:rPr>
                        <a:t>Precision</a:t>
                      </a:r>
                      <a:endParaRPr lang="vi-VN" sz="2400" dirty="0">
                        <a:latin typeface="+mj-lt"/>
                      </a:endParaRPr>
                    </a:p>
                  </a:txBody>
                  <a:tcPr/>
                </a:tc>
                <a:tc>
                  <a:txBody>
                    <a:bodyPr/>
                    <a:lstStyle/>
                    <a:p>
                      <a:r>
                        <a:rPr lang="en-US" sz="2400" dirty="0">
                          <a:latin typeface="+mj-lt"/>
                        </a:rPr>
                        <a:t>Recall</a:t>
                      </a:r>
                      <a:endParaRPr lang="vi-VN" sz="2400" dirty="0">
                        <a:latin typeface="+mj-lt"/>
                      </a:endParaRPr>
                    </a:p>
                  </a:txBody>
                  <a:tcPr/>
                </a:tc>
                <a:tc>
                  <a:txBody>
                    <a:bodyPr/>
                    <a:lstStyle/>
                    <a:p>
                      <a:r>
                        <a:rPr lang="en-US" sz="2400" dirty="0">
                          <a:latin typeface="+mj-lt"/>
                        </a:rPr>
                        <a:t>F1-Score</a:t>
                      </a:r>
                      <a:endParaRPr lang="vi-VN" sz="2400" dirty="0">
                        <a:latin typeface="+mj-lt"/>
                      </a:endParaRPr>
                    </a:p>
                  </a:txBody>
                  <a:tcPr/>
                </a:tc>
                <a:tc>
                  <a:txBody>
                    <a:bodyPr/>
                    <a:lstStyle/>
                    <a:p>
                      <a:r>
                        <a:rPr lang="en-US" sz="2400" dirty="0">
                          <a:latin typeface="+mj-lt"/>
                        </a:rPr>
                        <a:t>ROC-AUC</a:t>
                      </a:r>
                      <a:endParaRPr lang="vi-VN" sz="2400" dirty="0">
                        <a:latin typeface="+mj-lt"/>
                      </a:endParaRPr>
                    </a:p>
                  </a:txBody>
                  <a:tcPr/>
                </a:tc>
                <a:extLst>
                  <a:ext uri="{0D108BD9-81ED-4DB2-BD59-A6C34878D82A}">
                    <a16:rowId xmlns:a16="http://schemas.microsoft.com/office/drawing/2014/main" val="788457880"/>
                  </a:ext>
                </a:extLst>
              </a:tr>
              <a:tr h="652580">
                <a:tc>
                  <a:txBody>
                    <a:bodyPr/>
                    <a:lstStyle/>
                    <a:p>
                      <a:r>
                        <a:rPr lang="en-US" sz="2400" dirty="0">
                          <a:latin typeface="+mj-lt"/>
                        </a:rPr>
                        <a:t>DT</a:t>
                      </a:r>
                      <a:endParaRPr lang="vi-VN" sz="2400" dirty="0">
                        <a:latin typeface="+mj-lt"/>
                      </a:endParaRPr>
                    </a:p>
                  </a:txBody>
                  <a:tcPr/>
                </a:tc>
                <a:tc>
                  <a:txBody>
                    <a:bodyPr/>
                    <a:lstStyle/>
                    <a:p>
                      <a:r>
                        <a:rPr lang="en-US" sz="2400" dirty="0">
                          <a:latin typeface="+mj-lt"/>
                        </a:rPr>
                        <a:t>0.69</a:t>
                      </a:r>
                      <a:endParaRPr lang="vi-VN" sz="2400" dirty="0">
                        <a:latin typeface="+mj-lt"/>
                      </a:endParaRPr>
                    </a:p>
                  </a:txBody>
                  <a:tcPr/>
                </a:tc>
                <a:tc>
                  <a:txBody>
                    <a:bodyPr/>
                    <a:lstStyle/>
                    <a:p>
                      <a:r>
                        <a:rPr lang="en-US" sz="2400" dirty="0">
                          <a:latin typeface="+mj-lt"/>
                        </a:rPr>
                        <a:t>0.49</a:t>
                      </a:r>
                      <a:endParaRPr lang="vi-VN" sz="2400" dirty="0">
                        <a:latin typeface="+mj-lt"/>
                      </a:endParaRPr>
                    </a:p>
                  </a:txBody>
                  <a:tcPr/>
                </a:tc>
                <a:tc>
                  <a:txBody>
                    <a:bodyPr/>
                    <a:lstStyle/>
                    <a:p>
                      <a:r>
                        <a:rPr lang="en-US" sz="2400" dirty="0">
                          <a:latin typeface="+mj-lt"/>
                        </a:rPr>
                        <a:t>0.87</a:t>
                      </a:r>
                      <a:endParaRPr lang="vi-VN" sz="2400" dirty="0">
                        <a:latin typeface="+mj-lt"/>
                      </a:endParaRPr>
                    </a:p>
                  </a:txBody>
                  <a:tcPr/>
                </a:tc>
                <a:tc>
                  <a:txBody>
                    <a:bodyPr/>
                    <a:lstStyle/>
                    <a:p>
                      <a:r>
                        <a:rPr lang="en-US" sz="2400" dirty="0">
                          <a:latin typeface="+mj-lt"/>
                        </a:rPr>
                        <a:t>0.63</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extLst>
                  <a:ext uri="{0D108BD9-81ED-4DB2-BD59-A6C34878D82A}">
                    <a16:rowId xmlns:a16="http://schemas.microsoft.com/office/drawing/2014/main" val="4053652638"/>
                  </a:ext>
                </a:extLst>
              </a:tr>
              <a:tr h="652580">
                <a:tc>
                  <a:txBody>
                    <a:bodyPr/>
                    <a:lstStyle/>
                    <a:p>
                      <a:r>
                        <a:rPr lang="en-US" sz="2400" dirty="0">
                          <a:latin typeface="+mj-lt"/>
                        </a:rPr>
                        <a:t>RF</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tc>
                  <a:txBody>
                    <a:bodyPr/>
                    <a:lstStyle/>
                    <a:p>
                      <a:r>
                        <a:rPr lang="en-US" sz="2400" dirty="0">
                          <a:latin typeface="+mj-lt"/>
                        </a:rPr>
                        <a:t>0.57</a:t>
                      </a:r>
                      <a:endParaRPr lang="vi-VN" sz="2400" dirty="0">
                        <a:latin typeface="+mj-lt"/>
                      </a:endParaRPr>
                    </a:p>
                  </a:txBody>
                  <a:tcPr/>
                </a:tc>
                <a:tc>
                  <a:txBody>
                    <a:bodyPr/>
                    <a:lstStyle/>
                    <a:p>
                      <a:r>
                        <a:rPr lang="en-US" sz="2400" dirty="0">
                          <a:latin typeface="+mj-lt"/>
                        </a:rPr>
                        <a:t>0.85</a:t>
                      </a:r>
                      <a:endParaRPr lang="vi-VN" sz="2400" dirty="0">
                        <a:latin typeface="+mj-lt"/>
                      </a:endParaRPr>
                    </a:p>
                  </a:txBody>
                  <a:tcPr/>
                </a:tc>
                <a:tc>
                  <a:txBody>
                    <a:bodyPr/>
                    <a:lstStyle/>
                    <a:p>
                      <a:r>
                        <a:rPr lang="en-US" sz="2400" dirty="0">
                          <a:latin typeface="+mj-lt"/>
                        </a:rPr>
                        <a:t>0.68</a:t>
                      </a:r>
                      <a:endParaRPr lang="vi-VN" sz="2400" dirty="0">
                        <a:latin typeface="+mj-lt"/>
                      </a:endParaRPr>
                    </a:p>
                  </a:txBody>
                  <a:tcPr/>
                </a:tc>
                <a:tc>
                  <a:txBody>
                    <a:bodyPr/>
                    <a:lstStyle/>
                    <a:p>
                      <a:r>
                        <a:rPr lang="en-US" sz="2400" dirty="0">
                          <a:latin typeface="+mj-lt"/>
                        </a:rPr>
                        <a:t>0.864</a:t>
                      </a:r>
                      <a:endParaRPr lang="vi-VN" sz="2400" dirty="0">
                        <a:latin typeface="+mj-lt"/>
                      </a:endParaRPr>
                    </a:p>
                  </a:txBody>
                  <a:tcPr/>
                </a:tc>
                <a:extLst>
                  <a:ext uri="{0D108BD9-81ED-4DB2-BD59-A6C34878D82A}">
                    <a16:rowId xmlns:a16="http://schemas.microsoft.com/office/drawing/2014/main" val="1502171435"/>
                  </a:ext>
                </a:extLst>
              </a:tr>
              <a:tr h="652580">
                <a:tc>
                  <a:txBody>
                    <a:bodyPr/>
                    <a:lstStyle/>
                    <a:p>
                      <a:r>
                        <a:rPr lang="en-US" sz="2400" dirty="0">
                          <a:latin typeface="+mj-lt"/>
                        </a:rPr>
                        <a:t>XGB</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tc>
                  <a:txBody>
                    <a:bodyPr/>
                    <a:lstStyle/>
                    <a:p>
                      <a:r>
                        <a:rPr lang="en-US" sz="2400" dirty="0">
                          <a:latin typeface="+mj-lt"/>
                        </a:rPr>
                        <a:t>0.59</a:t>
                      </a:r>
                      <a:endParaRPr lang="vi-VN" sz="2400" dirty="0">
                        <a:latin typeface="+mj-lt"/>
                      </a:endParaRPr>
                    </a:p>
                  </a:txBody>
                  <a:tcPr/>
                </a:tc>
                <a:tc>
                  <a:txBody>
                    <a:bodyPr/>
                    <a:lstStyle/>
                    <a:p>
                      <a:r>
                        <a:rPr lang="en-US" sz="2400" dirty="0">
                          <a:latin typeface="+mj-lt"/>
                        </a:rPr>
                        <a:t>0.77</a:t>
                      </a:r>
                      <a:endParaRPr lang="vi-VN" sz="2400" dirty="0">
                        <a:latin typeface="+mj-lt"/>
                      </a:endParaRPr>
                    </a:p>
                  </a:txBody>
                  <a:tcPr/>
                </a:tc>
                <a:tc>
                  <a:txBody>
                    <a:bodyPr/>
                    <a:lstStyle/>
                    <a:p>
                      <a:r>
                        <a:rPr lang="en-US" sz="2400" dirty="0">
                          <a:latin typeface="+mj-lt"/>
                        </a:rPr>
                        <a:t>0.67</a:t>
                      </a:r>
                      <a:endParaRPr lang="vi-VN" sz="2400" dirty="0">
                        <a:latin typeface="+mj-lt"/>
                      </a:endParaRPr>
                    </a:p>
                  </a:txBody>
                  <a:tcPr/>
                </a:tc>
                <a:tc>
                  <a:txBody>
                    <a:bodyPr/>
                    <a:lstStyle/>
                    <a:p>
                      <a:r>
                        <a:rPr lang="en-US" sz="2400" dirty="0">
                          <a:latin typeface="+mj-lt"/>
                        </a:rPr>
                        <a:t>0.833</a:t>
                      </a:r>
                      <a:endParaRPr lang="vi-VN" sz="2400" dirty="0">
                        <a:latin typeface="+mj-lt"/>
                      </a:endParaRPr>
                    </a:p>
                  </a:txBody>
                  <a:tcPr/>
                </a:tc>
                <a:extLst>
                  <a:ext uri="{0D108BD9-81ED-4DB2-BD59-A6C34878D82A}">
                    <a16:rowId xmlns:a16="http://schemas.microsoft.com/office/drawing/2014/main" val="5018164"/>
                  </a:ext>
                </a:extLst>
              </a:tr>
            </a:tbl>
          </a:graphicData>
        </a:graphic>
      </p:graphicFrame>
      <p:sp>
        <p:nvSpPr>
          <p:cNvPr id="17" name="TextBox 16">
            <a:extLst>
              <a:ext uri="{FF2B5EF4-FFF2-40B4-BE49-F238E27FC236}">
                <a16:creationId xmlns:a16="http://schemas.microsoft.com/office/drawing/2014/main" id="{7F31BEC9-9833-90D2-7343-023EB500DFD9}"/>
              </a:ext>
            </a:extLst>
          </p:cNvPr>
          <p:cNvSpPr txBox="1"/>
          <p:nvPr/>
        </p:nvSpPr>
        <p:spPr>
          <a:xfrm>
            <a:off x="1753935" y="5092361"/>
            <a:ext cx="8684130" cy="1200329"/>
          </a:xfrm>
          <a:prstGeom prst="rect">
            <a:avLst/>
          </a:prstGeom>
          <a:noFill/>
        </p:spPr>
        <p:txBody>
          <a:bodyPr wrap="square">
            <a:spAutoFit/>
          </a:bodyPr>
          <a:lstStyle/>
          <a:p>
            <a:r>
              <a:rPr lang="vi-VN" sz="2400" dirty="0">
                <a:latin typeface="+mj-lt"/>
              </a:rPr>
              <a:t>Kết quả cho thấy các mô hình ensemble (Random Forest, XGBoost) phù hợp hơn so với mô hình đơn (Decision Tree) trong bài toán dự đoán rủi ro tín dụng.</a:t>
            </a:r>
          </a:p>
        </p:txBody>
      </p:sp>
      <p:sp>
        <p:nvSpPr>
          <p:cNvPr id="19" name="TextBox 18">
            <a:extLst>
              <a:ext uri="{FF2B5EF4-FFF2-40B4-BE49-F238E27FC236}">
                <a16:creationId xmlns:a16="http://schemas.microsoft.com/office/drawing/2014/main" id="{A618E008-1056-95BC-AF5E-7B5A3DE9C0E0}"/>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20/22</a:t>
            </a:r>
          </a:p>
        </p:txBody>
      </p:sp>
    </p:spTree>
    <p:extLst>
      <p:ext uri="{BB962C8B-B14F-4D97-AF65-F5344CB8AC3E}">
        <p14:creationId xmlns:p14="http://schemas.microsoft.com/office/powerpoint/2010/main" val="1065959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74924" y="231470"/>
            <a:ext cx="710781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Demo</a:t>
            </a:r>
          </a:p>
        </p:txBody>
      </p:sp>
      <p:sp>
        <p:nvSpPr>
          <p:cNvPr id="7" name="TextBox 6">
            <a:extLst>
              <a:ext uri="{FF2B5EF4-FFF2-40B4-BE49-F238E27FC236}">
                <a16:creationId xmlns:a16="http://schemas.microsoft.com/office/drawing/2014/main" id="{2F6F885E-E7C4-9B05-244A-F5BE51D37B62}"/>
              </a:ext>
            </a:extLst>
          </p:cNvPr>
          <p:cNvSpPr txBox="1"/>
          <p:nvPr/>
        </p:nvSpPr>
        <p:spPr>
          <a:xfrm>
            <a:off x="10997607" y="6224199"/>
            <a:ext cx="1178351" cy="338554"/>
          </a:xfrm>
          <a:prstGeom prst="rect">
            <a:avLst/>
          </a:prstGeom>
          <a:noFill/>
        </p:spPr>
        <p:txBody>
          <a:bodyPr wrap="square" rtlCol="0">
            <a:spAutoFit/>
          </a:bodyPr>
          <a:lstStyle/>
          <a:p>
            <a:r>
              <a:rPr lang="en-US" sz="1600" dirty="0">
                <a:solidFill>
                  <a:schemeClr val="tx1">
                    <a:lumMod val="50000"/>
                    <a:lumOff val="50000"/>
                  </a:schemeClr>
                </a:solidFill>
                <a:latin typeface="Times New Roman" panose="02020603050405020304" pitchFamily="18" charset="0"/>
                <a:cs typeface="Times New Roman" panose="02020603050405020304" pitchFamily="18" charset="0"/>
              </a:rPr>
              <a:t>21/22</a:t>
            </a:r>
          </a:p>
        </p:txBody>
      </p:sp>
    </p:spTree>
    <p:extLst>
      <p:ext uri="{BB962C8B-B14F-4D97-AF65-F5344CB8AC3E}">
        <p14:creationId xmlns:p14="http://schemas.microsoft.com/office/powerpoint/2010/main" val="3638923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2967335"/>
            <a:ext cx="6096000" cy="923330"/>
          </a:xfrm>
          <a:prstGeom prst="rect">
            <a:avLst/>
          </a:prstGeom>
        </p:spPr>
        <p:txBody>
          <a:bodyPr>
            <a:spAutoFit/>
          </a:bodyPr>
          <a:lstStyle/>
          <a:p>
            <a:br>
              <a:rPr lang="en-US" b="0" dirty="0">
                <a:effectLst/>
              </a:rPr>
            </a:br>
            <a:br>
              <a:rPr lang="en-US" b="0" dirty="0">
                <a:effectLst/>
              </a:rPr>
            </a:br>
            <a:endParaRPr lang="en-US" dirty="0"/>
          </a:p>
        </p:txBody>
      </p:sp>
      <p:pic>
        <p:nvPicPr>
          <p:cNvPr id="3" name="Picture 2"/>
          <p:cNvPicPr>
            <a:picLocks noChangeAspect="1"/>
          </p:cNvPicPr>
          <p:nvPr/>
        </p:nvPicPr>
        <p:blipFill>
          <a:blip r:embed="rId2"/>
          <a:stretch>
            <a:fillRect/>
          </a:stretch>
        </p:blipFill>
        <p:spPr>
          <a:xfrm>
            <a:off x="0" y="1371600"/>
            <a:ext cx="12192000" cy="5486400"/>
          </a:xfrm>
          <a:prstGeom prst="rect">
            <a:avLst/>
          </a:prstGeom>
        </p:spPr>
      </p:pic>
      <p:sp>
        <p:nvSpPr>
          <p:cNvPr id="4" name="Rectangle 3"/>
          <p:cNvSpPr/>
          <p:nvPr/>
        </p:nvSpPr>
        <p:spPr>
          <a:xfrm>
            <a:off x="0" y="0"/>
            <a:ext cx="12192000" cy="1109272"/>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974752F-8405-B8F0-4A70-58368DC33065}"/>
              </a:ext>
            </a:extLst>
          </p:cNvPr>
          <p:cNvSpPr txBox="1"/>
          <p:nvPr/>
        </p:nvSpPr>
        <p:spPr>
          <a:xfrm>
            <a:off x="374924" y="231470"/>
            <a:ext cx="7107810" cy="646331"/>
          </a:xfrm>
          <a:prstGeom prst="rect">
            <a:avLst/>
          </a:prstGeom>
          <a:noFill/>
        </p:spPr>
        <p:txBody>
          <a:bodyPr wrap="square" rtlCol="0">
            <a:spAutoFit/>
          </a:bodyPr>
          <a:lstStyle/>
          <a:p>
            <a:r>
              <a:rPr lang="en-US" sz="3600" dirty="0" err="1">
                <a:latin typeface="Times New Roman" panose="02020603050405020304" pitchFamily="18" charset="0"/>
                <a:cs typeface="Times New Roman" panose="02020603050405020304" pitchFamily="18" charset="0"/>
              </a:rPr>
              <a:t>Nội</a:t>
            </a:r>
            <a:r>
              <a:rPr lang="en-US" sz="3600" dirty="0">
                <a:latin typeface="Times New Roman" panose="02020603050405020304" pitchFamily="18" charset="0"/>
                <a:cs typeface="Times New Roman" panose="02020603050405020304" pitchFamily="18" charset="0"/>
              </a:rPr>
              <a:t> dung</a:t>
            </a:r>
          </a:p>
        </p:txBody>
      </p:sp>
    </p:spTree>
    <p:extLst>
      <p:ext uri="{BB962C8B-B14F-4D97-AF65-F5344CB8AC3E}">
        <p14:creationId xmlns:p14="http://schemas.microsoft.com/office/powerpoint/2010/main" val="1551397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TotalTime>
  <Words>1733</Words>
  <Application>Microsoft Office PowerPoint</Application>
  <PresentationFormat>Widescreen</PresentationFormat>
  <Paragraphs>185</Paragraphs>
  <Slides>22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Unicode MS</vt:lpstr>
      <vt:lpstr>Calibri</vt:lpstr>
      <vt:lpstr>Calibri Light</vt:lpstr>
      <vt:lpstr>Roboto</vt:lpstr>
      <vt:lpstr>Times New Roman</vt:lpstr>
      <vt:lpstr>Office Theme</vt:lpstr>
      <vt:lpstr>Dự đoán rủi ro tín dụng (DT,RF,XGB)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hiện học sinh có nguy cơ bỏ học (LR,SVM,DT,RF,GB)</dc:title>
  <dc:creator>Dell</dc:creator>
  <cp:lastModifiedBy>Anh Trinh Phuc</cp:lastModifiedBy>
  <cp:revision>21</cp:revision>
  <dcterms:created xsi:type="dcterms:W3CDTF">2025-12-20T07:47:12Z</dcterms:created>
  <dcterms:modified xsi:type="dcterms:W3CDTF">2025-12-29T01:43:11Z</dcterms:modified>
</cp:coreProperties>
</file>